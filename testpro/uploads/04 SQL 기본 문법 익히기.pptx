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4"/>
  </p:notesMasterIdLst>
  <p:sldIdLst>
    <p:sldId id="256" r:id="rId2"/>
    <p:sldId id="387" r:id="rId3"/>
    <p:sldId id="369" r:id="rId4"/>
    <p:sldId id="388" r:id="rId5"/>
    <p:sldId id="357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7" r:id="rId14"/>
    <p:sldId id="398" r:id="rId15"/>
    <p:sldId id="399" r:id="rId16"/>
    <p:sldId id="588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10" r:id="rId27"/>
    <p:sldId id="409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9" r:id="rId36"/>
    <p:sldId id="418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33" r:id="rId51"/>
    <p:sldId id="434" r:id="rId52"/>
    <p:sldId id="435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443" r:id="rId61"/>
    <p:sldId id="444" r:id="rId62"/>
    <p:sldId id="445" r:id="rId63"/>
    <p:sldId id="446" r:id="rId64"/>
    <p:sldId id="447" r:id="rId65"/>
    <p:sldId id="448" r:id="rId66"/>
    <p:sldId id="449" r:id="rId67"/>
    <p:sldId id="450" r:id="rId68"/>
    <p:sldId id="451" r:id="rId69"/>
    <p:sldId id="452" r:id="rId70"/>
    <p:sldId id="453" r:id="rId71"/>
    <p:sldId id="454" r:id="rId72"/>
    <p:sldId id="455" r:id="rId73"/>
    <p:sldId id="456" r:id="rId74"/>
    <p:sldId id="457" r:id="rId75"/>
    <p:sldId id="458" r:id="rId76"/>
    <p:sldId id="460" r:id="rId77"/>
    <p:sldId id="461" r:id="rId78"/>
    <p:sldId id="462" r:id="rId79"/>
    <p:sldId id="463" r:id="rId80"/>
    <p:sldId id="464" r:id="rId81"/>
    <p:sldId id="465" r:id="rId82"/>
    <p:sldId id="466" r:id="rId83"/>
    <p:sldId id="467" r:id="rId84"/>
    <p:sldId id="468" r:id="rId85"/>
    <p:sldId id="470" r:id="rId86"/>
    <p:sldId id="469" r:id="rId87"/>
    <p:sldId id="471" r:id="rId88"/>
    <p:sldId id="472" r:id="rId89"/>
    <p:sldId id="473" r:id="rId90"/>
    <p:sldId id="474" r:id="rId91"/>
    <p:sldId id="475" r:id="rId92"/>
    <p:sldId id="476" r:id="rId93"/>
    <p:sldId id="477" r:id="rId94"/>
    <p:sldId id="478" r:id="rId95"/>
    <p:sldId id="479" r:id="rId96"/>
    <p:sldId id="480" r:id="rId97"/>
    <p:sldId id="481" r:id="rId98"/>
    <p:sldId id="482" r:id="rId99"/>
    <p:sldId id="483" r:id="rId100"/>
    <p:sldId id="484" r:id="rId101"/>
    <p:sldId id="485" r:id="rId102"/>
    <p:sldId id="486" r:id="rId103"/>
    <p:sldId id="487" r:id="rId104"/>
    <p:sldId id="488" r:id="rId105"/>
    <p:sldId id="489" r:id="rId106"/>
    <p:sldId id="490" r:id="rId107"/>
    <p:sldId id="491" r:id="rId108"/>
    <p:sldId id="493" r:id="rId109"/>
    <p:sldId id="494" r:id="rId110"/>
    <p:sldId id="495" r:id="rId111"/>
    <p:sldId id="496" r:id="rId112"/>
    <p:sldId id="497" r:id="rId113"/>
    <p:sldId id="498" r:id="rId114"/>
    <p:sldId id="499" r:id="rId115"/>
    <p:sldId id="500" r:id="rId116"/>
    <p:sldId id="501" r:id="rId117"/>
    <p:sldId id="502" r:id="rId118"/>
    <p:sldId id="503" r:id="rId119"/>
    <p:sldId id="504" r:id="rId120"/>
    <p:sldId id="505" r:id="rId121"/>
    <p:sldId id="506" r:id="rId122"/>
    <p:sldId id="507" r:id="rId123"/>
    <p:sldId id="508" r:id="rId124"/>
    <p:sldId id="509" r:id="rId125"/>
    <p:sldId id="510" r:id="rId126"/>
    <p:sldId id="511" r:id="rId127"/>
    <p:sldId id="512" r:id="rId128"/>
    <p:sldId id="513" r:id="rId129"/>
    <p:sldId id="514" r:id="rId130"/>
    <p:sldId id="515" r:id="rId131"/>
    <p:sldId id="516" r:id="rId132"/>
    <p:sldId id="517" r:id="rId133"/>
    <p:sldId id="518" r:id="rId134"/>
    <p:sldId id="519" r:id="rId135"/>
    <p:sldId id="520" r:id="rId136"/>
    <p:sldId id="521" r:id="rId137"/>
    <p:sldId id="522" r:id="rId138"/>
    <p:sldId id="523" r:id="rId139"/>
    <p:sldId id="524" r:id="rId140"/>
    <p:sldId id="525" r:id="rId141"/>
    <p:sldId id="526" r:id="rId142"/>
    <p:sldId id="527" r:id="rId143"/>
    <p:sldId id="528" r:id="rId144"/>
    <p:sldId id="529" r:id="rId145"/>
    <p:sldId id="530" r:id="rId146"/>
    <p:sldId id="531" r:id="rId147"/>
    <p:sldId id="532" r:id="rId148"/>
    <p:sldId id="533" r:id="rId149"/>
    <p:sldId id="534" r:id="rId150"/>
    <p:sldId id="535" r:id="rId151"/>
    <p:sldId id="536" r:id="rId152"/>
    <p:sldId id="537" r:id="rId153"/>
    <p:sldId id="538" r:id="rId154"/>
    <p:sldId id="539" r:id="rId155"/>
    <p:sldId id="540" r:id="rId156"/>
    <p:sldId id="541" r:id="rId157"/>
    <p:sldId id="542" r:id="rId158"/>
    <p:sldId id="543" r:id="rId159"/>
    <p:sldId id="544" r:id="rId160"/>
    <p:sldId id="545" r:id="rId161"/>
    <p:sldId id="546" r:id="rId162"/>
    <p:sldId id="547" r:id="rId163"/>
    <p:sldId id="548" r:id="rId164"/>
    <p:sldId id="549" r:id="rId165"/>
    <p:sldId id="550" r:id="rId166"/>
    <p:sldId id="551" r:id="rId167"/>
    <p:sldId id="552" r:id="rId168"/>
    <p:sldId id="553" r:id="rId169"/>
    <p:sldId id="554" r:id="rId170"/>
    <p:sldId id="555" r:id="rId171"/>
    <p:sldId id="556" r:id="rId172"/>
    <p:sldId id="557" r:id="rId173"/>
    <p:sldId id="558" r:id="rId174"/>
    <p:sldId id="559" r:id="rId175"/>
    <p:sldId id="560" r:id="rId176"/>
    <p:sldId id="561" r:id="rId177"/>
    <p:sldId id="562" r:id="rId178"/>
    <p:sldId id="563" r:id="rId179"/>
    <p:sldId id="564" r:id="rId180"/>
    <p:sldId id="565" r:id="rId181"/>
    <p:sldId id="566" r:id="rId182"/>
    <p:sldId id="567" r:id="rId183"/>
    <p:sldId id="569" r:id="rId184"/>
    <p:sldId id="568" r:id="rId185"/>
    <p:sldId id="570" r:id="rId186"/>
    <p:sldId id="571" r:id="rId187"/>
    <p:sldId id="573" r:id="rId188"/>
    <p:sldId id="574" r:id="rId189"/>
    <p:sldId id="575" r:id="rId190"/>
    <p:sldId id="576" r:id="rId191"/>
    <p:sldId id="577" r:id="rId192"/>
    <p:sldId id="578" r:id="rId193"/>
    <p:sldId id="579" r:id="rId194"/>
    <p:sldId id="580" r:id="rId195"/>
    <p:sldId id="581" r:id="rId196"/>
    <p:sldId id="582" r:id="rId197"/>
    <p:sldId id="583" r:id="rId198"/>
    <p:sldId id="584" r:id="rId199"/>
    <p:sldId id="585" r:id="rId200"/>
    <p:sldId id="586" r:id="rId201"/>
    <p:sldId id="587" r:id="rId202"/>
    <p:sldId id="258" r:id="rId20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7525"/>
    <a:srgbClr val="F7D2B7"/>
    <a:srgbClr val="F4C5A2"/>
    <a:srgbClr val="5565AF"/>
    <a:srgbClr val="C6CBE4"/>
    <a:srgbClr val="B0B7DA"/>
    <a:srgbClr val="837DBB"/>
    <a:srgbClr val="007065"/>
    <a:srgbClr val="CDEBEA"/>
    <a:srgbClr val="0068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73"/>
    <p:restoredTop sz="94688"/>
  </p:normalViewPr>
  <p:slideViewPr>
    <p:cSldViewPr snapToGrid="0" snapToObjects="1">
      <p:cViewPr>
        <p:scale>
          <a:sx n="100" d="100"/>
          <a:sy n="100" d="100"/>
        </p:scale>
        <p:origin x="112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155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microsoft.com/office/2016/11/relationships/changesInfo" Target="changesInfos/changesInfo1.xml"/><Relationship Id="rId190" Type="http://schemas.openxmlformats.org/officeDocument/2006/relationships/slide" Target="slides/slide189.xml"/><Relationship Id="rId20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함 진아" userId="853515ff651aadf9" providerId="LiveId" clId="{597D2F9A-4E5C-A049-8AFB-06C7CDF7F6F1}"/>
    <pc:docChg chg="undo custSel modSld">
      <pc:chgData name="함 진아" userId="853515ff651aadf9" providerId="LiveId" clId="{597D2F9A-4E5C-A049-8AFB-06C7CDF7F6F1}" dt="2020-08-14T15:08:46.307" v="37" actId="15"/>
      <pc:docMkLst>
        <pc:docMk/>
      </pc:docMkLst>
      <pc:sldChg chg="modSp">
        <pc:chgData name="함 진아" userId="853515ff651aadf9" providerId="LiveId" clId="{597D2F9A-4E5C-A049-8AFB-06C7CDF7F6F1}" dt="2020-08-13T09:33:13.247" v="5" actId="20577"/>
        <pc:sldMkLst>
          <pc:docMk/>
          <pc:sldMk cId="3132802960" sldId="256"/>
        </pc:sldMkLst>
        <pc:spChg chg="mod">
          <ac:chgData name="함 진아" userId="853515ff651aadf9" providerId="LiveId" clId="{597D2F9A-4E5C-A049-8AFB-06C7CDF7F6F1}" dt="2020-08-13T09:33:13.247" v="5" actId="20577"/>
          <ac:spMkLst>
            <pc:docMk/>
            <pc:sldMk cId="3132802960" sldId="256"/>
            <ac:spMk id="2" creationId="{C8074158-F585-8A4A-83C7-083ED31D9ABC}"/>
          </ac:spMkLst>
        </pc:spChg>
        <pc:spChg chg="mod">
          <ac:chgData name="함 진아" userId="853515ff651aadf9" providerId="LiveId" clId="{597D2F9A-4E5C-A049-8AFB-06C7CDF7F6F1}" dt="2020-08-13T09:23:47.449" v="2"/>
          <ac:spMkLst>
            <pc:docMk/>
            <pc:sldMk cId="3132802960" sldId="256"/>
            <ac:spMk id="3" creationId="{C504CF70-F56C-E843-8217-87B2EF59E5B5}"/>
          </ac:spMkLst>
        </pc:spChg>
      </pc:sldChg>
      <pc:sldChg chg="modSp">
        <pc:chgData name="함 진아" userId="853515ff651aadf9" providerId="LiveId" clId="{597D2F9A-4E5C-A049-8AFB-06C7CDF7F6F1}" dt="2020-08-14T15:07:08.848" v="6" actId="15"/>
        <pc:sldMkLst>
          <pc:docMk/>
          <pc:sldMk cId="974406324" sldId="283"/>
        </pc:sldMkLst>
        <pc:spChg chg="mod">
          <ac:chgData name="함 진아" userId="853515ff651aadf9" providerId="LiveId" clId="{597D2F9A-4E5C-A049-8AFB-06C7CDF7F6F1}" dt="2020-08-14T15:07:08.848" v="6" actId="15"/>
          <ac:spMkLst>
            <pc:docMk/>
            <pc:sldMk cId="974406324" sldId="283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7:10.912" v="7" actId="15"/>
        <pc:sldMkLst>
          <pc:docMk/>
          <pc:sldMk cId="2572141496" sldId="284"/>
        </pc:sldMkLst>
        <pc:spChg chg="mod">
          <ac:chgData name="함 진아" userId="853515ff651aadf9" providerId="LiveId" clId="{597D2F9A-4E5C-A049-8AFB-06C7CDF7F6F1}" dt="2020-08-14T15:07:10.912" v="7" actId="15"/>
          <ac:spMkLst>
            <pc:docMk/>
            <pc:sldMk cId="2572141496" sldId="284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7:13.556" v="9" actId="15"/>
        <pc:sldMkLst>
          <pc:docMk/>
          <pc:sldMk cId="434785489" sldId="285"/>
        </pc:sldMkLst>
        <pc:spChg chg="mod">
          <ac:chgData name="함 진아" userId="853515ff651aadf9" providerId="LiveId" clId="{597D2F9A-4E5C-A049-8AFB-06C7CDF7F6F1}" dt="2020-08-14T15:07:13.556" v="9" actId="15"/>
          <ac:spMkLst>
            <pc:docMk/>
            <pc:sldMk cId="434785489" sldId="285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3T09:33:05.718" v="3" actId="207"/>
        <pc:sldMkLst>
          <pc:docMk/>
          <pc:sldMk cId="1674011256" sldId="286"/>
        </pc:sldMkLst>
        <pc:graphicFrameChg chg="modGraphic">
          <ac:chgData name="함 진아" userId="853515ff651aadf9" providerId="LiveId" clId="{597D2F9A-4E5C-A049-8AFB-06C7CDF7F6F1}" dt="2020-08-13T09:33:05.718" v="3" actId="207"/>
          <ac:graphicFrameMkLst>
            <pc:docMk/>
            <pc:sldMk cId="1674011256" sldId="286"/>
            <ac:graphicFrameMk id="6" creationId="{46B4275B-3962-EF40-91CC-F080D465BDF3}"/>
          </ac:graphicFrameMkLst>
        </pc:graphicFrameChg>
      </pc:sldChg>
      <pc:sldChg chg="modSp">
        <pc:chgData name="함 진아" userId="853515ff651aadf9" providerId="LiveId" clId="{597D2F9A-4E5C-A049-8AFB-06C7CDF7F6F1}" dt="2020-08-14T15:07:20.359" v="11" actId="20577"/>
        <pc:sldMkLst>
          <pc:docMk/>
          <pc:sldMk cId="3007659754" sldId="288"/>
        </pc:sldMkLst>
        <pc:spChg chg="mod">
          <ac:chgData name="함 진아" userId="853515ff651aadf9" providerId="LiveId" clId="{597D2F9A-4E5C-A049-8AFB-06C7CDF7F6F1}" dt="2020-08-14T15:07:20.359" v="11" actId="20577"/>
          <ac:spMkLst>
            <pc:docMk/>
            <pc:sldMk cId="3007659754" sldId="288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7:22.712" v="12" actId="15"/>
        <pc:sldMkLst>
          <pc:docMk/>
          <pc:sldMk cId="3798802581" sldId="289"/>
        </pc:sldMkLst>
        <pc:spChg chg="mod">
          <ac:chgData name="함 진아" userId="853515ff651aadf9" providerId="LiveId" clId="{597D2F9A-4E5C-A049-8AFB-06C7CDF7F6F1}" dt="2020-08-14T15:07:22.712" v="12" actId="15"/>
          <ac:spMkLst>
            <pc:docMk/>
            <pc:sldMk cId="3798802581" sldId="289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7:26.195" v="13" actId="15"/>
        <pc:sldMkLst>
          <pc:docMk/>
          <pc:sldMk cId="41017550" sldId="290"/>
        </pc:sldMkLst>
        <pc:spChg chg="mod">
          <ac:chgData name="함 진아" userId="853515ff651aadf9" providerId="LiveId" clId="{597D2F9A-4E5C-A049-8AFB-06C7CDF7F6F1}" dt="2020-08-14T15:07:26.195" v="13" actId="15"/>
          <ac:spMkLst>
            <pc:docMk/>
            <pc:sldMk cId="41017550" sldId="290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7:28.439" v="14" actId="15"/>
        <pc:sldMkLst>
          <pc:docMk/>
          <pc:sldMk cId="1070875056" sldId="291"/>
        </pc:sldMkLst>
        <pc:spChg chg="mod">
          <ac:chgData name="함 진아" userId="853515ff651aadf9" providerId="LiveId" clId="{597D2F9A-4E5C-A049-8AFB-06C7CDF7F6F1}" dt="2020-08-14T15:07:28.439" v="14" actId="15"/>
          <ac:spMkLst>
            <pc:docMk/>
            <pc:sldMk cId="1070875056" sldId="291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8:46.307" v="37" actId="15"/>
        <pc:sldMkLst>
          <pc:docMk/>
          <pc:sldMk cId="3363740920" sldId="292"/>
        </pc:sldMkLst>
        <pc:spChg chg="mod">
          <ac:chgData name="함 진아" userId="853515ff651aadf9" providerId="LiveId" clId="{597D2F9A-4E5C-A049-8AFB-06C7CDF7F6F1}" dt="2020-08-14T15:08:46.307" v="37" actId="15"/>
          <ac:spMkLst>
            <pc:docMk/>
            <pc:sldMk cId="3363740920" sldId="292"/>
            <ac:spMk id="3" creationId="{2B979466-8226-B846-B32B-4B39A6E81EC9}"/>
          </ac:spMkLst>
        </pc:spChg>
        <pc:spChg chg="mod">
          <ac:chgData name="함 진아" userId="853515ff651aadf9" providerId="LiveId" clId="{597D2F9A-4E5C-A049-8AFB-06C7CDF7F6F1}" dt="2020-08-14T15:07:31.201" v="16" actId="15"/>
          <ac:spMkLst>
            <pc:docMk/>
            <pc:sldMk cId="3363740920" sldId="292"/>
            <ac:spMk id="9" creationId="{AC8964F3-33D8-7146-A612-A10184C1EDF3}"/>
          </ac:spMkLst>
        </pc:spChg>
        <pc:picChg chg="mod">
          <ac:chgData name="함 진아" userId="853515ff651aadf9" providerId="LiveId" clId="{597D2F9A-4E5C-A049-8AFB-06C7CDF7F6F1}" dt="2020-08-14T15:07:34.236" v="20" actId="1035"/>
          <ac:picMkLst>
            <pc:docMk/>
            <pc:sldMk cId="3363740920" sldId="292"/>
            <ac:picMk id="14" creationId="{6FB3B685-6313-284D-B2B3-57C91A88FAC0}"/>
          </ac:picMkLst>
        </pc:picChg>
      </pc:sldChg>
      <pc:sldChg chg="modSp">
        <pc:chgData name="함 진아" userId="853515ff651aadf9" providerId="LiveId" clId="{597D2F9A-4E5C-A049-8AFB-06C7CDF7F6F1}" dt="2020-08-14T15:07:40.819" v="22" actId="15"/>
        <pc:sldMkLst>
          <pc:docMk/>
          <pc:sldMk cId="2146393142" sldId="293"/>
        </pc:sldMkLst>
        <pc:spChg chg="mod">
          <ac:chgData name="함 진아" userId="853515ff651aadf9" providerId="LiveId" clId="{597D2F9A-4E5C-A049-8AFB-06C7CDF7F6F1}" dt="2020-08-14T15:07:39.936" v="21" actId="15"/>
          <ac:spMkLst>
            <pc:docMk/>
            <pc:sldMk cId="2146393142" sldId="293"/>
            <ac:spMk id="3" creationId="{2B979466-8226-B846-B32B-4B39A6E81EC9}"/>
          </ac:spMkLst>
        </pc:spChg>
        <pc:spChg chg="mod">
          <ac:chgData name="함 진아" userId="853515ff651aadf9" providerId="LiveId" clId="{597D2F9A-4E5C-A049-8AFB-06C7CDF7F6F1}" dt="2020-08-14T15:07:40.819" v="22" actId="15"/>
          <ac:spMkLst>
            <pc:docMk/>
            <pc:sldMk cId="2146393142" sldId="293"/>
            <ac:spMk id="9" creationId="{AC8964F3-33D8-7146-A612-A10184C1EDF3}"/>
          </ac:spMkLst>
        </pc:spChg>
      </pc:sldChg>
      <pc:sldChg chg="modSp">
        <pc:chgData name="함 진아" userId="853515ff651aadf9" providerId="LiveId" clId="{597D2F9A-4E5C-A049-8AFB-06C7CDF7F6F1}" dt="2020-08-14T15:07:43.769" v="23" actId="15"/>
        <pc:sldMkLst>
          <pc:docMk/>
          <pc:sldMk cId="2610257400" sldId="294"/>
        </pc:sldMkLst>
        <pc:spChg chg="mod">
          <ac:chgData name="함 진아" userId="853515ff651aadf9" providerId="LiveId" clId="{597D2F9A-4E5C-A049-8AFB-06C7CDF7F6F1}" dt="2020-08-14T15:07:43.769" v="23" actId="15"/>
          <ac:spMkLst>
            <pc:docMk/>
            <pc:sldMk cId="2610257400" sldId="294"/>
            <ac:spMk id="3" creationId="{2B979466-8226-B846-B32B-4B39A6E81EC9}"/>
          </ac:spMkLst>
        </pc:spChg>
      </pc:sldChg>
      <pc:sldChg chg="modSp">
        <pc:chgData name="함 진아" userId="853515ff651aadf9" providerId="LiveId" clId="{597D2F9A-4E5C-A049-8AFB-06C7CDF7F6F1}" dt="2020-08-14T15:07:49.285" v="25" actId="15"/>
        <pc:sldMkLst>
          <pc:docMk/>
          <pc:sldMk cId="2127667218" sldId="295"/>
        </pc:sldMkLst>
        <pc:spChg chg="mod">
          <ac:chgData name="함 진아" userId="853515ff651aadf9" providerId="LiveId" clId="{597D2F9A-4E5C-A049-8AFB-06C7CDF7F6F1}" dt="2020-08-14T15:07:48.729" v="24" actId="15"/>
          <ac:spMkLst>
            <pc:docMk/>
            <pc:sldMk cId="2127667218" sldId="295"/>
            <ac:spMk id="3" creationId="{2B979466-8226-B846-B32B-4B39A6E81EC9}"/>
          </ac:spMkLst>
        </pc:spChg>
        <pc:spChg chg="mod">
          <ac:chgData name="함 진아" userId="853515ff651aadf9" providerId="LiveId" clId="{597D2F9A-4E5C-A049-8AFB-06C7CDF7F6F1}" dt="2020-08-14T15:07:49.285" v="25" actId="15"/>
          <ac:spMkLst>
            <pc:docMk/>
            <pc:sldMk cId="2127667218" sldId="295"/>
            <ac:spMk id="7" creationId="{059F1D9C-6687-004E-9967-42C0ACFA75C6}"/>
          </ac:spMkLst>
        </pc:spChg>
      </pc:sldChg>
      <pc:sldChg chg="modSp">
        <pc:chgData name="함 진아" userId="853515ff651aadf9" providerId="LiveId" clId="{597D2F9A-4E5C-A049-8AFB-06C7CDF7F6F1}" dt="2020-08-14T15:07:55.152" v="27" actId="15"/>
        <pc:sldMkLst>
          <pc:docMk/>
          <pc:sldMk cId="1645865872" sldId="296"/>
        </pc:sldMkLst>
        <pc:spChg chg="mod">
          <ac:chgData name="함 진아" userId="853515ff651aadf9" providerId="LiveId" clId="{597D2F9A-4E5C-A049-8AFB-06C7CDF7F6F1}" dt="2020-08-14T15:07:53.358" v="26" actId="15"/>
          <ac:spMkLst>
            <pc:docMk/>
            <pc:sldMk cId="1645865872" sldId="296"/>
            <ac:spMk id="3" creationId="{2B979466-8226-B846-B32B-4B39A6E81EC9}"/>
          </ac:spMkLst>
        </pc:spChg>
        <pc:spChg chg="mod">
          <ac:chgData name="함 진아" userId="853515ff651aadf9" providerId="LiveId" clId="{597D2F9A-4E5C-A049-8AFB-06C7CDF7F6F1}" dt="2020-08-14T15:07:55.152" v="27" actId="15"/>
          <ac:spMkLst>
            <pc:docMk/>
            <pc:sldMk cId="1645865872" sldId="296"/>
            <ac:spMk id="10" creationId="{7391F190-38D8-3A41-91DB-E5F7C4A6CE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1E6C1-A25B-6242-AC04-7DC33734B23F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C3EB2-0820-8745-AD96-F517DB72511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934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BC3EB2-0820-8745-AD96-F517DB72511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998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C3EB2-0820-8745-AD96-F517DB72511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872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4110" y="6229687"/>
            <a:ext cx="1269534" cy="3263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B4D524-D84D-9245-84D6-6AD0143EE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06731"/>
            <a:ext cx="9144000" cy="1112684"/>
          </a:xfrm>
        </p:spPr>
        <p:txBody>
          <a:bodyPr anchor="b">
            <a:normAutofit/>
          </a:bodyPr>
          <a:lstStyle>
            <a:lvl1pPr algn="ctr">
              <a:defRPr sz="6000" b="1" i="0" spc="-1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1A5029-3286-D14A-9E73-1482865AF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22318"/>
            <a:ext cx="9144000" cy="844826"/>
          </a:xfrm>
        </p:spPr>
        <p:txBody>
          <a:bodyPr>
            <a:normAutofit/>
          </a:bodyPr>
          <a:lstStyle>
            <a:lvl1pPr marL="0" indent="0" algn="ctr">
              <a:buNone/>
              <a:defRPr sz="2800" spc="-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2357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5FE9850-779E-D34D-A9D5-3F8429B0B766}"/>
              </a:ext>
            </a:extLst>
          </p:cNvPr>
          <p:cNvSpPr/>
          <p:nvPr userDrawn="1"/>
        </p:nvSpPr>
        <p:spPr>
          <a:xfrm>
            <a:off x="498000" y="1358916"/>
            <a:ext cx="11196000" cy="5150941"/>
          </a:xfrm>
          <a:prstGeom prst="roundRect">
            <a:avLst>
              <a:gd name="adj" fmla="val 2261"/>
            </a:avLst>
          </a:prstGeom>
          <a:noFill/>
          <a:ln>
            <a:solidFill>
              <a:srgbClr val="B0B7D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18" y="360747"/>
            <a:ext cx="10726964" cy="609291"/>
          </a:xfrm>
        </p:spPr>
        <p:txBody>
          <a:bodyPr anchor="b">
            <a:normAutofit/>
          </a:bodyPr>
          <a:lstStyle>
            <a:lvl1pPr>
              <a:defRPr sz="3600" spc="-100" baseline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29B7C-5BED-5B4B-BB80-0EC955DE17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2518" y="1643655"/>
            <a:ext cx="10726964" cy="4581461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rgbClr val="F37043"/>
              </a:buClr>
              <a:buFont typeface="Wingdings" pitchFamily="2" charset="2"/>
              <a:buChar char="§"/>
              <a:defRPr sz="2400" b="1" i="0" spc="-90" baseline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685800" indent="-228600">
              <a:lnSpc>
                <a:spcPct val="100000"/>
              </a:lnSpc>
              <a:buClr>
                <a:srgbClr val="F37043"/>
              </a:buClr>
              <a:buFont typeface="Wingdings" pitchFamily="2" charset="2"/>
              <a:buChar char="§"/>
              <a:defRPr sz="2000" spc="-90" baseline="0"/>
            </a:lvl2pPr>
            <a:lvl3pPr marL="11430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800" spc="-90" baseline="0"/>
            </a:lvl3pPr>
            <a:lvl4pPr marL="16002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spc="-90" baseline="0"/>
            </a:lvl4pPr>
            <a:lvl5pPr marL="20574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spc="-90" baseline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45C6AD7C-DD67-784B-A8C8-9DF32FD91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995" y="6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5FE9850-779E-D34D-A9D5-3F8429B0B766}"/>
              </a:ext>
            </a:extLst>
          </p:cNvPr>
          <p:cNvSpPr/>
          <p:nvPr userDrawn="1"/>
        </p:nvSpPr>
        <p:spPr>
          <a:xfrm>
            <a:off x="498000" y="360748"/>
            <a:ext cx="11196000" cy="761900"/>
          </a:xfrm>
          <a:prstGeom prst="roundRect">
            <a:avLst>
              <a:gd name="adj" fmla="val 11769"/>
            </a:avLst>
          </a:prstGeom>
          <a:solidFill>
            <a:srgbClr val="E4752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1770077" y="360746"/>
            <a:ext cx="9923923" cy="761902"/>
            <a:chOff x="1770077" y="360746"/>
            <a:chExt cx="9923923" cy="761902"/>
          </a:xfrm>
          <a:solidFill>
            <a:srgbClr val="E9EAEB"/>
          </a:solidFill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45FE9850-779E-D34D-A9D5-3F8429B0B766}"/>
                </a:ext>
              </a:extLst>
            </p:cNvPr>
            <p:cNvSpPr/>
            <p:nvPr userDrawn="1"/>
          </p:nvSpPr>
          <p:spPr>
            <a:xfrm>
              <a:off x="1853967" y="360746"/>
              <a:ext cx="9840033" cy="761900"/>
            </a:xfrm>
            <a:prstGeom prst="roundRect">
              <a:avLst>
                <a:gd name="adj" fmla="val 9717"/>
              </a:avLst>
            </a:prstGeom>
            <a:solidFill>
              <a:srgbClr val="F7D2B7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45FE9850-779E-D34D-A9D5-3F8429B0B766}"/>
                </a:ext>
              </a:extLst>
            </p:cNvPr>
            <p:cNvSpPr/>
            <p:nvPr userDrawn="1"/>
          </p:nvSpPr>
          <p:spPr>
            <a:xfrm>
              <a:off x="1770077" y="360748"/>
              <a:ext cx="1324062" cy="761900"/>
            </a:xfrm>
            <a:prstGeom prst="roundRect">
              <a:avLst>
                <a:gd name="adj" fmla="val 0"/>
              </a:avLst>
            </a:prstGeom>
            <a:solidFill>
              <a:srgbClr val="F7D2B7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4653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bg>
      <p:bgPr>
        <a:solidFill>
          <a:srgbClr val="FE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5FE9850-779E-D34D-A9D5-3F8429B0B766}"/>
              </a:ext>
            </a:extLst>
          </p:cNvPr>
          <p:cNvSpPr/>
          <p:nvPr userDrawn="1"/>
        </p:nvSpPr>
        <p:spPr>
          <a:xfrm>
            <a:off x="498000" y="361003"/>
            <a:ext cx="11196000" cy="5904000"/>
          </a:xfrm>
          <a:prstGeom prst="roundRect">
            <a:avLst>
              <a:gd name="adj" fmla="val 3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18" y="665393"/>
            <a:ext cx="10726964" cy="609291"/>
          </a:xfrm>
        </p:spPr>
        <p:txBody>
          <a:bodyPr anchor="b">
            <a:normAutofit/>
          </a:bodyPr>
          <a:lstStyle>
            <a:lvl1pPr>
              <a:defRPr sz="3600" spc="-100" baseline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29B7C-5BED-5B4B-BB80-0EC955DE1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5363482" cy="4581461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2400" b="1" i="0" spc="-90" baseline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6858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2000" spc="-90" baseline="0"/>
            </a:lvl2pPr>
            <a:lvl3pPr marL="11430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800" spc="-90" baseline="0"/>
            </a:lvl3pPr>
            <a:lvl4pPr marL="16002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spc="-90" baseline="0"/>
            </a:lvl4pPr>
            <a:lvl5pPr marL="20574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spc="-90" baseline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45C6AD7C-DD67-784B-A8C8-9DF32FD91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995" y="6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544C6A9-BD89-C84B-8728-F5A61358CE09}"/>
              </a:ext>
            </a:extLst>
          </p:cNvPr>
          <p:cNvCxnSpPr/>
          <p:nvPr userDrawn="1"/>
        </p:nvCxnSpPr>
        <p:spPr>
          <a:xfrm>
            <a:off x="732518" y="1358917"/>
            <a:ext cx="1072696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759B7AD-2C20-8D47-9199-95FC7AE53D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1567545"/>
            <a:ext cx="5363482" cy="4581461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2400" b="1" i="0" spc="-90" baseline="0">
                <a:solidFill>
                  <a:srgbClr val="C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6858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2000" spc="-90" baseline="0"/>
            </a:lvl2pPr>
            <a:lvl3pPr marL="11430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800" spc="-90" baseline="0"/>
            </a:lvl3pPr>
            <a:lvl4pPr marL="16002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spc="-90" baseline="0"/>
            </a:lvl4pPr>
            <a:lvl5pPr marL="20574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spc="-90" baseline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364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">
            <a:extLst>
              <a:ext uri="{FF2B5EF4-FFF2-40B4-BE49-F238E27FC236}">
                <a16:creationId xmlns:a16="http://schemas.microsoft.com/office/drawing/2014/main" id="{DC511079-74E5-DC43-AC5D-6079F1A9F982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2144099" y="3747057"/>
            <a:ext cx="3807678" cy="229110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spc="-1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CAAA8C1-D1BE-1C4D-B5BD-4AED9D420871}"/>
              </a:ext>
            </a:extLst>
          </p:cNvPr>
          <p:cNvSpPr/>
          <p:nvPr userDrawn="1"/>
        </p:nvSpPr>
        <p:spPr>
          <a:xfrm>
            <a:off x="5646000" y="262028"/>
            <a:ext cx="900000" cy="900000"/>
          </a:xfrm>
          <a:prstGeom prst="ellipse">
            <a:avLst/>
          </a:prstGeom>
          <a:solidFill>
            <a:srgbClr val="E475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텍스트 개체 틀 3">
            <a:extLst>
              <a:ext uri="{FF2B5EF4-FFF2-40B4-BE49-F238E27FC236}">
                <a16:creationId xmlns:a16="http://schemas.microsoft.com/office/drawing/2014/main" id="{28BA67BD-2D45-5848-A348-3B9CBA1A8940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433408" y="408464"/>
            <a:ext cx="1325146" cy="554280"/>
          </a:xfrm>
        </p:spPr>
        <p:txBody>
          <a:bodyPr>
            <a:noAutofit/>
          </a:bodyPr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39" name="텍스트 개체 틀 3">
            <a:extLst>
              <a:ext uri="{FF2B5EF4-FFF2-40B4-BE49-F238E27FC236}">
                <a16:creationId xmlns:a16="http://schemas.microsoft.com/office/drawing/2014/main" id="{9128E3AD-7238-374B-94DA-CA616224B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81395" y="1733799"/>
            <a:ext cx="6029210" cy="984954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 i="0" spc="-100" baseline="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1" name="텍스트 개체 틀 3">
            <a:extLst>
              <a:ext uri="{FF2B5EF4-FFF2-40B4-BE49-F238E27FC236}">
                <a16:creationId xmlns:a16="http://schemas.microsoft.com/office/drawing/2014/main" id="{A0CF28F1-F72E-4F47-909A-EA47CAB89C7B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240225" y="3746778"/>
            <a:ext cx="3848558" cy="229110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spc="-1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3CD920-15F9-0EE5-3F42-1B25BA746BCE}"/>
              </a:ext>
            </a:extLst>
          </p:cNvPr>
          <p:cNvCxnSpPr/>
          <p:nvPr userDrawn="1"/>
        </p:nvCxnSpPr>
        <p:spPr>
          <a:xfrm>
            <a:off x="1193800" y="1425371"/>
            <a:ext cx="9512300" cy="0"/>
          </a:xfrm>
          <a:prstGeom prst="line">
            <a:avLst/>
          </a:prstGeom>
          <a:ln w="38100">
            <a:solidFill>
              <a:srgbClr val="E47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176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rgbClr val="E47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/>
          <p:cNvSpPr/>
          <p:nvPr userDrawn="1"/>
        </p:nvSpPr>
        <p:spPr>
          <a:xfrm>
            <a:off x="318782" y="218114"/>
            <a:ext cx="11610363" cy="5981350"/>
          </a:xfrm>
          <a:prstGeom prst="roundRect">
            <a:avLst>
              <a:gd name="adj" fmla="val 38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35" name="그림 3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399" y="6386309"/>
            <a:ext cx="991852" cy="178310"/>
          </a:xfrm>
          <a:prstGeom prst="rect">
            <a:avLst/>
          </a:prstGeom>
        </p:spPr>
      </p:pic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21F0411F-886D-D043-9A60-59D70EEA4EC2}"/>
              </a:ext>
            </a:extLst>
          </p:cNvPr>
          <p:cNvSpPr txBox="1">
            <a:spLocks/>
          </p:cNvSpPr>
          <p:nvPr userDrawn="1"/>
        </p:nvSpPr>
        <p:spPr>
          <a:xfrm>
            <a:off x="3652385" y="3136644"/>
            <a:ext cx="4943155" cy="5847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>
                <a:solidFill>
                  <a:srgbClr val="354F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7200" dirty="0">
                <a:solidFill>
                  <a:srgbClr val="E47525"/>
                </a:solidFill>
              </a:rPr>
              <a:t>감사합니다</a:t>
            </a:r>
            <a:r>
              <a:rPr kumimoji="1" lang="en-US" altLang="ko-KR" sz="7200" dirty="0">
                <a:solidFill>
                  <a:srgbClr val="E47525"/>
                </a:solidFill>
              </a:rPr>
              <a:t>.</a:t>
            </a:r>
            <a:endParaRPr kumimoji="1" lang="ko-KR" altLang="en-US" sz="7200" dirty="0">
              <a:solidFill>
                <a:srgbClr val="E475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35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10E0E-789D-5946-BA65-2E46BE0C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8DD22-BD43-F141-957C-5F6110066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56CF1E-3BD4-494F-9775-937786F6D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DB8F00-62D8-6247-B34F-75932B87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7B123D-D8DA-054B-BC4A-D5D50B6A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65DDA8-A5F7-754B-82C8-AD87D2F2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459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929D6-4B6F-784F-8083-A96A0B10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BCF096-0253-3841-8442-6B6DAC018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2125D2-1087-5341-8CBD-A21C10600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0B1383-E05C-A64D-AA3C-198197A4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4E48C2-18A1-AE40-BB28-48630953B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4BCB18-493E-5D49-8F49-F325839B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51C66E-8873-AD41-977A-654B3BB7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76273F-5566-6340-BFF3-500C279A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006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677AC-5872-2342-AC09-915CBDB4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AD6FA3-14D1-2A4E-A445-12B6DEC3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14F399-0A2B-C447-BA27-52A4D83B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B2505E-15A3-174A-AD81-E877C716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393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D0B470-19FB-6746-B0C6-EC3B9B0A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565308-5024-E64C-9661-9E4036B1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B483B-FE2B-5643-9258-F90BD573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9471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63ECC-12F1-FE41-B969-66731042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CAFA04-25A2-1641-BAE1-234B3D296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8D9E66-C3BD-5046-B2FC-FC1C21C0C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D877DA-B0F8-AA49-8DD8-5FEDBCB9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859852-819F-8E4D-BB45-DCC081F33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3B1AF3-A8B4-AB44-B271-D72B7CDE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219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1D61A-7D02-0A42-93C1-A0DB7E5B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4E671-191C-2045-8FF0-6FDF08E1C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85BA30-7FBC-A540-82D9-417B04366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F8028A-39DA-494D-9008-13794088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F1D5CC-8241-8D42-8427-30BD4C86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427859-2AAF-D44A-BF6A-D8067BB7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567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B5AF6-1520-9B4D-A2C8-550E9A19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D88-7CD7-8E40-B63E-1045EE509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1C532-D70D-2F4F-8D50-D45479378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35564F-C7B3-0546-8FA8-43D1991B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3DEEC4-AC7A-0049-9697-E834A8D9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8914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A627AC-3E76-2743-B74C-48121DA6F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E4E9EE-1DB3-0A41-AEA0-F1E4E985A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44A3A1-EC6D-5442-B0C3-EC1C8FB0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685F9-9FA2-264D-875D-27ED96C5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350E3-9698-644D-9ACC-877B161D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762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665449-AE24-3043-9274-54B2B685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B6E0D9-A74E-4949-A379-FE3BC5BE6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C3498-4FC1-074D-86D4-FD4581E43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E2AC-4FCD-4648-AC03-FE03444D7071}" type="datetimeFigureOut">
              <a:rPr kumimoji="1" lang="ko-KR" altLang="en-US" smtClean="0"/>
              <a:t>2024-05-07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16EEB-FA97-A942-932A-A3055F20B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1348A-1A64-0C4B-AA46-05C536516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C941C-5230-EC45-9A36-3624F5B944D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782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4B0CCD-ABF3-82AE-3881-EF8E01766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512" y="821991"/>
            <a:ext cx="908971" cy="1667344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C504CF70-F56C-E843-8217-87B2EF59E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279"/>
            <a:ext cx="9144000" cy="338540"/>
          </a:xfrm>
        </p:spPr>
        <p:txBody>
          <a:bodyPr>
            <a:normAutofit/>
          </a:bodyPr>
          <a:lstStyle/>
          <a:p>
            <a:pPr lvl="0"/>
            <a:r>
              <a:rPr kumimoji="1" lang="ko-KR" altLang="en-US" sz="1200" b="1" dirty="0">
                <a:solidFill>
                  <a:prstClr val="black">
                    <a:lumMod val="65000"/>
                    <a:lumOff val="3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강성욱 </a:t>
            </a:r>
            <a:r>
              <a:rPr kumimoji="1"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지음</a:t>
            </a:r>
            <a:endParaRPr kumimoji="1" lang="ko-KR" altLang="en-US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62B836-57F4-D6C3-3EC3-3423F6F83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2626194"/>
            <a:ext cx="55340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0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8BBFAE6-DF46-7444-9551-EBC0BBBD1CA3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2225286" y="4223064"/>
            <a:ext cx="3995226" cy="2638412"/>
          </a:xfrm>
        </p:spPr>
        <p:txBody>
          <a:bodyPr>
            <a:normAutofit/>
          </a:bodyPr>
          <a:lstStyle/>
          <a:p>
            <a:r>
              <a:rPr lang="en-US" altLang="ko-KR" sz="1800" b="1" dirty="0">
                <a:solidFill>
                  <a:srgbClr val="E47525"/>
                </a:solidFill>
              </a:rPr>
              <a:t>04-1</a:t>
            </a:r>
            <a:r>
              <a:rPr lang="en-US" altLang="ko-KR" sz="1800" dirty="0">
                <a:solidFill>
                  <a:srgbClr val="5565AF"/>
                </a:solidFill>
              </a:rPr>
              <a:t>  </a:t>
            </a:r>
            <a:r>
              <a:rPr lang="en-US" altLang="ko-KR" sz="1800" dirty="0"/>
              <a:t>SELECT </a:t>
            </a:r>
            <a:r>
              <a:rPr lang="ko-KR" altLang="en-US" sz="1800" dirty="0"/>
              <a:t>문으로 데이터 조회하기</a:t>
            </a:r>
            <a:endParaRPr lang="en-US" altLang="ko-KR" sz="1800" dirty="0"/>
          </a:p>
          <a:p>
            <a:r>
              <a:rPr lang="en-US" altLang="ko-KR" sz="1800" b="1" dirty="0">
                <a:solidFill>
                  <a:srgbClr val="E47525"/>
                </a:solidFill>
              </a:rPr>
              <a:t>04-2</a:t>
            </a:r>
            <a:r>
              <a:rPr lang="en-US" altLang="ko-KR" sz="1800" b="1" dirty="0">
                <a:solidFill>
                  <a:srgbClr val="5565AF"/>
                </a:solidFill>
              </a:rPr>
              <a:t>  </a:t>
            </a:r>
            <a:r>
              <a:rPr lang="en-US" altLang="ko-KR" sz="1800" dirty="0"/>
              <a:t>WHERE </a:t>
            </a:r>
            <a:r>
              <a:rPr lang="ko-KR" altLang="en-US" sz="1800" dirty="0"/>
              <a:t>문으로 조건에 맞는 </a:t>
            </a:r>
            <a:br>
              <a:rPr lang="en-US" altLang="ko-KR" sz="1800" dirty="0"/>
            </a:br>
            <a:r>
              <a:rPr lang="en-US" altLang="ko-KR" sz="1800" dirty="0"/>
              <a:t>        </a:t>
            </a:r>
            <a:r>
              <a:rPr lang="ko-KR" altLang="en-US" sz="1800" dirty="0"/>
              <a:t>데이터 조회하기</a:t>
            </a:r>
            <a:endParaRPr lang="en-US" altLang="ko-KR" sz="1800" dirty="0"/>
          </a:p>
          <a:p>
            <a:r>
              <a:rPr lang="en-US" altLang="ko-KR" sz="1800" b="1" dirty="0">
                <a:solidFill>
                  <a:srgbClr val="E47525"/>
                </a:solidFill>
              </a:rPr>
              <a:t>04-3</a:t>
            </a:r>
            <a:r>
              <a:rPr lang="en-US" altLang="ko-KR" sz="1800" b="1" dirty="0">
                <a:solidFill>
                  <a:srgbClr val="5565AF"/>
                </a:solidFill>
              </a:rPr>
              <a:t>  </a:t>
            </a:r>
            <a:r>
              <a:rPr lang="en-US" altLang="ko-KR" sz="1800" dirty="0"/>
              <a:t>ORDER BY </a:t>
            </a:r>
            <a:r>
              <a:rPr lang="ko-KR" altLang="en-US" sz="1800" dirty="0"/>
              <a:t>문으로 </a:t>
            </a:r>
            <a:br>
              <a:rPr lang="en-US" altLang="ko-KR" sz="1800" dirty="0"/>
            </a:br>
            <a:r>
              <a:rPr lang="en-US" altLang="ko-KR" sz="1800" dirty="0"/>
              <a:t>        </a:t>
            </a:r>
            <a:r>
              <a:rPr lang="ko-KR" altLang="en-US" sz="1800" dirty="0"/>
              <a:t>데이터 정렬하기</a:t>
            </a:r>
            <a:endParaRPr lang="en-US" altLang="ko-KR" sz="1800" dirty="0"/>
          </a:p>
          <a:p>
            <a:r>
              <a:rPr lang="en-US" altLang="ko-KR" sz="1800" b="1" dirty="0">
                <a:solidFill>
                  <a:srgbClr val="E47525"/>
                </a:solidFill>
              </a:rPr>
              <a:t>04-4</a:t>
            </a:r>
            <a:r>
              <a:rPr lang="en-US" altLang="ko-KR" sz="1800" dirty="0"/>
              <a:t>  </a:t>
            </a:r>
            <a:r>
              <a:rPr lang="ko-KR" altLang="en-US" sz="1800" dirty="0"/>
              <a:t>와일드카드로 문자열 조회하기</a:t>
            </a:r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A1DDD-BD58-454F-AAAF-00FBFF9A15E0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5433408" y="491014"/>
            <a:ext cx="1325146" cy="554280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04</a:t>
            </a:r>
            <a:endParaRPr lang="ko-KR" altLang="en-US" sz="28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75B077-11E4-BF4E-BB58-BC3C3FE24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81395" y="2061105"/>
            <a:ext cx="6029210" cy="984954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SQL</a:t>
            </a:r>
          </a:p>
          <a:p>
            <a:r>
              <a:rPr lang="ko-KR" altLang="en-US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기본 문법 익히기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F317BB5-5E95-014A-C0AD-82E6821F2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470" y="1222163"/>
            <a:ext cx="288055" cy="335192"/>
          </a:xfrm>
          <a:prstGeom prst="rect">
            <a:avLst/>
          </a:prstGeom>
        </p:spPr>
      </p:pic>
      <p:cxnSp>
        <p:nvCxnSpPr>
          <p:cNvPr id="15" name="직선 연결선[R] 39">
            <a:extLst>
              <a:ext uri="{FF2B5EF4-FFF2-40B4-BE49-F238E27FC236}">
                <a16:creationId xmlns:a16="http://schemas.microsoft.com/office/drawing/2014/main" id="{2539539D-99D5-F8FC-9F27-CFF31A0A8677}"/>
              </a:ext>
            </a:extLst>
          </p:cNvPr>
          <p:cNvCxnSpPr>
            <a:cxnSpLocks/>
          </p:cNvCxnSpPr>
          <p:nvPr/>
        </p:nvCxnSpPr>
        <p:spPr>
          <a:xfrm>
            <a:off x="6096000" y="3331809"/>
            <a:ext cx="0" cy="765882"/>
          </a:xfrm>
          <a:prstGeom prst="line">
            <a:avLst/>
          </a:prstGeom>
          <a:ln w="25400">
            <a:solidFill>
              <a:srgbClr val="E4752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C78556F8-4C3B-09EE-3F40-3DB6DA8DC1A5}"/>
              </a:ext>
            </a:extLst>
          </p:cNvPr>
          <p:cNvSpPr txBox="1">
            <a:spLocks/>
          </p:cNvSpPr>
          <p:nvPr/>
        </p:nvSpPr>
        <p:spPr>
          <a:xfrm>
            <a:off x="6249126" y="4223064"/>
            <a:ext cx="3717588" cy="2143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solidFill>
                  <a:srgbClr val="E47525"/>
                </a:solidFill>
              </a:rPr>
              <a:t>04-5</a:t>
            </a:r>
            <a:r>
              <a:rPr lang="en-US" altLang="ko-KR" sz="1800" dirty="0"/>
              <a:t>  GROUP BY </a:t>
            </a:r>
            <a:r>
              <a:rPr lang="ko-KR" altLang="en-US" sz="1800" dirty="0"/>
              <a:t>문으로 데이터 묶기</a:t>
            </a:r>
            <a:endParaRPr lang="en-US" altLang="ko-KR" sz="1800" dirty="0"/>
          </a:p>
          <a:p>
            <a:r>
              <a:rPr lang="en-US" altLang="ko-KR" sz="1800" b="1" dirty="0">
                <a:solidFill>
                  <a:srgbClr val="E47525"/>
                </a:solidFill>
              </a:rPr>
              <a:t>04-6</a:t>
            </a:r>
            <a:r>
              <a:rPr lang="en-US" altLang="ko-KR" sz="1800" dirty="0"/>
              <a:t>  </a:t>
            </a:r>
            <a:r>
              <a:rPr lang="ko-KR" altLang="en-US" sz="1800" dirty="0"/>
              <a:t>테이블 생성 및 조작하기</a:t>
            </a:r>
            <a:endParaRPr lang="en-US" altLang="ko-KR" sz="1800" dirty="0"/>
          </a:p>
          <a:p>
            <a:r>
              <a:rPr lang="en-US" altLang="ko-KR" sz="1800" b="1" dirty="0">
                <a:solidFill>
                  <a:srgbClr val="E47525"/>
                </a:solidFill>
              </a:rPr>
              <a:t>04-7</a:t>
            </a:r>
            <a:r>
              <a:rPr lang="en-US" altLang="ko-KR" sz="1800" dirty="0"/>
              <a:t>  MySQL</a:t>
            </a:r>
            <a:r>
              <a:rPr lang="ko-KR" altLang="en-US" sz="1800" dirty="0"/>
              <a:t>의 데이터 유형 </a:t>
            </a:r>
            <a:br>
              <a:rPr lang="en-US" altLang="ko-KR" sz="1800" dirty="0"/>
            </a:br>
            <a:r>
              <a:rPr lang="en-US" altLang="ko-KR" sz="1800" dirty="0"/>
              <a:t>        </a:t>
            </a:r>
            <a:r>
              <a:rPr lang="ko-KR" altLang="en-US" sz="1800" dirty="0"/>
              <a:t>정리하기</a:t>
            </a:r>
            <a:endParaRPr lang="en-US" altLang="ko-KR" sz="18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76863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en-US" altLang="ko-KR" dirty="0"/>
              <a:t>SELECT </a:t>
            </a:r>
            <a:r>
              <a:rPr kumimoji="1" lang="ko-KR" altLang="en-US" dirty="0"/>
              <a:t>문은 데이터베이스에서 데이터를 조회하는 구문임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SELECT </a:t>
            </a:r>
            <a:r>
              <a:rPr kumimoji="1" lang="ko-KR" altLang="en-US" dirty="0"/>
              <a:t>문은 자주 사용하지만 시스템 성능에 많은 영향을 미치므로 주의해서 사용해야 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MySQL </a:t>
            </a:r>
            <a:r>
              <a:rPr kumimoji="1" lang="ko-KR" altLang="en-US" dirty="0"/>
              <a:t>공식 문서에서 볼 수 있는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문의 사용 방법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2F32550-7136-5662-1B45-6E2F49DD9518}"/>
              </a:ext>
            </a:extLst>
          </p:cNvPr>
          <p:cNvGrpSpPr/>
          <p:nvPr/>
        </p:nvGrpSpPr>
        <p:grpSpPr>
          <a:xfrm>
            <a:off x="1544897" y="2838733"/>
            <a:ext cx="9914584" cy="3366633"/>
            <a:chOff x="1514900" y="4801783"/>
            <a:chExt cx="9471548" cy="122123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FC5AE0-20A2-0777-066A-25DE47B0768F}"/>
                </a:ext>
              </a:extLst>
            </p:cNvPr>
            <p:cNvSpPr/>
            <p:nvPr/>
          </p:nvSpPr>
          <p:spPr>
            <a:xfrm>
              <a:off x="1514900" y="4801783"/>
              <a:ext cx="9471548" cy="1218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MySQL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공식 문서에 소개된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SELECT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문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0045C2B-D912-9AAF-E3A3-61A34D83674A}"/>
                </a:ext>
              </a:extLst>
            </p:cNvPr>
            <p:cNvSpPr/>
            <p:nvPr/>
          </p:nvSpPr>
          <p:spPr>
            <a:xfrm>
              <a:off x="1514900" y="4923671"/>
              <a:ext cx="9471548" cy="10993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[ALL | DISTINCT | DISTINCTROW]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[HIGH_PRIORITY]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[STRAIGHT_JOIN]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[SQL_SMALL_RESULT] [SQL_BIG_RESULT] [SQL_BUFFER_RESULT]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[SQL_NO_CACHE] [SQL_CALC_FOUND_ROWS]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select_expr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[,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select_expr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 ...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into_option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[FROM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table_references</a:t>
              </a:r>
              <a:endParaRPr lang="en-US" altLang="ko-KR" sz="10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	[PARTITION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partition_list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[WHERE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where_condition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[GROUP BY {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col_name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| expr | position}, ... [WITH ROLLUP]]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[HAVING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where_condition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[WINDOW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window_name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 (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window_spec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	[,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window_name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 (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window_spec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)] ...]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[ORDER BY {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col_name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| expr | position}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	[ASC | DESC], ... [WITH ROLLUP]]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[LIMIT {[offset,]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row_count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|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row_count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OFFSET offset}]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into_option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[FOR {UPDATE | SHARE}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	[OF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tbl_name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[, 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tbl_name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 ...]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	[NOWAIT | SKIP LOCKED]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	| LOCK IN SHARE MODE]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[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into_option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]</a:t>
              </a:r>
            </a:p>
            <a:p>
              <a:pPr algn="just"/>
              <a:endParaRPr lang="en-US" altLang="ko-KR" sz="10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into_option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: {</a:t>
              </a:r>
            </a:p>
            <a:p>
              <a:pPr algn="just"/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INTO OUTFILE '</a:t>
              </a:r>
              <a:r>
                <a:rPr lang="en-US" altLang="ko-KR" sz="10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file_name</a:t>
              </a:r>
              <a:r>
                <a:rPr lang="en-US" altLang="ko-KR" sz="10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’</a:t>
              </a:r>
            </a:p>
            <a:p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		[CHARACTER SET </a:t>
              </a:r>
              <a:r>
                <a:rPr lang="en-US" altLang="ko-KR" sz="1000" b="0" i="0" u="none" strike="noStrike" baseline="0" dirty="0" err="1">
                  <a:solidFill>
                    <a:srgbClr val="211D1E"/>
                  </a:solidFill>
                  <a:latin typeface="D2Coding"/>
                </a:rPr>
                <a:t>charset_name</a:t>
              </a:r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] </a:t>
              </a:r>
            </a:p>
            <a:p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		</a:t>
              </a:r>
              <a:r>
                <a:rPr lang="en-US" altLang="ko-KR" sz="1000" b="0" i="0" u="none" strike="noStrike" baseline="0" dirty="0" err="1">
                  <a:solidFill>
                    <a:srgbClr val="211D1E"/>
                  </a:solidFill>
                  <a:latin typeface="D2Coding"/>
                </a:rPr>
                <a:t>export_options</a:t>
              </a:r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 </a:t>
              </a:r>
            </a:p>
            <a:p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	| INTO DUMPFILE '</a:t>
              </a:r>
              <a:r>
                <a:rPr lang="en-US" altLang="ko-KR" sz="1000" b="0" i="0" u="none" strike="noStrike" baseline="0" dirty="0" err="1">
                  <a:solidFill>
                    <a:srgbClr val="211D1E"/>
                  </a:solidFill>
                  <a:latin typeface="D2Coding"/>
                </a:rPr>
                <a:t>file_name</a:t>
              </a:r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’ </a:t>
              </a:r>
            </a:p>
            <a:p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	| INTO </a:t>
              </a:r>
              <a:r>
                <a:rPr lang="en-US" altLang="ko-KR" sz="1000" b="0" i="0" u="none" strike="noStrike" baseline="0" dirty="0" err="1">
                  <a:solidFill>
                    <a:srgbClr val="211D1E"/>
                  </a:solidFill>
                  <a:latin typeface="D2Coding"/>
                </a:rPr>
                <a:t>var_name</a:t>
              </a:r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 [, </a:t>
              </a:r>
              <a:r>
                <a:rPr lang="en-US" altLang="ko-KR" sz="1000" b="0" i="0" u="none" strike="noStrike" baseline="0" dirty="0" err="1">
                  <a:solidFill>
                    <a:srgbClr val="211D1E"/>
                  </a:solidFill>
                  <a:latin typeface="D2Coding"/>
                </a:rPr>
                <a:t>var_name</a:t>
              </a:r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] ...</a:t>
              </a:r>
            </a:p>
            <a:p>
              <a:r>
                <a:rPr lang="en-US" altLang="ko-KR" sz="1000" b="0" i="0" u="none" strike="noStrike" baseline="0" dirty="0">
                  <a:solidFill>
                    <a:srgbClr val="211D1E"/>
                  </a:solidFill>
                  <a:latin typeface="D2Coding"/>
                </a:rPr>
                <a:t>}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33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en-US" altLang="ko-KR" dirty="0"/>
              <a:t>SELECT </a:t>
            </a:r>
            <a:r>
              <a:rPr kumimoji="1" lang="ko-KR" altLang="en-US" dirty="0"/>
              <a:t>문을 가장 자주 사용하는 형태로 줄이면 다음과 같음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DBDC1F-0190-EDB9-CEED-7A81BDB919F3}"/>
              </a:ext>
            </a:extLst>
          </p:cNvPr>
          <p:cNvSpPr/>
          <p:nvPr/>
        </p:nvSpPr>
        <p:spPr>
          <a:xfrm>
            <a:off x="1476657" y="2100303"/>
            <a:ext cx="6578175" cy="132869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자주 사용하는 형태의 </a:t>
            </a:r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SELECT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문</a:t>
            </a:r>
          </a:p>
          <a:p>
            <a:pPr algn="just"/>
            <a:endParaRPr lang="en-US" altLang="ko-KR" sz="1400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FROM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테이블</a:t>
            </a: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WHERE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조건</a:t>
            </a: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ORDER BY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endParaRPr lang="ko-KR" altLang="en-US" sz="1200" i="0" u="none" strike="noStrike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03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SELECT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데이터를 조회하려면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문을 사용함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SELECT </a:t>
            </a:r>
            <a:r>
              <a:rPr kumimoji="1" lang="ko-KR" altLang="en-US" dirty="0"/>
              <a:t>문은 다양한 옵션도 함께 사용할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9AD6EC-373F-C289-E668-405CD432058A}"/>
              </a:ext>
            </a:extLst>
          </p:cNvPr>
          <p:cNvSpPr/>
          <p:nvPr/>
        </p:nvSpPr>
        <p:spPr>
          <a:xfrm>
            <a:off x="1476657" y="3310818"/>
            <a:ext cx="6578175" cy="8653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SELECT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문의 기본 형식</a:t>
            </a:r>
          </a:p>
          <a:p>
            <a:pPr algn="just"/>
            <a:endParaRPr lang="en-US" altLang="ko-KR" sz="1400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sng" strike="noStrike" dirty="0">
                <a:solidFill>
                  <a:schemeClr val="tx1"/>
                </a:solidFill>
              </a:rPr>
              <a:t>SELECT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FROM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테이블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</a:p>
          <a:p>
            <a:pPr algn="just"/>
            <a:r>
              <a:rPr lang="en-US" altLang="ko-KR" sz="1400" dirty="0">
                <a:solidFill>
                  <a:schemeClr val="tx1"/>
                </a:solidFill>
              </a:rPr>
              <a:t>    ①    ②    ③        ④</a:t>
            </a:r>
            <a:endParaRPr lang="ko-KR" altLang="en-US" sz="1200" i="0" strike="noStrike" baseline="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59F46D-A0FD-6BA9-1531-C71CF5B50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35" y="4252831"/>
            <a:ext cx="5909481" cy="166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8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SELECT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데이터를 조회하기 전에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구조를 살펴보자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 err="1"/>
              <a:t>sakila</a:t>
            </a:r>
            <a:r>
              <a:rPr kumimoji="1" lang="en-US" altLang="ko-KR" dirty="0"/>
              <a:t> </a:t>
            </a:r>
            <a:r>
              <a:rPr kumimoji="1" lang="ko-KR" altLang="en-US" dirty="0"/>
              <a:t>데이터베이스의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테이블은 모든 고객의 정보 데이터가 저장되어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03756F-F234-108A-3479-D2231EFA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922" y="3296361"/>
            <a:ext cx="4760155" cy="260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8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SELECT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하나의 열 조회하기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customer </a:t>
            </a:r>
            <a:r>
              <a:rPr kumimoji="1" lang="ko-KR" altLang="en-US" dirty="0"/>
              <a:t>테이블에서 고객의 이름이 저장된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조회하는 쿼리를 작성해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987BD9-BDA4-0C02-4753-3B90EC150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482" y="3263452"/>
            <a:ext cx="1219418" cy="259202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0982377-4EB1-9517-FE49-9B5DEFE8C3E9}"/>
              </a:ext>
            </a:extLst>
          </p:cNvPr>
          <p:cNvGrpSpPr/>
          <p:nvPr/>
        </p:nvGrpSpPr>
        <p:grpSpPr>
          <a:xfrm>
            <a:off x="1981626" y="3399929"/>
            <a:ext cx="4705778" cy="773994"/>
            <a:chOff x="1514900" y="4698128"/>
            <a:chExt cx="9471548" cy="45108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733478-0436-C0D6-D6A2-AE3007EEA8D6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열을 조회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992531F-B1DB-9D6E-88FA-148DDB46EB65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customer;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84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SELECT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2</a:t>
            </a:r>
            <a:r>
              <a:rPr kumimoji="1" lang="ko-KR" altLang="en-US" b="1" dirty="0"/>
              <a:t>개 이상의 열 조회하기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개의 열을 조회하는 쿼리를 알아보자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테이블에서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last_name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조회하는 쿼리임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이때</a:t>
            </a:r>
            <a:r>
              <a:rPr kumimoji="1" lang="en-US" altLang="ko-KR" dirty="0"/>
              <a:t>, 2</a:t>
            </a:r>
            <a:r>
              <a:rPr kumimoji="1" lang="ko-KR" altLang="en-US" dirty="0"/>
              <a:t>개의 열을 조회하기 위해 쉼표</a:t>
            </a:r>
            <a:r>
              <a:rPr kumimoji="1" lang="en-US" altLang="ko-KR" dirty="0"/>
              <a:t>(,)</a:t>
            </a:r>
            <a:r>
              <a:rPr kumimoji="1" lang="ko-KR" altLang="en-US" dirty="0"/>
              <a:t>로 조회할 열 이름을 나열함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3050BFC-D5A4-52AE-D265-CBE1356550E2}"/>
              </a:ext>
            </a:extLst>
          </p:cNvPr>
          <p:cNvGrpSpPr/>
          <p:nvPr/>
        </p:nvGrpSpPr>
        <p:grpSpPr>
          <a:xfrm>
            <a:off x="1988045" y="3927822"/>
            <a:ext cx="4508289" cy="773994"/>
            <a:chOff x="1514900" y="4698128"/>
            <a:chExt cx="9471548" cy="45108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81C748-AD51-1D1B-2F4C-832E881ABA29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2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개의 열을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3B701DD-9D62-7299-25B2-3E9C48B88465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last_name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customer;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98A4D467-06FD-7B41-BB03-3F83CEEF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96" y="3793723"/>
            <a:ext cx="1950010" cy="251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2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SELECT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전체 열 조회하기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테이블의 전체 열을 조회하려면 열 이름을 모두 입력할 필요 없이 * 기호를 사용하면 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쉼표로 구분하여 모든 열을 입력해도 되지만 </a:t>
            </a:r>
            <a:br>
              <a:rPr kumimoji="1" lang="en-US" altLang="ko-KR" dirty="0"/>
            </a:br>
            <a:r>
              <a:rPr kumimoji="1" lang="ko-KR" altLang="en-US" dirty="0"/>
              <a:t>열 이름을 외우기 어려우니 * 기호를 사용하는 것을 추천함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전체 데이터를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3050BFC-D5A4-52AE-D265-CBE1356550E2}"/>
              </a:ext>
            </a:extLst>
          </p:cNvPr>
          <p:cNvGrpSpPr/>
          <p:nvPr/>
        </p:nvGrpSpPr>
        <p:grpSpPr>
          <a:xfrm>
            <a:off x="2001692" y="4186737"/>
            <a:ext cx="2502069" cy="773994"/>
            <a:chOff x="1514900" y="4698128"/>
            <a:chExt cx="9471548" cy="45108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81C748-AD51-1D1B-2F4C-832E881ABA29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모든 열을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3B701DD-9D62-7299-25B2-3E9C48B88465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1D0D880-29C3-9743-BAD5-5F1CBAF3A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11" y="4076139"/>
            <a:ext cx="6844419" cy="176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5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MySQL </a:t>
            </a:r>
            <a:r>
              <a:rPr kumimoji="1" lang="ko-KR" altLang="en-US" dirty="0" err="1">
                <a:solidFill>
                  <a:srgbClr val="E47525"/>
                </a:solidFill>
              </a:rPr>
              <a:t>워크벤치에서</a:t>
            </a:r>
            <a:r>
              <a:rPr kumimoji="1" lang="ko-KR" altLang="en-US" dirty="0">
                <a:solidFill>
                  <a:srgbClr val="E47525"/>
                </a:solidFill>
              </a:rPr>
              <a:t> 테이블의 열 정보 확인하기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데이터를 조회할 때 테이블에 무슨 열이 있는지 확인하고 싶은 경우 </a:t>
            </a:r>
            <a:br>
              <a:rPr kumimoji="1" lang="en-US" altLang="ko-KR" dirty="0"/>
            </a:br>
            <a:r>
              <a:rPr kumimoji="1" lang="ko-KR" altLang="en-US" dirty="0"/>
              <a:t>왼쪽 </a:t>
            </a:r>
            <a:r>
              <a:rPr kumimoji="1" lang="ko-KR" altLang="en-US" dirty="0" err="1"/>
              <a:t>내비게이터의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[Schemas] </a:t>
            </a:r>
            <a:r>
              <a:rPr kumimoji="1" lang="ko-KR" altLang="en-US" dirty="0"/>
              <a:t>탭에서 테이블을 확장하면 </a:t>
            </a:r>
            <a:br>
              <a:rPr kumimoji="1" lang="en-US" altLang="ko-KR" dirty="0"/>
            </a:br>
            <a:r>
              <a:rPr kumimoji="1" lang="ko-KR" altLang="en-US" dirty="0"/>
              <a:t>열의 정보를 쉽게 확인할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예를 들어 오른쪽과 같이 </a:t>
            </a:r>
            <a:br>
              <a:rPr kumimoji="1" lang="en-US" altLang="ko-KR" dirty="0"/>
            </a:br>
            <a:r>
              <a:rPr kumimoji="1" lang="en-US" altLang="ko-KR" dirty="0"/>
              <a:t>[</a:t>
            </a:r>
            <a:r>
              <a:rPr kumimoji="1" lang="en-US" altLang="ko-KR" dirty="0" err="1"/>
              <a:t>sakila</a:t>
            </a:r>
            <a:r>
              <a:rPr kumimoji="1" lang="en-US" altLang="ko-KR" dirty="0"/>
              <a:t> → Tables → customer → Columns] </a:t>
            </a:r>
            <a:r>
              <a:rPr kumimoji="1" lang="ko-KR" altLang="en-US" dirty="0"/>
              <a:t>순서로 확장하여 </a:t>
            </a:r>
            <a:br>
              <a:rPr kumimoji="1" lang="en-US" altLang="ko-KR" dirty="0"/>
            </a:br>
            <a:r>
              <a:rPr kumimoji="1" lang="ko-KR" altLang="en-US" dirty="0"/>
              <a:t>현재 사용하는 테이블의 열 정보를 확인할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544D20-9DF2-991C-C3DB-D6FFD1B95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904" y="3698997"/>
            <a:ext cx="1780097" cy="251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1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1154682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MySQL </a:t>
            </a:r>
            <a:r>
              <a:rPr kumimoji="1" lang="ko-KR" altLang="en-US" dirty="0" err="1">
                <a:solidFill>
                  <a:srgbClr val="E47525"/>
                </a:solidFill>
              </a:rPr>
              <a:t>워크벤치에서</a:t>
            </a:r>
            <a:r>
              <a:rPr kumimoji="1" lang="ko-KR" altLang="en-US" dirty="0">
                <a:solidFill>
                  <a:srgbClr val="E47525"/>
                </a:solidFill>
              </a:rPr>
              <a:t> 테이블의 열 정보 확인하기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또는 </a:t>
            </a:r>
            <a:r>
              <a:rPr kumimoji="1" lang="en-US" altLang="ko-KR" dirty="0"/>
              <a:t>MySQL </a:t>
            </a:r>
            <a:r>
              <a:rPr kumimoji="1" lang="ko-KR" altLang="en-US" dirty="0"/>
              <a:t>서버에서 제공하는 시스템 함수를 활용해 </a:t>
            </a:r>
            <a:br>
              <a:rPr kumimoji="1" lang="en-US" altLang="ko-KR" dirty="0"/>
            </a:br>
            <a:r>
              <a:rPr kumimoji="1" lang="ko-KR" altLang="en-US" dirty="0"/>
              <a:t>테이블 열 정보를 확인할 수도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이러한 시스템 함수는 데이터베이스 시스템마다 지원하는 명령어가 다름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여기에서는 </a:t>
            </a:r>
            <a:r>
              <a:rPr kumimoji="1" lang="en-US" altLang="ko-KR" dirty="0"/>
              <a:t>MySQL</a:t>
            </a:r>
            <a:r>
              <a:rPr kumimoji="1" lang="ko-KR" altLang="en-US" dirty="0"/>
              <a:t>에서만 적용되는 </a:t>
            </a:r>
            <a:r>
              <a:rPr kumimoji="1" lang="en-US" altLang="ko-KR" dirty="0"/>
              <a:t>SHOW COLUMNS</a:t>
            </a:r>
            <a:r>
              <a:rPr kumimoji="1" lang="ko-KR" altLang="en-US" dirty="0"/>
              <a:t>를 사용해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332824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1154682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MySQL </a:t>
            </a:r>
            <a:r>
              <a:rPr kumimoji="1" lang="ko-KR" altLang="en-US" dirty="0" err="1">
                <a:solidFill>
                  <a:srgbClr val="E47525"/>
                </a:solidFill>
              </a:rPr>
              <a:t>워크벤치에서</a:t>
            </a:r>
            <a:r>
              <a:rPr kumimoji="1" lang="ko-KR" altLang="en-US" dirty="0">
                <a:solidFill>
                  <a:srgbClr val="E47525"/>
                </a:solidFill>
              </a:rPr>
              <a:t> 테이블의 열 정보 확인하기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열 정보를 확인하는 쿼리임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sz="1800" b="0" i="0" u="none" strike="noStrike" baseline="0" dirty="0">
              <a:solidFill>
                <a:srgbClr val="211D1E"/>
              </a:solidFill>
              <a:latin typeface="TDc_SSiMyungJo 120"/>
            </a:endParaRPr>
          </a:p>
          <a:p>
            <a:pPr lvl="1">
              <a:buClr>
                <a:srgbClr val="E47525"/>
              </a:buClr>
            </a:pPr>
            <a:endParaRPr kumimoji="1" lang="en-US" altLang="ko-KR" sz="1800" dirty="0">
              <a:solidFill>
                <a:srgbClr val="211D1E"/>
              </a:solidFill>
              <a:latin typeface="TDc_SSiMyungJo 120"/>
            </a:endParaRPr>
          </a:p>
          <a:p>
            <a:pPr lvl="1">
              <a:buClr>
                <a:srgbClr val="E47525"/>
              </a:buClr>
            </a:pPr>
            <a:endParaRPr kumimoji="1" lang="en-US" altLang="ko-KR" sz="1800" b="0" i="0" u="none" strike="noStrike" baseline="0" dirty="0">
              <a:solidFill>
                <a:srgbClr val="211D1E"/>
              </a:solidFill>
              <a:latin typeface="TDc_SSiMyungJo 120"/>
            </a:endParaRPr>
          </a:p>
          <a:p>
            <a:pPr lvl="1">
              <a:buClr>
                <a:srgbClr val="E47525"/>
              </a:buClr>
            </a:pPr>
            <a:endParaRPr kumimoji="1" lang="en-US" altLang="ko-KR" sz="1800" dirty="0">
              <a:solidFill>
                <a:srgbClr val="211D1E"/>
              </a:solidFill>
              <a:latin typeface="TDc_SSiMyungJo 120"/>
            </a:endParaRPr>
          </a:p>
          <a:p>
            <a:pPr lvl="1">
              <a:buClr>
                <a:srgbClr val="E47525"/>
              </a:buClr>
            </a:pPr>
            <a:endParaRPr kumimoji="1" lang="en-US" altLang="ko-KR" sz="1800" b="0" i="0" u="none" strike="noStrike" baseline="0" dirty="0">
              <a:solidFill>
                <a:srgbClr val="211D1E"/>
              </a:solidFill>
              <a:latin typeface="TDc_SSiMyungJo 120"/>
            </a:endParaRPr>
          </a:p>
          <a:p>
            <a:pPr lvl="1">
              <a:buClr>
                <a:srgbClr val="E47525"/>
              </a:buClr>
            </a:pPr>
            <a:endParaRPr kumimoji="1" lang="en-US" altLang="ko-KR" sz="1800" dirty="0">
              <a:solidFill>
                <a:srgbClr val="211D1E"/>
              </a:solidFill>
              <a:latin typeface="TDc_SSiMyungJo 120"/>
            </a:endParaRPr>
          </a:p>
          <a:p>
            <a:pPr lvl="1">
              <a:buClr>
                <a:srgbClr val="E47525"/>
              </a:buClr>
            </a:pPr>
            <a:r>
              <a:rPr lang="ko-KR" altLang="en-US" b="0" i="0" u="none" strike="noStrike" baseline="0" dirty="0">
                <a:solidFill>
                  <a:srgbClr val="211D1E"/>
                </a:solidFill>
                <a:latin typeface="TDc_SSiMyungJo 120"/>
              </a:rPr>
              <a:t>테이블에 생성되어 있는 열 이름이 출력되고</a:t>
            </a:r>
            <a:r>
              <a:rPr lang="en-US" altLang="ko-KR" b="0" i="0" u="none" strike="noStrike" baseline="0" dirty="0">
                <a:solidFill>
                  <a:srgbClr val="211D1E"/>
                </a:solidFill>
                <a:latin typeface="TDc_SSiMyungJo 120"/>
              </a:rPr>
              <a:t>, </a:t>
            </a:r>
            <a:br>
              <a:rPr lang="en-US" altLang="ko-KR" b="0" i="0" u="none" strike="noStrike" baseline="0" dirty="0">
                <a:solidFill>
                  <a:srgbClr val="211D1E"/>
                </a:solidFill>
                <a:latin typeface="TDc_SSiMyungJo 120"/>
              </a:rPr>
            </a:br>
            <a:r>
              <a:rPr lang="ko-KR" altLang="en-US" b="0" i="0" u="none" strike="noStrike" baseline="0" dirty="0">
                <a:solidFill>
                  <a:srgbClr val="211D1E"/>
                </a:solidFill>
                <a:latin typeface="TDc_SSiMyungJo 120"/>
              </a:rPr>
              <a:t>각 열의 데이터 유형이나 </a:t>
            </a:r>
            <a:r>
              <a:rPr lang="en-US" altLang="ko-KR" b="0" i="0" u="none" strike="noStrike" baseline="0" dirty="0">
                <a:solidFill>
                  <a:srgbClr val="211D1E"/>
                </a:solidFill>
                <a:latin typeface="TDc_SSiMyungJo 120"/>
              </a:rPr>
              <a:t>Null </a:t>
            </a:r>
            <a:r>
              <a:rPr lang="ko-KR" altLang="en-US" b="0" i="0" u="none" strike="noStrike" baseline="0" dirty="0">
                <a:solidFill>
                  <a:srgbClr val="211D1E"/>
                </a:solidFill>
                <a:latin typeface="TDc_SSiMyungJo 120"/>
              </a:rPr>
              <a:t>값 허용 여부 등의 정보를 확인할 수 있음</a:t>
            </a:r>
            <a:endParaRPr kumimoji="1" lang="en-US" altLang="ko-KR" sz="24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7602541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04-1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SELECT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E12678B-8A87-129B-86BF-F1F438A01EFC}"/>
              </a:ext>
            </a:extLst>
          </p:cNvPr>
          <p:cNvGrpSpPr/>
          <p:nvPr/>
        </p:nvGrpSpPr>
        <p:grpSpPr>
          <a:xfrm>
            <a:off x="1472815" y="2973844"/>
            <a:ext cx="3935083" cy="773994"/>
            <a:chOff x="1514900" y="4698128"/>
            <a:chExt cx="9471548" cy="45108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242812-D649-2133-47EE-D47555592888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customer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테이블의 열 정보를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3DCD778-12BD-52E0-A72F-9AACB72174D4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SHOW COLUMNS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sakila.customer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4D85E82-BFD6-1876-15A2-BB33046B6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104" y="2795197"/>
            <a:ext cx="5897965" cy="190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5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ko-KR" altLang="en-US" dirty="0"/>
              <a:t>시스템의 과부하를 줄이려면 필요한 데이터만 조회해야 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지금까지 필요한 열을 조회하는 방법은 알아보았지만 </a:t>
            </a:r>
            <a:br>
              <a:rPr kumimoji="1" lang="en-US" altLang="ko-KR" dirty="0"/>
            </a:br>
            <a:r>
              <a:rPr kumimoji="1" lang="ko-KR" altLang="en-US" dirty="0"/>
              <a:t>행은 전체가 다 조회되므로 </a:t>
            </a:r>
            <a:br>
              <a:rPr kumimoji="1" lang="en-US" altLang="ko-KR" dirty="0"/>
            </a:br>
            <a:r>
              <a:rPr kumimoji="1" lang="ko-KR" altLang="en-US" dirty="0"/>
              <a:t>아직 필요한 데이터만 조회했다고 볼 수 없음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실무에서 사용하는 데이터베이스에는 </a:t>
            </a:r>
            <a:br>
              <a:rPr kumimoji="1" lang="en-US" altLang="ko-KR" dirty="0"/>
            </a:br>
            <a:r>
              <a:rPr kumimoji="1" lang="ko-KR" altLang="en-US" dirty="0"/>
              <a:t>엄청난 양의 데이터가 저장되어 있으므로 </a:t>
            </a:r>
            <a:br>
              <a:rPr kumimoji="1" lang="en-US" altLang="ko-KR" dirty="0"/>
            </a:br>
            <a:r>
              <a:rPr kumimoji="1" lang="ko-KR" altLang="en-US" dirty="0"/>
              <a:t>매번 전체 행을 가져오면 안 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이번에는 조건에 맞는 행을 조회하기 위해 </a:t>
            </a:r>
            <a:br>
              <a:rPr kumimoji="1" lang="en-US" altLang="ko-KR" dirty="0"/>
            </a:br>
            <a:r>
              <a:rPr kumimoji="1" lang="en-US" altLang="ko-KR" dirty="0"/>
              <a:t>WHERE </a:t>
            </a:r>
            <a:r>
              <a:rPr kumimoji="1" lang="ko-KR" altLang="en-US" dirty="0"/>
              <a:t>문을 활용하는 방법을 알아보자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133960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en-US" altLang="ko-KR" dirty="0"/>
              <a:t>WHERE </a:t>
            </a:r>
            <a:r>
              <a:rPr kumimoji="1" lang="ko-KR" altLang="en-US" dirty="0"/>
              <a:t>문의 기본 형식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0143D4-2A82-E5DD-DA85-7C1BCCCD4386}"/>
              </a:ext>
            </a:extLst>
          </p:cNvPr>
          <p:cNvSpPr/>
          <p:nvPr/>
        </p:nvSpPr>
        <p:spPr>
          <a:xfrm>
            <a:off x="1531249" y="2064720"/>
            <a:ext cx="6578175" cy="9241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WHERE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문의 기본 형식</a:t>
            </a:r>
          </a:p>
          <a:p>
            <a:pPr algn="just"/>
            <a:endParaRPr lang="en-US" altLang="ko-KR" sz="1400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FROM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테이블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WHERE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=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 err="1">
                <a:solidFill>
                  <a:schemeClr val="tx1"/>
                </a:solidFill>
              </a:rPr>
              <a:t>조건값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</a:p>
          <a:p>
            <a:pPr algn="just"/>
            <a:r>
              <a:rPr lang="en-US" altLang="ko-KR" sz="1200" dirty="0">
                <a:solidFill>
                  <a:schemeClr val="tx1"/>
                </a:solidFill>
              </a:rPr>
              <a:t>                                              ①      ②  ③      ④</a:t>
            </a:r>
            <a:endParaRPr lang="ko-KR" altLang="en-US" sz="1200" i="0" u="none" strike="noStrike" baseline="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8D259C-126E-46CC-9960-8E3DAEC4F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37" y="3041462"/>
            <a:ext cx="4525962" cy="123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5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문으로 특정 값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실습을 통해서 </a:t>
            </a:r>
            <a:r>
              <a:rPr kumimoji="1" lang="en-US" altLang="ko-KR" dirty="0"/>
              <a:t>WHERE </a:t>
            </a:r>
            <a:r>
              <a:rPr kumimoji="1" lang="ko-KR" altLang="en-US" dirty="0"/>
              <a:t>문을 어떻게 사용하는지 알아보자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테이블에서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값이 ‘</a:t>
            </a:r>
            <a:r>
              <a:rPr kumimoji="1" lang="en-US" altLang="ko-KR" dirty="0"/>
              <a:t>MARIA’</a:t>
            </a:r>
            <a:r>
              <a:rPr kumimoji="1" lang="ko-KR" altLang="en-US" dirty="0"/>
              <a:t>인 데이터를 조회한 쿼리임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3B171E-7228-507A-68C2-FC788229B9CE}"/>
              </a:ext>
            </a:extLst>
          </p:cNvPr>
          <p:cNvGrpSpPr/>
          <p:nvPr/>
        </p:nvGrpSpPr>
        <p:grpSpPr>
          <a:xfrm>
            <a:off x="1472815" y="3690686"/>
            <a:ext cx="5334385" cy="773994"/>
            <a:chOff x="1514900" y="4698128"/>
            <a:chExt cx="9471548" cy="45108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B5667E2-14AC-43BB-C6D2-81BCAEFC2BC6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WHERE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문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, =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연산자로 특정 값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CFB0BF-BEDB-F36E-D951-FC4467056243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'MARIA';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8844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문으로 특정 값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= </a:t>
            </a:r>
            <a:r>
              <a:rPr kumimoji="1" lang="ko-KR" altLang="en-US" dirty="0"/>
              <a:t>연산자 오른쪽 조건에 해당하는 데이터만 조회된 것을 확인할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이렇게 필요한 데이터만 필터링하면 </a:t>
            </a:r>
            <a:br>
              <a:rPr kumimoji="1" lang="en-US" altLang="ko-KR" dirty="0"/>
            </a:br>
            <a:r>
              <a:rPr kumimoji="1" lang="ko-KR" altLang="en-US" dirty="0"/>
              <a:t>원하는 데이터를 빠르게 조회할 수 있고 시스템의 부하를 줄일 수도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BF7EAE-6E0E-3971-F845-2C566F0EC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15" y="2519605"/>
            <a:ext cx="9079071" cy="98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WHERE </a:t>
            </a:r>
            <a:r>
              <a:rPr kumimoji="1" lang="ko-KR" altLang="en-US" dirty="0"/>
              <a:t>문에는 다양한 연산자를 사용할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앞선 예에서는 조건에 해당하는 값과 </a:t>
            </a:r>
            <a:br>
              <a:rPr kumimoji="1" lang="en-US" altLang="ko-KR" dirty="0"/>
            </a:br>
            <a:r>
              <a:rPr kumimoji="1" lang="ko-KR" altLang="en-US" dirty="0"/>
              <a:t>같은 데이터를 조회하기 위해 비교 연산자 </a:t>
            </a:r>
            <a:r>
              <a:rPr kumimoji="1" lang="en-US" altLang="ko-KR" dirty="0"/>
              <a:t>=</a:t>
            </a:r>
            <a:r>
              <a:rPr kumimoji="1" lang="ko-KR" altLang="en-US" dirty="0"/>
              <a:t>를 사용함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이외에도 </a:t>
            </a:r>
            <a:r>
              <a:rPr kumimoji="1" lang="en-US" altLang="ko-KR" dirty="0"/>
              <a:t>MySQL</a:t>
            </a:r>
            <a:r>
              <a:rPr kumimoji="1" lang="ko-KR" altLang="en-US" dirty="0"/>
              <a:t>은 다양한 비교 연산자를 제공함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728768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04730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연산자의 종류 살펴보기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MySQL</a:t>
            </a:r>
            <a:r>
              <a:rPr kumimoji="1" lang="ko-KR" altLang="en-US" dirty="0"/>
              <a:t>에서는 다음과 같은 </a:t>
            </a:r>
            <a:br>
              <a:rPr kumimoji="1" lang="en-US" altLang="ko-KR" dirty="0"/>
            </a:br>
            <a:r>
              <a:rPr kumimoji="1" lang="ko-KR" altLang="en-US" dirty="0"/>
              <a:t>비교 연산자를 사용하여 데이터를 조회할 수 있음</a:t>
            </a:r>
            <a:endParaRPr kumimoji="1" lang="en-US" altLang="ko-KR" dirty="0"/>
          </a:p>
          <a:p>
            <a:pPr marL="914400" lvl="2" indent="0">
              <a:buClr>
                <a:srgbClr val="E47525"/>
              </a:buClr>
              <a:buNone/>
            </a:pPr>
            <a:br>
              <a:rPr kumimoji="1" lang="en-US" altLang="ko-KR" dirty="0"/>
            </a:b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&lt;= </a:t>
            </a:r>
            <a:r>
              <a:rPr kumimoji="1" lang="ko-KR" altLang="en-US" dirty="0"/>
              <a:t>등과 같이 크기를 비교하는 연산자는 숫자에만 사용하기를 권함</a:t>
            </a:r>
            <a:br>
              <a:rPr kumimoji="1" lang="en-US" altLang="ko-KR" dirty="0"/>
            </a:b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문자열에도 비교 연산자를 사용할 수 있지만 </a:t>
            </a:r>
            <a:br>
              <a:rPr kumimoji="1" lang="en-US" altLang="ko-KR" dirty="0"/>
            </a:br>
            <a:r>
              <a:rPr kumimoji="1" lang="ko-KR" altLang="en-US" dirty="0"/>
              <a:t>이 연산자는 데이터베이스 시스템이 정의한 </a:t>
            </a:r>
            <a:br>
              <a:rPr kumimoji="1" lang="en-US" altLang="ko-KR" dirty="0"/>
            </a:br>
            <a:r>
              <a:rPr kumimoji="1" lang="ko-KR" altLang="en-US" dirty="0"/>
              <a:t>정렬 기준에 따라 </a:t>
            </a:r>
            <a:r>
              <a:rPr kumimoji="1" lang="ko-KR" altLang="en-US" dirty="0" err="1"/>
              <a:t>결괏값이</a:t>
            </a:r>
            <a:r>
              <a:rPr kumimoji="1" lang="ko-KR" altLang="en-US" dirty="0"/>
              <a:t> 달라지므로 </a:t>
            </a:r>
            <a:br>
              <a:rPr kumimoji="1" lang="en-US" altLang="ko-KR" dirty="0"/>
            </a:br>
            <a:r>
              <a:rPr kumimoji="1" lang="ko-KR" altLang="en-US" dirty="0"/>
              <a:t>데이터 속성에 따라 적절히 사용해야 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57321D-257E-9081-A8AD-73D755F1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330" y="2371109"/>
            <a:ext cx="2728244" cy="211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22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연산자를 이용한 데이터 조회하기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숫자형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문자열형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날짜형 등 여러 데이터 유형과 비교 연산자를 사용했을 때 </a:t>
            </a:r>
            <a:br>
              <a:rPr kumimoji="1" lang="en-US" altLang="ko-KR" dirty="0"/>
            </a:br>
            <a:r>
              <a:rPr kumimoji="1" lang="ko-KR" altLang="en-US" dirty="0"/>
              <a:t>어떤 결과가 나오는지 여러 예를 통해 살펴보자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customer </a:t>
            </a:r>
            <a:r>
              <a:rPr kumimoji="1" lang="ko-KR" altLang="en-US" dirty="0"/>
              <a:t>테이블에서 숫자형 비교로 </a:t>
            </a:r>
            <a:br>
              <a:rPr kumimoji="1" lang="en-US" altLang="ko-KR" dirty="0"/>
            </a:br>
            <a:r>
              <a:rPr kumimoji="1" lang="en-US" altLang="ko-KR" dirty="0" err="1"/>
              <a:t>address_id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데이터가 </a:t>
            </a:r>
            <a:r>
              <a:rPr kumimoji="1" lang="en-US" altLang="ko-KR" dirty="0"/>
              <a:t>200</a:t>
            </a:r>
            <a:r>
              <a:rPr kumimoji="1" lang="ko-KR" altLang="en-US" dirty="0"/>
              <a:t>에 해당하는 행만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FA90BE-AC96-C575-8FD2-0693BEC70063}"/>
              </a:ext>
            </a:extLst>
          </p:cNvPr>
          <p:cNvGrpSpPr/>
          <p:nvPr/>
        </p:nvGrpSpPr>
        <p:grpSpPr>
          <a:xfrm>
            <a:off x="2067901" y="4516461"/>
            <a:ext cx="575529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E6A4A0-2DFD-2CB5-605D-5E087355A5E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address_id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가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200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인 행을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0C20BE-9691-3830-D603-6AF644E62888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address_id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200;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33C7F785-A477-08C6-8AEF-B7EEA61D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01" y="5359822"/>
            <a:ext cx="8367870" cy="7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33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연산자를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마찬가지로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테이블에서 이번에는 숫자형 비교로</a:t>
            </a:r>
            <a:br>
              <a:rPr kumimoji="1" lang="en-US" altLang="ko-KR" dirty="0"/>
            </a:br>
            <a:r>
              <a:rPr kumimoji="1" lang="en-US" altLang="ko-KR" dirty="0" err="1"/>
              <a:t>address_id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데이터가 </a:t>
            </a:r>
            <a:r>
              <a:rPr kumimoji="1" lang="en-US" altLang="ko-KR" dirty="0"/>
              <a:t>200 </a:t>
            </a:r>
            <a:r>
              <a:rPr kumimoji="1" lang="ko-KR" altLang="en-US" dirty="0"/>
              <a:t>미만에 해당하는 행을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FA90BE-AC96-C575-8FD2-0693BEC70063}"/>
              </a:ext>
            </a:extLst>
          </p:cNvPr>
          <p:cNvGrpSpPr/>
          <p:nvPr/>
        </p:nvGrpSpPr>
        <p:grpSpPr>
          <a:xfrm>
            <a:off x="2067901" y="3817557"/>
            <a:ext cx="575529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E6A4A0-2DFD-2CB5-605D-5E087355A5E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address_id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가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200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미만인 행을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0C20BE-9691-3830-D603-6AF644E62888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address_id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&lt; 200;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D5A03F5-EF48-9DBD-36BF-945E886AA6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73" b="1"/>
          <a:stretch/>
        </p:blipFill>
        <p:spPr>
          <a:xfrm>
            <a:off x="1957318" y="4617720"/>
            <a:ext cx="7549539" cy="18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18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연산자를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테이블에서 문자열형 비교로 </a:t>
            </a:r>
            <a:br>
              <a:rPr kumimoji="1" lang="en-US" altLang="ko-KR" dirty="0"/>
            </a:b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데이터가 </a:t>
            </a:r>
            <a:r>
              <a:rPr kumimoji="1" lang="en-US" altLang="ko-KR" dirty="0"/>
              <a:t>MARIA</a:t>
            </a:r>
            <a:r>
              <a:rPr kumimoji="1" lang="ko-KR" altLang="en-US" dirty="0"/>
              <a:t>인 행을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FA90BE-AC96-C575-8FD2-0693BEC70063}"/>
              </a:ext>
            </a:extLst>
          </p:cNvPr>
          <p:cNvGrpSpPr/>
          <p:nvPr/>
        </p:nvGrpSpPr>
        <p:grpSpPr>
          <a:xfrm>
            <a:off x="2067901" y="3817557"/>
            <a:ext cx="575529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E6A4A0-2DFD-2CB5-605D-5E087355A5E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first_name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이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MARIA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인 행을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0C20BE-9691-3830-D603-6AF644E62888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'MARIA';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2CE3D28B-0790-6142-3B26-F74341ED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01" y="4667213"/>
            <a:ext cx="8875870" cy="8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55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연산자를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en-US" altLang="ko-KR" dirty="0"/>
              <a:t>customer </a:t>
            </a:r>
            <a:r>
              <a:rPr kumimoji="1" lang="ko-KR" altLang="en-US" dirty="0"/>
              <a:t>테이블에서 문자열형 비교로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ko-KR" altLang="en-US" dirty="0"/>
              <a:t>데이터가 </a:t>
            </a:r>
            <a:r>
              <a:rPr kumimoji="1" lang="en-US" altLang="ko-KR" dirty="0"/>
              <a:t>A, B, C </a:t>
            </a:r>
            <a:r>
              <a:rPr kumimoji="1" lang="ko-KR" altLang="en-US" dirty="0"/>
              <a:t>순으로 </a:t>
            </a:r>
            <a:r>
              <a:rPr kumimoji="1" lang="en-US" altLang="ko-KR" dirty="0"/>
              <a:t>MARIA</a:t>
            </a:r>
            <a:r>
              <a:rPr kumimoji="1" lang="ko-KR" altLang="en-US" dirty="0"/>
              <a:t>보다 앞에 위치한 행들을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FA90BE-AC96-C575-8FD2-0693BEC70063}"/>
              </a:ext>
            </a:extLst>
          </p:cNvPr>
          <p:cNvGrpSpPr/>
          <p:nvPr/>
        </p:nvGrpSpPr>
        <p:grpSpPr>
          <a:xfrm>
            <a:off x="2067901" y="3817557"/>
            <a:ext cx="575529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E6A4A0-2DFD-2CB5-605D-5E087355A5E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first_name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이 </a:t>
              </a:r>
              <a:r>
                <a:rPr lang="en-US" altLang="ko-KR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MARIA </a:t>
              </a:r>
              <a:r>
                <a:rPr lang="ko-KR" altLang="en-US" sz="1400" b="1" i="0" u="none" strike="noStrik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Dc_SSiGothic 150"/>
                </a:rPr>
                <a:t>미만인 행을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0C20BE-9691-3830-D603-6AF644E62888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&lt; 'MARIA';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018E8B8-EA09-192B-A31E-E4379B2C8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01" y="4622737"/>
            <a:ext cx="7199086" cy="18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43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연산자를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payment </a:t>
            </a:r>
            <a:r>
              <a:rPr kumimoji="1" lang="ko-KR" altLang="en-US" dirty="0"/>
              <a:t>테이블에서 날짜형 비교로 </a:t>
            </a:r>
            <a:br>
              <a:rPr kumimoji="1" lang="en-US" altLang="ko-KR" dirty="0"/>
            </a:br>
            <a:r>
              <a:rPr kumimoji="1" lang="en-US" altLang="ko-KR" dirty="0" err="1"/>
              <a:t>payment_date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r>
              <a:rPr kumimoji="1" lang="en-US" altLang="ko-KR" dirty="0"/>
              <a:t>2005-07-09 13:24:07 </a:t>
            </a:r>
            <a:r>
              <a:rPr kumimoji="1" lang="ko-KR" altLang="en-US" dirty="0"/>
              <a:t>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FA90BE-AC96-C575-8FD2-0693BEC70063}"/>
              </a:ext>
            </a:extLst>
          </p:cNvPr>
          <p:cNvGrpSpPr/>
          <p:nvPr/>
        </p:nvGrpSpPr>
        <p:grpSpPr>
          <a:xfrm>
            <a:off x="2067901" y="3817554"/>
            <a:ext cx="5755299" cy="925426"/>
            <a:chOff x="1514900" y="4698128"/>
            <a:chExt cx="9471548" cy="53934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E6A4A0-2DFD-2CB5-605D-5E087355A5E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payment_date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2005-07-09 13:24:07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행을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0C20BE-9691-3830-D603-6AF644E62888}"/>
                </a:ext>
              </a:extLst>
            </p:cNvPr>
            <p:cNvSpPr/>
            <p:nvPr/>
          </p:nvSpPr>
          <p:spPr>
            <a:xfrm>
              <a:off x="1514900" y="4923671"/>
              <a:ext cx="9471548" cy="31379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payment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payment_date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'2005-07-09 13:24:07';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90E9A52-084E-56EC-8379-0AFF60BC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98" y="4859722"/>
            <a:ext cx="7363959" cy="10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21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비교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비교 연산자를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6"/>
            </a:pPr>
            <a:r>
              <a:rPr kumimoji="1" lang="ko-KR" altLang="en-US" dirty="0"/>
              <a:t>마지막으로 </a:t>
            </a:r>
            <a:r>
              <a:rPr kumimoji="1" lang="en-US" altLang="ko-KR" dirty="0"/>
              <a:t>payment </a:t>
            </a:r>
            <a:r>
              <a:rPr kumimoji="1" lang="ko-KR" altLang="en-US" dirty="0"/>
              <a:t>테이블에서 날짜형 비교로 </a:t>
            </a:r>
            <a:br>
              <a:rPr kumimoji="1" lang="en-US" altLang="ko-KR" dirty="0"/>
            </a:br>
            <a:r>
              <a:rPr kumimoji="1" lang="en-US" altLang="ko-KR" dirty="0" err="1"/>
              <a:t>payment_date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데이터가 </a:t>
            </a:r>
            <a:r>
              <a:rPr kumimoji="1" lang="en-US" altLang="ko-KR" dirty="0"/>
              <a:t>2005</a:t>
            </a:r>
            <a:r>
              <a:rPr kumimoji="1" lang="ko-KR" altLang="en-US" dirty="0"/>
              <a:t>년 </a:t>
            </a:r>
            <a:r>
              <a:rPr kumimoji="1" lang="en-US" altLang="ko-KR" dirty="0"/>
              <a:t>7</a:t>
            </a:r>
            <a:r>
              <a:rPr kumimoji="1" lang="ko-KR" altLang="en-US" dirty="0"/>
              <a:t>월 </a:t>
            </a:r>
            <a:r>
              <a:rPr kumimoji="1" lang="en-US" altLang="ko-KR" dirty="0"/>
              <a:t>9</a:t>
            </a:r>
            <a:r>
              <a:rPr kumimoji="1" lang="ko-KR" altLang="en-US" dirty="0"/>
              <a:t>일 이전 날짜에 </a:t>
            </a:r>
            <a:br>
              <a:rPr kumimoji="1" lang="en-US" altLang="ko-KR" dirty="0"/>
            </a:br>
            <a:r>
              <a:rPr kumimoji="1" lang="ko-KR" altLang="en-US" dirty="0"/>
              <a:t>해당하는 행들을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FA90BE-AC96-C575-8FD2-0693BEC70063}"/>
              </a:ext>
            </a:extLst>
          </p:cNvPr>
          <p:cNvGrpSpPr/>
          <p:nvPr/>
        </p:nvGrpSpPr>
        <p:grpSpPr>
          <a:xfrm>
            <a:off x="2067902" y="4122354"/>
            <a:ext cx="4594156" cy="925426"/>
            <a:chOff x="1514900" y="4698128"/>
            <a:chExt cx="9471548" cy="53934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E6A4A0-2DFD-2CB5-605D-5E087355A5E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payment_date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2005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년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7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월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9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일 미만인 행을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C0C20BE-9691-3830-D603-6AF644E62888}"/>
                </a:ext>
              </a:extLst>
            </p:cNvPr>
            <p:cNvSpPr/>
            <p:nvPr/>
          </p:nvSpPr>
          <p:spPr>
            <a:xfrm>
              <a:off x="1514900" y="4923671"/>
              <a:ext cx="9471548" cy="31379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payment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payment_date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&lt; '2005-07-09';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52AD8BC-2313-0E1F-4637-C45367491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957" y="4079108"/>
            <a:ext cx="4141786" cy="15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36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논리 연산자의 종류 살펴보기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논리 연산자를 표로 정리함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이와 같은 논리 연산자를 사용하여 다양한 조건을 주어 데이터를 조회할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7E5F14-1C73-3823-8C9E-47AC90B6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139" y="3835400"/>
            <a:ext cx="463391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70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BETWEEN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WHERE </a:t>
            </a:r>
            <a:r>
              <a:rPr kumimoji="1" lang="ko-KR" altLang="en-US" dirty="0"/>
              <a:t>문과 함께 사용하며 조회하는 값의 범위를 지정할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BETWEEN</a:t>
            </a:r>
            <a:r>
              <a:rPr kumimoji="1" lang="ko-KR" altLang="en-US" dirty="0"/>
              <a:t>은 보통 날짜형 데이터를 조회할 때 자주 사용하지만 </a:t>
            </a:r>
            <a:br>
              <a:rPr kumimoji="1" lang="en-US" altLang="ko-KR" dirty="0"/>
            </a:br>
            <a:r>
              <a:rPr kumimoji="1" lang="ko-KR" altLang="en-US" dirty="0"/>
              <a:t>문자열형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숫자형 데이터에도 사용할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1994480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 쿼리는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address_id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ko-KR" altLang="en-US" dirty="0"/>
              <a:t>데이터가 </a:t>
            </a:r>
            <a:r>
              <a:rPr kumimoji="1" lang="en-US" altLang="ko-KR" dirty="0"/>
              <a:t>5~10 </a:t>
            </a:r>
            <a:r>
              <a:rPr kumimoji="1" lang="ko-KR" altLang="en-US" dirty="0"/>
              <a:t>범위에 해당하는 행을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426AFD7-D5BE-7BEE-65AA-532702C07C5A}"/>
              </a:ext>
            </a:extLst>
          </p:cNvPr>
          <p:cNvGrpSpPr/>
          <p:nvPr/>
        </p:nvGrpSpPr>
        <p:grpSpPr>
          <a:xfrm>
            <a:off x="2067901" y="3803043"/>
            <a:ext cx="704706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7859EF2-6F69-EF1C-CFC0-B5A0246F5B60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정해진 범위에 해당하는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7B38C78-6703-41A6-6D5F-D97FF9E2CDDA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address_id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BETWEEN 5 AND 10;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A2E936A-0869-5AD9-3416-1DB98A65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59" y="4626872"/>
            <a:ext cx="8258629" cy="14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00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조회 결과를 살펴보면 </a:t>
            </a:r>
            <a:br>
              <a:rPr kumimoji="1" lang="en-US" altLang="ko-KR" dirty="0"/>
            </a:br>
            <a:r>
              <a:rPr kumimoji="1" lang="en-US" altLang="ko-KR" dirty="0" err="1"/>
              <a:t>address_id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r>
              <a:rPr kumimoji="1" lang="en-US" altLang="ko-KR" dirty="0"/>
              <a:t>5, 6, 7, 8, 9, 10</a:t>
            </a:r>
            <a:r>
              <a:rPr kumimoji="1" lang="ko-KR" altLang="en-US" dirty="0"/>
              <a:t>에 해당하는 데이터가 </a:t>
            </a:r>
            <a:br>
              <a:rPr kumimoji="1" lang="en-US" altLang="ko-KR" dirty="0"/>
            </a:br>
            <a:r>
              <a:rPr kumimoji="1" lang="ko-KR" altLang="en-US" dirty="0"/>
              <a:t>반환된 것을 확인할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이를 통해 </a:t>
            </a:r>
            <a:r>
              <a:rPr kumimoji="1" lang="en-US" altLang="ko-KR" dirty="0"/>
              <a:t>BETWEEN</a:t>
            </a:r>
            <a:r>
              <a:rPr kumimoji="1" lang="ko-KR" altLang="en-US" dirty="0"/>
              <a:t>은 </a:t>
            </a:r>
            <a:r>
              <a:rPr kumimoji="1" lang="ko-KR" altLang="en-US" dirty="0" err="1"/>
              <a:t>조건값을</a:t>
            </a:r>
            <a:r>
              <a:rPr kumimoji="1" lang="ko-KR" altLang="en-US" dirty="0"/>
              <a:t> 포함하여 </a:t>
            </a:r>
            <a:br>
              <a:rPr kumimoji="1" lang="en-US" altLang="ko-KR" dirty="0"/>
            </a:br>
            <a:r>
              <a:rPr kumimoji="1" lang="ko-KR" altLang="en-US" dirty="0"/>
              <a:t>데이터를 조회한다는 것을 알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1323334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이번에는 날짜형 데이터를 조회할 때에도 </a:t>
            </a:r>
            <a:r>
              <a:rPr kumimoji="1" lang="en-US" altLang="ko-KR" dirty="0"/>
              <a:t>BETWEEN</a:t>
            </a:r>
            <a:r>
              <a:rPr kumimoji="1" lang="ko-KR" altLang="en-US" dirty="0"/>
              <a:t>을 사용해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다음 쿼리는 </a:t>
            </a:r>
            <a:r>
              <a:rPr kumimoji="1" lang="en-US" altLang="ko-KR" dirty="0"/>
              <a:t>payment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payment_date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ko-KR" altLang="en-US" dirty="0"/>
              <a:t>데이터가 </a:t>
            </a:r>
            <a:r>
              <a:rPr kumimoji="1" lang="en-US" altLang="ko-KR" dirty="0"/>
              <a:t>2005</a:t>
            </a:r>
            <a:r>
              <a:rPr kumimoji="1" lang="ko-KR" altLang="en-US" dirty="0"/>
              <a:t>년 </a:t>
            </a:r>
            <a:r>
              <a:rPr kumimoji="1" lang="en-US" altLang="ko-KR" dirty="0"/>
              <a:t>6</a:t>
            </a:r>
            <a:r>
              <a:rPr kumimoji="1" lang="ko-KR" altLang="en-US" dirty="0"/>
              <a:t>월 </a:t>
            </a:r>
            <a:r>
              <a:rPr kumimoji="1" lang="en-US" altLang="ko-KR" dirty="0"/>
              <a:t>17</a:t>
            </a:r>
            <a:r>
              <a:rPr kumimoji="1" lang="ko-KR" altLang="en-US" dirty="0"/>
              <a:t>일</a:t>
            </a:r>
            <a:r>
              <a:rPr kumimoji="1" lang="en-US" altLang="ko-KR" dirty="0"/>
              <a:t>~2005</a:t>
            </a:r>
            <a:r>
              <a:rPr kumimoji="1" lang="ko-KR" altLang="en-US" dirty="0"/>
              <a:t>년 </a:t>
            </a:r>
            <a:r>
              <a:rPr kumimoji="1" lang="en-US" altLang="ko-KR" dirty="0"/>
              <a:t>7</a:t>
            </a:r>
            <a:r>
              <a:rPr kumimoji="1" lang="ko-KR" altLang="en-US" dirty="0"/>
              <a:t>월 </a:t>
            </a:r>
            <a:r>
              <a:rPr kumimoji="1" lang="en-US" altLang="ko-KR" dirty="0"/>
              <a:t>19</a:t>
            </a:r>
            <a:r>
              <a:rPr kumimoji="1" lang="ko-KR" altLang="en-US" dirty="0"/>
              <a:t>일 범위에 해당하는 행을 조회함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 역시도 </a:t>
            </a:r>
            <a:r>
              <a:rPr kumimoji="1" lang="ko-KR" altLang="en-US" dirty="0" err="1"/>
              <a:t>조건값을</a:t>
            </a:r>
            <a:r>
              <a:rPr kumimoji="1" lang="ko-KR" altLang="en-US" dirty="0"/>
              <a:t> 포함한 결과를 반환함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426AFD7-D5BE-7BEE-65AA-532702C07C5A}"/>
              </a:ext>
            </a:extLst>
          </p:cNvPr>
          <p:cNvGrpSpPr/>
          <p:nvPr/>
        </p:nvGrpSpPr>
        <p:grpSpPr>
          <a:xfrm>
            <a:off x="2067901" y="4903458"/>
            <a:ext cx="829529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7859EF2-6F69-EF1C-CFC0-B5A0246F5B60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2005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년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6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월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17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일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~2005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년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7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월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19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일을 포함한 날짜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7B38C78-6703-41A6-6D5F-D97FF9E2CDDA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payment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payment_date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BETWEEN '2005-06-17' AND '2005-07-19';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311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날짜형 데이터를 조회할 때는 </a:t>
            </a:r>
            <a:r>
              <a:rPr kumimoji="1" lang="ko-KR" altLang="en-US" dirty="0" err="1"/>
              <a:t>밀리초를</a:t>
            </a:r>
            <a:r>
              <a:rPr kumimoji="1" lang="ko-KR" altLang="en-US" dirty="0"/>
              <a:t> 고려해야 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예를 들어 </a:t>
            </a:r>
            <a:r>
              <a:rPr kumimoji="1" lang="en-US" altLang="ko-KR" dirty="0"/>
              <a:t>2005-06-17</a:t>
            </a:r>
            <a:r>
              <a:rPr kumimoji="1" lang="ko-KR" altLang="en-US" dirty="0"/>
              <a:t>을 </a:t>
            </a:r>
            <a:r>
              <a:rPr kumimoji="1" lang="ko-KR" altLang="en-US" dirty="0" err="1"/>
              <a:t>조건값으로</a:t>
            </a:r>
            <a:r>
              <a:rPr kumimoji="1" lang="ko-KR" altLang="en-US" dirty="0"/>
              <a:t> 사용하면 </a:t>
            </a:r>
            <a:br>
              <a:rPr kumimoji="1" lang="en-US" altLang="ko-KR" dirty="0"/>
            </a:br>
            <a:r>
              <a:rPr kumimoji="1" lang="ko-KR" altLang="en-US" dirty="0"/>
              <a:t>실제로는 </a:t>
            </a:r>
            <a:r>
              <a:rPr kumimoji="1" lang="en-US" altLang="ko-KR" dirty="0"/>
              <a:t>2005-06-17 00:00:00.000</a:t>
            </a:r>
            <a:r>
              <a:rPr kumimoji="1" lang="ko-KR" altLang="en-US" dirty="0"/>
              <a:t>이 조건식에 사용됨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때문에 이와 같은 결과가 출력됨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7AE1B60-E21F-46DF-9D1F-E0B48CD0F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01" y="2986807"/>
            <a:ext cx="5210629" cy="19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96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시간을 포함해 정확한 날짜형 데이터를 </a:t>
            </a:r>
            <a:r>
              <a:rPr kumimoji="1" lang="ko-KR" altLang="en-US" dirty="0" err="1"/>
              <a:t>조건값으로</a:t>
            </a:r>
            <a:r>
              <a:rPr kumimoji="1" lang="ko-KR" altLang="en-US" dirty="0"/>
              <a:t> 사용하려면 </a:t>
            </a:r>
            <a:br>
              <a:rPr kumimoji="1" lang="en-US" altLang="ko-KR" dirty="0"/>
            </a:br>
            <a:r>
              <a:rPr kumimoji="1" lang="ko-KR" altLang="en-US" dirty="0"/>
              <a:t>다음과 같이 쿼리를 작성하면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849A63-CB5A-A34B-F1A8-743ACD565137}"/>
              </a:ext>
            </a:extLst>
          </p:cNvPr>
          <p:cNvGrpSpPr/>
          <p:nvPr/>
        </p:nvGrpSpPr>
        <p:grpSpPr>
          <a:xfrm>
            <a:off x="2067901" y="3803043"/>
            <a:ext cx="732175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524ABE3-58BF-83FF-C6FD-D4EA88F07548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정확한 날짜를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7335B29-89A5-0725-0D9A-7B5FB6DD562D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payment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payment_date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'2005-07-08 07:33:56';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4044289-6584-3D62-29D6-AC569C7F0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01" y="4726328"/>
            <a:ext cx="6137015" cy="71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58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다음 쿼리는 문자열 범위를 지정하여 데이터를 조회함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en-US" altLang="ko-KR" dirty="0"/>
              <a:t>M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O </a:t>
            </a:r>
            <a:r>
              <a:rPr kumimoji="1" lang="ko-KR" altLang="en-US" dirty="0"/>
              <a:t>사이의 데이터를 조회한 뒤</a:t>
            </a:r>
            <a:r>
              <a:rPr kumimoji="1" lang="en-US" altLang="ko-KR" dirty="0"/>
              <a:t>, </a:t>
            </a:r>
            <a:r>
              <a:rPr kumimoji="1" lang="ko-KR" altLang="en-US" dirty="0"/>
              <a:t>결과를 확인해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9849A63-CB5A-A34B-F1A8-743ACD565137}"/>
              </a:ext>
            </a:extLst>
          </p:cNvPr>
          <p:cNvGrpSpPr/>
          <p:nvPr/>
        </p:nvGrpSpPr>
        <p:grpSpPr>
          <a:xfrm>
            <a:off x="1427528" y="4216864"/>
            <a:ext cx="4028099" cy="983786"/>
            <a:chOff x="1514900" y="4803279"/>
            <a:chExt cx="9471548" cy="35672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524ABE3-58BF-83FF-C6FD-D4EA88F07548}"/>
                </a:ext>
              </a:extLst>
            </p:cNvPr>
            <p:cNvSpPr/>
            <p:nvPr/>
          </p:nvSpPr>
          <p:spPr>
            <a:xfrm>
              <a:off x="1514900" y="4803279"/>
              <a:ext cx="9471548" cy="1203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M~O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범위의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7335B29-89A5-0725-0D9A-7B5FB6DD562D}"/>
                </a:ext>
              </a:extLst>
            </p:cNvPr>
            <p:cNvSpPr/>
            <p:nvPr/>
          </p:nvSpPr>
          <p:spPr>
            <a:xfrm>
              <a:off x="1514900" y="4923671"/>
              <a:ext cx="9471548" cy="2363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BETWEEN 'M' AND 'O';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7A6B62CD-D124-AE5E-E8CD-AEB52BE53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129" y="4062936"/>
            <a:ext cx="5931351" cy="21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4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BETWEEN</a:t>
            </a:r>
            <a:r>
              <a:rPr kumimoji="1" lang="ko-KR" altLang="en-US" b="1" dirty="0"/>
              <a:t>을 이용한 데이터 조회하기</a:t>
            </a: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반대로 </a:t>
            </a:r>
            <a:r>
              <a:rPr kumimoji="1" lang="en-US" altLang="ko-KR" dirty="0"/>
              <a:t>BETWEEN</a:t>
            </a:r>
            <a:r>
              <a:rPr kumimoji="1" lang="ko-KR" altLang="en-US" dirty="0"/>
              <a:t>을 사용하되 범위를 포함하지 않은 데이터를 조회해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이때는 간단히 </a:t>
            </a:r>
            <a:r>
              <a:rPr kumimoji="1" lang="en-US" altLang="ko-KR" dirty="0"/>
              <a:t>NOT </a:t>
            </a:r>
            <a:r>
              <a:rPr kumimoji="1" lang="ko-KR" altLang="en-US" dirty="0"/>
              <a:t>연산자를 조합하면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A9A9B20-F8A4-052F-28BF-B627B159BBBA}"/>
              </a:ext>
            </a:extLst>
          </p:cNvPr>
          <p:cNvGrpSpPr/>
          <p:nvPr/>
        </p:nvGrpSpPr>
        <p:grpSpPr>
          <a:xfrm>
            <a:off x="2067901" y="3794295"/>
            <a:ext cx="8295299" cy="925426"/>
            <a:chOff x="1514900" y="4698128"/>
            <a:chExt cx="9471548" cy="53934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C389E13-810A-065C-C2A7-0127595787C5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M~O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범위의 값을 제외한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0AE130-8AD7-A2B0-7E40-CF871D8C7C67}"/>
                </a:ext>
              </a:extLst>
            </p:cNvPr>
            <p:cNvSpPr/>
            <p:nvPr/>
          </p:nvSpPr>
          <p:spPr>
            <a:xfrm>
              <a:off x="1514900" y="4923671"/>
              <a:ext cx="9471548" cy="31379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NOT BETWEEN 'M' AND 'O';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5B962508-4DD3-31DA-ACA1-C0815292C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00" y="4798854"/>
            <a:ext cx="8295300" cy="150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1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0999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지금까지는 </a:t>
            </a:r>
            <a:r>
              <a:rPr kumimoji="1" lang="en-US" altLang="ko-KR" dirty="0"/>
              <a:t>WHERE </a:t>
            </a:r>
            <a:r>
              <a:rPr kumimoji="1" lang="ko-KR" altLang="en-US" dirty="0"/>
              <a:t>문에 값으로만 조건을 설정해 데이터를 조회함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하지만 현실에서는 다양하고 복잡한 조건을 적용해야 하는 경우가 많은데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그럴 때는 논리 연산자인 </a:t>
            </a:r>
            <a:r>
              <a:rPr kumimoji="1" lang="en-US" altLang="ko-KR" dirty="0"/>
              <a:t>AND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OR</a:t>
            </a:r>
            <a:r>
              <a:rPr kumimoji="1" lang="ko-KR" altLang="en-US" dirty="0"/>
              <a:t>를 사용하여 </a:t>
            </a:r>
            <a:br>
              <a:rPr kumimoji="1" lang="en-US" altLang="ko-KR" dirty="0"/>
            </a:br>
            <a:r>
              <a:rPr kumimoji="1" lang="ko-KR" altLang="en-US" dirty="0" err="1"/>
              <a:t>값뿐만</a:t>
            </a:r>
            <a:r>
              <a:rPr kumimoji="1" lang="ko-KR" altLang="en-US" dirty="0"/>
              <a:t> 아니라 식을 활용한 여러 조건을 결합할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논리 연산자 </a:t>
            </a:r>
            <a:r>
              <a:rPr kumimoji="1" lang="en-US" altLang="ko-KR" dirty="0"/>
              <a:t>AND</a:t>
            </a:r>
            <a:r>
              <a:rPr kumimoji="1" lang="ko-KR" altLang="en-US" dirty="0"/>
              <a:t>는 두 개의 조건이 모두 만족할 때 </a:t>
            </a:r>
            <a:br>
              <a:rPr kumimoji="1" lang="en-US" altLang="ko-KR" dirty="0"/>
            </a:br>
            <a:r>
              <a:rPr kumimoji="1" lang="ko-KR" altLang="en-US" dirty="0"/>
              <a:t>조건에 해당하는 데이터만 조회하고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OR</a:t>
            </a:r>
            <a:r>
              <a:rPr kumimoji="1" lang="ko-KR" altLang="en-US" dirty="0"/>
              <a:t>는 입력한 두 조건 중 하나라도 만족할 때 </a:t>
            </a:r>
            <a:br>
              <a:rPr kumimoji="1" lang="en-US" altLang="ko-KR" dirty="0"/>
            </a:br>
            <a:r>
              <a:rPr kumimoji="1" lang="ko-KR" altLang="en-US" dirty="0"/>
              <a:t>조건에 해당하는 데이터를 모두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3972630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city </a:t>
            </a:r>
            <a:r>
              <a:rPr kumimoji="1" lang="ko-KR" altLang="en-US" dirty="0"/>
              <a:t>테이블에서 </a:t>
            </a:r>
            <a:r>
              <a:rPr kumimoji="1" lang="en-US" altLang="ko-KR" dirty="0"/>
              <a:t>city </a:t>
            </a:r>
            <a:r>
              <a:rPr kumimoji="1" lang="ko-KR" altLang="en-US" dirty="0"/>
              <a:t>열이 ‘</a:t>
            </a:r>
            <a:r>
              <a:rPr kumimoji="1" lang="en-US" altLang="ko-KR" dirty="0"/>
              <a:t>Sunnyvale’</a:t>
            </a:r>
            <a:r>
              <a:rPr kumimoji="1" lang="ko-KR" altLang="en-US" dirty="0"/>
              <a:t>이면서 </a:t>
            </a:r>
            <a:br>
              <a:rPr kumimoji="1" lang="en-US" altLang="ko-KR" dirty="0"/>
            </a:br>
            <a:r>
              <a:rPr kumimoji="1" lang="en-US" altLang="ko-KR" dirty="0" err="1"/>
              <a:t>country_id</a:t>
            </a:r>
            <a:r>
              <a:rPr kumimoji="1" lang="ko-KR" altLang="en-US" dirty="0"/>
              <a:t>열이 </a:t>
            </a:r>
            <a:r>
              <a:rPr kumimoji="1" lang="en-US" altLang="ko-KR" dirty="0"/>
              <a:t>103</a:t>
            </a:r>
            <a:r>
              <a:rPr kumimoji="1" lang="ko-KR" altLang="en-US" dirty="0"/>
              <a:t>인 데이터를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851E82-FCB7-8BBA-A164-E0346C565F98}"/>
              </a:ext>
            </a:extLst>
          </p:cNvPr>
          <p:cNvGrpSpPr/>
          <p:nvPr/>
        </p:nvGrpSpPr>
        <p:grpSpPr>
          <a:xfrm>
            <a:off x="2067901" y="3794298"/>
            <a:ext cx="8295299" cy="773994"/>
            <a:chOff x="1514900" y="4698128"/>
            <a:chExt cx="9471548" cy="4510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69B8966-13EC-37E0-4636-B6F9F7E286B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두 조건을 만족하는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5CCDCFB-7A32-04E3-B2D1-12BCD9AC2890}"/>
                </a:ext>
              </a:extLst>
            </p:cNvPr>
            <p:cNvSpPr/>
            <p:nvPr/>
          </p:nvSpPr>
          <p:spPr>
            <a:xfrm>
              <a:off x="1514900" y="4923671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 WHERE city = 'Sunnyvale' AND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= 103;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5BE5E935-ABA1-ED4E-00F7-68181C32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966" y="4687167"/>
            <a:ext cx="45053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73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앞서 </a:t>
            </a:r>
            <a:r>
              <a:rPr kumimoji="1" lang="en-US" altLang="ko-KR" dirty="0"/>
              <a:t>BETWEEN</a:t>
            </a:r>
            <a:r>
              <a:rPr kumimoji="1" lang="ko-KR" altLang="en-US" dirty="0"/>
              <a:t>으로 날짜 범위를 지정할 때 </a:t>
            </a:r>
            <a:r>
              <a:rPr kumimoji="1" lang="en-US" altLang="ko-KR" dirty="0"/>
              <a:t>AND </a:t>
            </a:r>
            <a:r>
              <a:rPr kumimoji="1" lang="ko-KR" altLang="en-US" dirty="0"/>
              <a:t>연산자를 활용함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이번에는 </a:t>
            </a:r>
            <a:r>
              <a:rPr kumimoji="1" lang="en-US" altLang="ko-KR" dirty="0"/>
              <a:t>WHERE </a:t>
            </a:r>
            <a:r>
              <a:rPr kumimoji="1" lang="ko-KR" altLang="en-US" dirty="0"/>
              <a:t>문에 비교 연산자를 활용한 두 개의 조건과 </a:t>
            </a:r>
            <a:r>
              <a:rPr kumimoji="1" lang="en-US" altLang="ko-KR" dirty="0"/>
              <a:t>AND </a:t>
            </a:r>
            <a:r>
              <a:rPr kumimoji="1" lang="ko-KR" altLang="en-US" dirty="0"/>
              <a:t>연산자를 이용해 </a:t>
            </a:r>
            <a:br>
              <a:rPr kumimoji="1" lang="en-US" altLang="ko-KR" dirty="0"/>
            </a:br>
            <a:r>
              <a:rPr kumimoji="1" lang="en-US" altLang="ko-KR" dirty="0"/>
              <a:t>payment </a:t>
            </a:r>
            <a:r>
              <a:rPr kumimoji="1" lang="ko-KR" altLang="en-US" dirty="0"/>
              <a:t>테이블에서 지정한 날짜 범위만큼의 데이터를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2648572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851E82-FCB7-8BBA-A164-E0346C565F98}"/>
              </a:ext>
            </a:extLst>
          </p:cNvPr>
          <p:cNvGrpSpPr/>
          <p:nvPr/>
        </p:nvGrpSpPr>
        <p:grpSpPr>
          <a:xfrm>
            <a:off x="2198530" y="3056602"/>
            <a:ext cx="8295299" cy="1038957"/>
            <a:chOff x="1514900" y="4698128"/>
            <a:chExt cx="9471548" cy="6055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69B8966-13EC-37E0-4636-B6F9F7E286B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두 개의 비교 연산식을 만족하는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5CCDCFB-7A32-04E3-B2D1-12BCD9AC2890}"/>
                </a:ext>
              </a:extLst>
            </p:cNvPr>
            <p:cNvSpPr/>
            <p:nvPr/>
          </p:nvSpPr>
          <p:spPr>
            <a:xfrm>
              <a:off x="1514900" y="4923671"/>
              <a:ext cx="9471548" cy="3799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payment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payment_date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&gt;= '2005-06-01' AND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payment_date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&lt;= '2005-07-05';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0C69548-3CA1-4282-B635-D4BED3D08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30" y="4150120"/>
            <a:ext cx="5813356" cy="217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67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en-US" altLang="ko-KR" dirty="0"/>
              <a:t> AND</a:t>
            </a:r>
            <a:r>
              <a:rPr kumimoji="1" lang="ko-KR" altLang="en-US" dirty="0"/>
              <a:t>와 달리 </a:t>
            </a:r>
            <a:r>
              <a:rPr kumimoji="1" lang="en-US" altLang="ko-KR" dirty="0"/>
              <a:t>OR</a:t>
            </a:r>
            <a:r>
              <a:rPr kumimoji="1" lang="ko-KR" altLang="en-US" dirty="0"/>
              <a:t>는 양쪽 조건 중 하나라도 만족하면 결과를 모두 반환함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first_name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ko-KR" altLang="en-US" dirty="0"/>
              <a:t>‘</a:t>
            </a:r>
            <a:r>
              <a:rPr kumimoji="1" lang="en-US" altLang="ko-KR" dirty="0"/>
              <a:t>MARIA’ </a:t>
            </a:r>
            <a:r>
              <a:rPr kumimoji="1" lang="ko-KR" altLang="en-US" dirty="0"/>
              <a:t>또는 ‘</a:t>
            </a:r>
            <a:r>
              <a:rPr kumimoji="1" lang="en-US" altLang="ko-KR" dirty="0"/>
              <a:t>LINDA’</a:t>
            </a:r>
            <a:r>
              <a:rPr kumimoji="1" lang="ko-KR" altLang="en-US" dirty="0"/>
              <a:t>인 데이터를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851E82-FCB7-8BBA-A164-E0346C565F98}"/>
              </a:ext>
            </a:extLst>
          </p:cNvPr>
          <p:cNvGrpSpPr/>
          <p:nvPr/>
        </p:nvGrpSpPr>
        <p:grpSpPr>
          <a:xfrm>
            <a:off x="2198530" y="4251498"/>
            <a:ext cx="8295299" cy="1038957"/>
            <a:chOff x="1514900" y="4698128"/>
            <a:chExt cx="9471548" cy="6055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69B8966-13EC-37E0-4636-B6F9F7E286B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한 조건을 만족한 경우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5CCDCFB-7A32-04E3-B2D1-12BCD9AC2890}"/>
                </a:ext>
              </a:extLst>
            </p:cNvPr>
            <p:cNvSpPr/>
            <p:nvPr/>
          </p:nvSpPr>
          <p:spPr>
            <a:xfrm>
              <a:off x="1514900" y="4923671"/>
              <a:ext cx="9471548" cy="3799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'MARIA'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'LINDA';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30E6936-CAAB-F311-044A-F83DEC2D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30" y="5362195"/>
            <a:ext cx="9100458" cy="9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62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40410EC-494C-3522-7B16-B484359F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74" y="5072179"/>
            <a:ext cx="8703809" cy="112673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여러 데이터를 조회하기 위해 </a:t>
            </a:r>
            <a:r>
              <a:rPr kumimoji="1" lang="en-US" altLang="ko-KR" dirty="0"/>
              <a:t>OR</a:t>
            </a:r>
            <a:r>
              <a:rPr kumimoji="1" lang="ko-KR" altLang="en-US" dirty="0"/>
              <a:t>를 여러 번 사용하면 </a:t>
            </a:r>
            <a:br>
              <a:rPr kumimoji="1" lang="en-US" altLang="ko-KR" dirty="0"/>
            </a:br>
            <a:r>
              <a:rPr kumimoji="1" lang="ko-KR" altLang="en-US" dirty="0"/>
              <a:t>동일한 연산자를 반복해서 작성하므로 비효율적임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다음을 쿼리를 통해 살펴보자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851E82-FCB7-8BBA-A164-E0346C565F98}"/>
              </a:ext>
            </a:extLst>
          </p:cNvPr>
          <p:cNvGrpSpPr/>
          <p:nvPr/>
        </p:nvGrpSpPr>
        <p:grpSpPr>
          <a:xfrm>
            <a:off x="2081358" y="4033222"/>
            <a:ext cx="8295299" cy="1038957"/>
            <a:chOff x="1514900" y="4698128"/>
            <a:chExt cx="9471548" cy="6055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69B8966-13EC-37E0-4636-B6F9F7E286B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OR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두 개 이상 사용한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5CCDCFB-7A32-04E3-B2D1-12BCD9AC2890}"/>
                </a:ext>
              </a:extLst>
            </p:cNvPr>
            <p:cNvSpPr/>
            <p:nvPr/>
          </p:nvSpPr>
          <p:spPr>
            <a:xfrm>
              <a:off x="1514900" y="4923671"/>
              <a:ext cx="9471548" cy="3799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'MARIA'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'LINDA'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'NANCY';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565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이런 경우에는 </a:t>
            </a:r>
            <a:r>
              <a:rPr kumimoji="1" lang="en-US" altLang="ko-KR" dirty="0"/>
              <a:t>OR</a:t>
            </a:r>
            <a:r>
              <a:rPr kumimoji="1" lang="ko-KR" altLang="en-US" dirty="0"/>
              <a:t>를 반복하여 쓰기 보단 </a:t>
            </a:r>
            <a:r>
              <a:rPr kumimoji="1" lang="en-US" altLang="ko-KR" dirty="0"/>
              <a:t>IN</a:t>
            </a:r>
            <a:r>
              <a:rPr kumimoji="1" lang="ko-KR" altLang="en-US" dirty="0"/>
              <a:t>을 사용해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en-US" altLang="ko-KR" dirty="0"/>
              <a:t>IN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OR</a:t>
            </a:r>
            <a:r>
              <a:rPr kumimoji="1" lang="ko-KR" altLang="en-US" dirty="0"/>
              <a:t>와 같은 역할을 하지만 연산자를 한 개만 작성하고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쉼표를 사용해 조건을 나열함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IN</a:t>
            </a:r>
            <a:r>
              <a:rPr kumimoji="1" lang="ko-KR" altLang="en-US" dirty="0"/>
              <a:t>을 활용해 앞에서 작성한 쿼리를 수정하면 결과는 다음과 같음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3851E82-FCB7-8BBA-A164-E0346C565F98}"/>
              </a:ext>
            </a:extLst>
          </p:cNvPr>
          <p:cNvGrpSpPr/>
          <p:nvPr/>
        </p:nvGrpSpPr>
        <p:grpSpPr>
          <a:xfrm>
            <a:off x="2081358" y="4119017"/>
            <a:ext cx="8295299" cy="1038957"/>
            <a:chOff x="1514900" y="4698128"/>
            <a:chExt cx="9471548" cy="6055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69B8966-13EC-37E0-4636-B6F9F7E286B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IN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을 활용한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5CCDCFB-7A32-04E3-B2D1-12BCD9AC2890}"/>
                </a:ext>
              </a:extLst>
            </p:cNvPr>
            <p:cNvSpPr/>
            <p:nvPr/>
          </p:nvSpPr>
          <p:spPr>
            <a:xfrm>
              <a:off x="1514900" y="4923671"/>
              <a:ext cx="9471548" cy="3799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IN ('MARIA', 'LINDA','NANCY');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5485856-B804-C830-6D37-23E4C9FB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358" y="5218678"/>
            <a:ext cx="8295299" cy="103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26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AND, OR, IN</a:t>
            </a:r>
            <a:r>
              <a:rPr kumimoji="1" lang="ko-KR" altLang="en-US" dirty="0"/>
              <a:t>을 조합하여 데이터를 조회해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이번에는 조회해야 할 데이터 조건</a:t>
            </a:r>
            <a:r>
              <a:rPr kumimoji="1" lang="en-US" altLang="ko-KR" dirty="0"/>
              <a:t>(</a:t>
            </a:r>
            <a:r>
              <a:rPr kumimoji="1" lang="ko-KR" altLang="en-US" dirty="0"/>
              <a:t>요구 사항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 살펴보고 이를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F944CF-B5C7-E146-8B6A-850B8ADD0039}"/>
              </a:ext>
            </a:extLst>
          </p:cNvPr>
          <p:cNvSpPr/>
          <p:nvPr/>
        </p:nvSpPr>
        <p:spPr>
          <a:xfrm>
            <a:off x="2086257" y="3812989"/>
            <a:ext cx="6970657" cy="107832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요구 사항</a:t>
            </a:r>
            <a:endParaRPr lang="en-US" altLang="ko-KR" sz="1400" b="1" i="0" u="none" strike="noStrike" baseline="0" dirty="0">
              <a:solidFill>
                <a:schemeClr val="tx1"/>
              </a:solidFill>
            </a:endParaRPr>
          </a:p>
          <a:p>
            <a:pPr algn="just"/>
            <a:endParaRPr lang="ko-KR" altLang="en-US" sz="1400" b="1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city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테이블에서 </a:t>
            </a:r>
            <a:r>
              <a:rPr lang="en-US" altLang="ko-KR" sz="1400" i="0" u="none" strike="noStrike" baseline="0" dirty="0" err="1">
                <a:solidFill>
                  <a:schemeClr val="tx1"/>
                </a:solidFill>
              </a:rPr>
              <a:t>country_id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열이 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103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또는 </a:t>
            </a:r>
            <a:r>
              <a:rPr lang="en-US" altLang="ko-KR" sz="1400" i="0" u="none" strike="noStrike" baseline="0" dirty="0" err="1">
                <a:solidFill>
                  <a:schemeClr val="tx1"/>
                </a:solidFill>
              </a:rPr>
              <a:t>country_id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열이 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86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이면서 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city 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열이 ‘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Cheju’, ‘Sunnyvale’, ‘Dallas’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인 데이터를 조회</a:t>
            </a:r>
            <a:endParaRPr lang="ko-KR" altLang="en-US" sz="1200" i="0" u="none" strike="noStrike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574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이 요구 사항을 보고 쿼리를 그냥 작성했다면 아마 다음과 같을 것임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D7FCD37-5ACC-E8B9-06AA-A92BC1017962}"/>
              </a:ext>
            </a:extLst>
          </p:cNvPr>
          <p:cNvGrpSpPr/>
          <p:nvPr/>
        </p:nvGrpSpPr>
        <p:grpSpPr>
          <a:xfrm>
            <a:off x="2081359" y="3599536"/>
            <a:ext cx="4014642" cy="1262748"/>
            <a:chOff x="1514900" y="4698128"/>
            <a:chExt cx="9471548" cy="73593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75950DC-A6CA-4FF7-963E-22472B6B6A84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요구 사항을 반영해 작성한 쿼리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C91D9E4-14C1-EC52-FFCF-D2725B2D952B}"/>
                </a:ext>
              </a:extLst>
            </p:cNvPr>
            <p:cNvSpPr/>
            <p:nvPr/>
          </p:nvSpPr>
          <p:spPr>
            <a:xfrm>
              <a:off x="1514900" y="4923671"/>
              <a:ext cx="9471548" cy="51038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103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86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AND city IN ('Cheju', 'Sunnyvale', 'Dallas');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658BCAA-88B5-62EE-A431-C385358CE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007" y="3483518"/>
            <a:ext cx="4313284" cy="230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658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요구 사항대로라면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개의 행으로 구성된 데이터가 조회돼야 하는데 결과는 그렇지 않음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그 이유는 논리 연산자의 우선순위 때문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앞서 작성한 쿼리는 사실 다음과 같은 순서로 풀이됨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3A4F2B7-8B98-6800-24CF-C57E6D6CC5BA}"/>
              </a:ext>
            </a:extLst>
          </p:cNvPr>
          <p:cNvGrpSpPr/>
          <p:nvPr/>
        </p:nvGrpSpPr>
        <p:grpSpPr>
          <a:xfrm>
            <a:off x="2078978" y="5111776"/>
            <a:ext cx="6716679" cy="1269941"/>
            <a:chOff x="1514900" y="4698128"/>
            <a:chExt cx="9471548" cy="74012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9E5312F-196A-EB4C-B92B-17E951DCE207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쿼리 풀이 순서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2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2722CD-097E-9B18-A537-B0A0EF412DA0}"/>
                </a:ext>
              </a:extLst>
            </p:cNvPr>
            <p:cNvSpPr/>
            <p:nvPr/>
          </p:nvSpPr>
          <p:spPr>
            <a:xfrm>
              <a:off x="1514900" y="4923671"/>
              <a:ext cx="9471548" cy="5145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86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AND city IN ('Cheju', 'Sunnyvale', 'Dallas');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F5C47CA-35DE-BC9A-0422-C4C15114F084}"/>
              </a:ext>
            </a:extLst>
          </p:cNvPr>
          <p:cNvGrpSpPr/>
          <p:nvPr/>
        </p:nvGrpSpPr>
        <p:grpSpPr>
          <a:xfrm>
            <a:off x="2078979" y="4184559"/>
            <a:ext cx="6716679" cy="773996"/>
            <a:chOff x="1514900" y="4698128"/>
            <a:chExt cx="9471548" cy="45108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BAEE9C2-CA6A-5AAC-0108-09B8DD7FC27C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쿼리 풀이 순서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FA16A9B-FC0D-392B-3364-DDFF507C182B}"/>
                </a:ext>
              </a:extLst>
            </p:cNvPr>
            <p:cNvSpPr/>
            <p:nvPr/>
          </p:nvSpPr>
          <p:spPr>
            <a:xfrm>
              <a:off x="1514900" y="4923671"/>
              <a:ext cx="9471548" cy="22554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103;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9442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위와 같은 순서로 풀이되었기 때문에 </a:t>
            </a:r>
            <a:br>
              <a:rPr kumimoji="1" lang="en-US" altLang="ko-KR" dirty="0"/>
            </a:br>
            <a:r>
              <a:rPr kumimoji="1" lang="en-US" altLang="ko-KR" dirty="0" err="1"/>
              <a:t>country_id</a:t>
            </a:r>
            <a:r>
              <a:rPr kumimoji="1" lang="ko-KR" altLang="en-US" dirty="0"/>
              <a:t>열이 </a:t>
            </a:r>
            <a:r>
              <a:rPr kumimoji="1" lang="en-US" altLang="ko-KR" dirty="0"/>
              <a:t>103</a:t>
            </a:r>
            <a:r>
              <a:rPr kumimoji="1" lang="ko-KR" altLang="en-US" dirty="0"/>
              <a:t>인 전체 데이터와 </a:t>
            </a:r>
            <a:br>
              <a:rPr kumimoji="1" lang="en-US" altLang="ko-KR" dirty="0"/>
            </a:br>
            <a:r>
              <a:rPr kumimoji="1" lang="en-US" altLang="ko-KR" dirty="0" err="1"/>
              <a:t>country_id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열이 </a:t>
            </a:r>
            <a:r>
              <a:rPr kumimoji="1" lang="en-US" altLang="ko-KR" dirty="0"/>
              <a:t>86</a:t>
            </a:r>
            <a:r>
              <a:rPr kumimoji="1" lang="ko-KR" altLang="en-US" dirty="0"/>
              <a:t>인 전체 데이터 중에서 </a:t>
            </a:r>
            <a:br>
              <a:rPr kumimoji="1" lang="en-US" altLang="ko-KR" dirty="0"/>
            </a:br>
            <a:r>
              <a:rPr kumimoji="1" lang="en-US" altLang="ko-KR" dirty="0"/>
              <a:t>city </a:t>
            </a:r>
            <a:r>
              <a:rPr kumimoji="1" lang="ko-KR" altLang="en-US" dirty="0"/>
              <a:t>열이 ‘</a:t>
            </a:r>
            <a:r>
              <a:rPr kumimoji="1" lang="en-US" altLang="ko-KR" dirty="0"/>
              <a:t>Cheju’, ‘Sunnyvale’, ‘Dallas’ </a:t>
            </a:r>
            <a:r>
              <a:rPr kumimoji="1" lang="ko-KR" altLang="en-US" dirty="0"/>
              <a:t>데이터가 조회됨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만약 </a:t>
            </a:r>
            <a:r>
              <a:rPr kumimoji="1" lang="en-US" altLang="ko-KR" dirty="0" err="1"/>
              <a:t>country_id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103</a:t>
            </a:r>
            <a:r>
              <a:rPr kumimoji="1" lang="ko-KR" altLang="en-US" dirty="0"/>
              <a:t>인 쿼리문과 </a:t>
            </a:r>
            <a:r>
              <a:rPr kumimoji="1" lang="en-US" altLang="ko-KR" dirty="0" err="1"/>
              <a:t>country_id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86</a:t>
            </a:r>
            <a:r>
              <a:rPr kumimoji="1" lang="ko-KR" altLang="en-US" dirty="0"/>
              <a:t>인 쿼리문의 순서를 바꾸면 </a:t>
            </a:r>
            <a:br>
              <a:rPr kumimoji="1" lang="en-US" altLang="ko-KR" dirty="0"/>
            </a:br>
            <a:r>
              <a:rPr kumimoji="1" lang="ko-KR" altLang="en-US" dirty="0"/>
              <a:t>논리 연산자 우선순위 때문에 또 다른 결과가 발생하게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314196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425B053-53E4-B28F-6C44-0567C130B5F3}"/>
              </a:ext>
            </a:extLst>
          </p:cNvPr>
          <p:cNvGrpSpPr/>
          <p:nvPr/>
        </p:nvGrpSpPr>
        <p:grpSpPr>
          <a:xfrm>
            <a:off x="2078979" y="3193914"/>
            <a:ext cx="6716679" cy="1291001"/>
            <a:chOff x="1514900" y="4698128"/>
            <a:chExt cx="9471548" cy="75239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E2D77EC-6201-1D04-958A-C8FE503D31E9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쿼리 순서를 변경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8FC362A-2313-F6EA-1346-92D9050DFDAF}"/>
                </a:ext>
              </a:extLst>
            </p:cNvPr>
            <p:cNvSpPr/>
            <p:nvPr/>
          </p:nvSpPr>
          <p:spPr>
            <a:xfrm>
              <a:off x="1514900" y="4923670"/>
              <a:ext cx="9471548" cy="5268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86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103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AND city IN ('Cheju', 'Sunnyvale', 'Dallas' 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D0658FC-8547-E2F0-8568-A4ACD667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979" y="4572760"/>
            <a:ext cx="3331794" cy="167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722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원하는 대로 결과를 도출하려면 쿼리를 수정할 때 소괄호를 사용하면 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소괄호로 먼저 실행되어야 하는 쿼리에 우선순위를 정해 줄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다음 쿼리는 </a:t>
            </a:r>
            <a:r>
              <a:rPr kumimoji="1" lang="en-US" altLang="ko-KR" dirty="0" err="1"/>
              <a:t>country_id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열과 관련된 조건에 대한 결과를 먼저 도출한 뒤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/>
              <a:t>city </a:t>
            </a:r>
            <a:r>
              <a:rPr kumimoji="1" lang="ko-KR" altLang="en-US" dirty="0"/>
              <a:t>열 조건을 필터링하여 진짜로 원했던 데이터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개를 반환함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425B053-53E4-B28F-6C44-0567C130B5F3}"/>
              </a:ext>
            </a:extLst>
          </p:cNvPr>
          <p:cNvGrpSpPr/>
          <p:nvPr/>
        </p:nvGrpSpPr>
        <p:grpSpPr>
          <a:xfrm>
            <a:off x="2094592" y="4662152"/>
            <a:ext cx="4800792" cy="1291001"/>
            <a:chOff x="1514900" y="4698128"/>
            <a:chExt cx="9471548" cy="75239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E2D77EC-6201-1D04-958A-C8FE503D31E9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소괄호로 우선순위를 다시 정해 데이터를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8FC362A-2313-F6EA-1346-92D9050DFDAF}"/>
                </a:ext>
              </a:extLst>
            </p:cNvPr>
            <p:cNvSpPr/>
            <p:nvPr/>
          </p:nvSpPr>
          <p:spPr>
            <a:xfrm>
              <a:off x="1514900" y="4923670"/>
              <a:ext cx="9471548" cy="5268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(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103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86)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AND city IN ('Cheju', 'Sunnyvale', 'Dallas');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3689994-3669-3F06-7074-30B874CC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158" y="4499880"/>
            <a:ext cx="31432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89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AND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OR</a:t>
            </a:r>
            <a:r>
              <a:rPr kumimoji="1" lang="ko-KR" altLang="en-US" b="1" dirty="0"/>
              <a:t>를 이용한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또는 </a:t>
            </a:r>
            <a:r>
              <a:rPr kumimoji="1" lang="en-US" altLang="ko-KR" dirty="0" err="1"/>
              <a:t>country_id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열과 관련된 조건도 </a:t>
            </a:r>
            <a:r>
              <a:rPr kumimoji="1" lang="en-US" altLang="ko-KR" dirty="0"/>
              <a:t>IN</a:t>
            </a:r>
            <a:r>
              <a:rPr kumimoji="1" lang="ko-KR" altLang="en-US" dirty="0"/>
              <a:t>으로 묶은 다음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쿼리를 작성해도 앞선 실습과 같은 결과를 얻을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425B053-53E4-B28F-6C44-0567C130B5F3}"/>
              </a:ext>
            </a:extLst>
          </p:cNvPr>
          <p:cNvGrpSpPr/>
          <p:nvPr/>
        </p:nvGrpSpPr>
        <p:grpSpPr>
          <a:xfrm>
            <a:off x="2100489" y="3871577"/>
            <a:ext cx="4800792" cy="1291001"/>
            <a:chOff x="1514900" y="4698128"/>
            <a:chExt cx="9471548" cy="75239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E2D77EC-6201-1D04-958A-C8FE503D31E9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IN, AND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결합하여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8FC362A-2313-F6EA-1346-92D9050DFDAF}"/>
                </a:ext>
              </a:extLst>
            </p:cNvPr>
            <p:cNvSpPr/>
            <p:nvPr/>
          </p:nvSpPr>
          <p:spPr>
            <a:xfrm>
              <a:off x="1514900" y="4923670"/>
              <a:ext cx="9471548" cy="5268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city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WHERE (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103 OR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country_id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= 86)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AND city IN ('Cheju', 'Sunnyvale', 'Dallas');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AA4809A-9101-8232-94AC-71173FB8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599" y="3975166"/>
            <a:ext cx="4092802" cy="127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571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데이터베이스에서 데이터를 조회하다 보면 </a:t>
            </a:r>
            <a:r>
              <a:rPr kumimoji="1" lang="en-US" altLang="ko-KR" dirty="0"/>
              <a:t>NULL</a:t>
            </a:r>
            <a:r>
              <a:rPr kumimoji="1" lang="ko-KR" altLang="en-US" dirty="0"/>
              <a:t>값이 포함된 열을 자주 볼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b="1" dirty="0"/>
              <a:t>NULL</a:t>
            </a:r>
            <a:r>
              <a:rPr kumimoji="1" lang="ko-KR" altLang="en-US" b="1" dirty="0"/>
              <a:t>이란 데이터가 없는 상태</a:t>
            </a:r>
            <a:r>
              <a:rPr kumimoji="1" lang="ko-KR" altLang="en-US" dirty="0"/>
              <a:t>를 말함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더 풀어 설명하자면 숫자 </a:t>
            </a:r>
            <a:r>
              <a:rPr kumimoji="1" lang="en-US" altLang="ko-KR" dirty="0"/>
              <a:t>0, </a:t>
            </a:r>
            <a:r>
              <a:rPr kumimoji="1" lang="ko-KR" altLang="en-US" dirty="0"/>
              <a:t>공백이 아니라 </a:t>
            </a:r>
            <a:r>
              <a:rPr kumimoji="1" lang="ko-KR" altLang="en-US" b="1" dirty="0"/>
              <a:t>아예 정의되지 않은 값</a:t>
            </a:r>
            <a:r>
              <a:rPr kumimoji="1" lang="ko-KR" altLang="en-US" dirty="0"/>
              <a:t>을 말함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1032072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address </a:t>
            </a:r>
            <a:r>
              <a:rPr kumimoji="1" lang="ko-KR" altLang="en-US" dirty="0"/>
              <a:t>테이블을 조회해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en-US" altLang="ko-KR" dirty="0"/>
              <a:t>address2 </a:t>
            </a:r>
            <a:r>
              <a:rPr kumimoji="1" lang="ko-KR" altLang="en-US" dirty="0"/>
              <a:t>열을 살펴보면 공백으로 표시된 곳과 </a:t>
            </a:r>
            <a:br>
              <a:rPr kumimoji="1" lang="en-US" altLang="ko-KR" dirty="0"/>
            </a:br>
            <a:r>
              <a:rPr kumimoji="1" lang="en-US" altLang="ko-KR" dirty="0"/>
              <a:t>NULL</a:t>
            </a:r>
            <a:r>
              <a:rPr kumimoji="1" lang="ko-KR" altLang="en-US" dirty="0"/>
              <a:t>이 표시된 곳이 구분되어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152BDE4-D6EA-6DD8-3F2C-EB6A055B2696}"/>
              </a:ext>
            </a:extLst>
          </p:cNvPr>
          <p:cNvGrpSpPr/>
          <p:nvPr/>
        </p:nvGrpSpPr>
        <p:grpSpPr>
          <a:xfrm>
            <a:off x="1759664" y="4229941"/>
            <a:ext cx="2768793" cy="773993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7F72293-FA4E-DF5C-A252-7A568F2B3295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Null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이 있는 테이블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18FD38-D196-D5E6-0C6C-BC73C5663C78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address;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83DD284-3DB4-8B88-6A55-64DE1051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583" y="4042558"/>
            <a:ext cx="6675989" cy="18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857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670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NULL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IS NULL, IS NOT NULL</a:t>
            </a:r>
            <a:r>
              <a:rPr kumimoji="1" lang="ko-KR" altLang="en-US" dirty="0"/>
              <a:t>을 사용하여 필터링함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 ‘</a:t>
            </a:r>
            <a:r>
              <a:rPr kumimoji="1" lang="en-US" altLang="ko-KR" dirty="0"/>
              <a:t>= </a:t>
            </a:r>
            <a:r>
              <a:rPr kumimoji="1" lang="ko-KR" altLang="en-US" dirty="0"/>
              <a:t>연산자로 찾을 수 있지 않을까</a:t>
            </a:r>
            <a:r>
              <a:rPr kumimoji="1" lang="en-US" altLang="ko-KR" dirty="0"/>
              <a:t>?’</a:t>
            </a:r>
            <a:r>
              <a:rPr kumimoji="1" lang="ko-KR" altLang="en-US" dirty="0"/>
              <a:t>라고 생각이 들 수 있으므로</a:t>
            </a:r>
            <a:br>
              <a:rPr kumimoji="1" lang="en-US" altLang="ko-KR" dirty="0"/>
            </a:br>
            <a:r>
              <a:rPr kumimoji="1" lang="en-US" altLang="ko-KR" dirty="0"/>
              <a:t>= </a:t>
            </a:r>
            <a:r>
              <a:rPr kumimoji="1" lang="ko-KR" altLang="en-US" dirty="0"/>
              <a:t>연산자를 사용하여 </a:t>
            </a:r>
            <a:r>
              <a:rPr kumimoji="1" lang="en-US" altLang="ko-KR" dirty="0"/>
              <a:t>NULL</a:t>
            </a:r>
            <a:r>
              <a:rPr kumimoji="1" lang="ko-KR" altLang="en-US" dirty="0"/>
              <a:t>을 찾는 쿼리를 작성하여 실행해 보자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NULL</a:t>
            </a:r>
            <a:r>
              <a:rPr kumimoji="1" lang="ko-KR" altLang="en-US" dirty="0"/>
              <a:t>은 정의되지 않은 값이므로 일반적인 연산자로 조회할 수 없어 아무것도 얻지 못함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E54175F-B05A-0568-5214-CB75F0414A9B}"/>
              </a:ext>
            </a:extLst>
          </p:cNvPr>
          <p:cNvGrpSpPr/>
          <p:nvPr/>
        </p:nvGrpSpPr>
        <p:grpSpPr>
          <a:xfrm>
            <a:off x="2078979" y="4122230"/>
            <a:ext cx="6716679" cy="773993"/>
            <a:chOff x="1514900" y="4698128"/>
            <a:chExt cx="9471548" cy="45108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D8873C8-2F2E-85CF-B36D-D6AF8801770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 =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연산자를 사용해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NULL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CEF9C0-752E-23FD-FED3-3B3FE95EB9EA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address WHERE address2 = NULL;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5340FE65-9768-BF31-1AEF-C774746F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979" y="4939766"/>
            <a:ext cx="6182406" cy="8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11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IS NULL</a:t>
            </a:r>
            <a:r>
              <a:rPr kumimoji="1" lang="ko-KR" altLang="en-US" dirty="0"/>
              <a:t>을 사용해 </a:t>
            </a:r>
            <a:r>
              <a:rPr kumimoji="1" lang="en-US" altLang="ko-KR" dirty="0"/>
              <a:t>NULL </a:t>
            </a:r>
            <a:r>
              <a:rPr kumimoji="1" lang="ko-KR" altLang="en-US" dirty="0"/>
              <a:t>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E54175F-B05A-0568-5214-CB75F0414A9B}"/>
              </a:ext>
            </a:extLst>
          </p:cNvPr>
          <p:cNvGrpSpPr/>
          <p:nvPr/>
        </p:nvGrpSpPr>
        <p:grpSpPr>
          <a:xfrm>
            <a:off x="2078979" y="3513547"/>
            <a:ext cx="6716679" cy="773993"/>
            <a:chOff x="1514900" y="4698128"/>
            <a:chExt cx="9471548" cy="45108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D8873C8-2F2E-85CF-B36D-D6AF8801770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address2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NULL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CEF9C0-752E-23FD-FED3-3B3FE95EB9EA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address WHERE address2 IS NULL;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54B8917F-3ACA-8098-DBC0-FCD34AC9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814" y="4339825"/>
            <a:ext cx="7860620" cy="140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69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반대로 </a:t>
            </a:r>
            <a:r>
              <a:rPr kumimoji="1" lang="en-US" altLang="ko-KR" dirty="0"/>
              <a:t>NULL</a:t>
            </a:r>
            <a:r>
              <a:rPr kumimoji="1" lang="ko-KR" altLang="en-US" dirty="0"/>
              <a:t>이 아닌 데이터를 조회할 때에도 </a:t>
            </a:r>
            <a:br>
              <a:rPr kumimoji="1" lang="en-US" altLang="ko-KR" dirty="0"/>
            </a:br>
            <a:r>
              <a:rPr kumimoji="1" lang="ko-KR" altLang="en-US" dirty="0"/>
              <a:t>일반 연산자가 아닌 </a:t>
            </a:r>
            <a:r>
              <a:rPr kumimoji="1" lang="en-US" altLang="ko-KR" dirty="0"/>
              <a:t>IS NOT NULL</a:t>
            </a:r>
            <a:r>
              <a:rPr kumimoji="1" lang="ko-KR" altLang="en-US" dirty="0"/>
              <a:t>을 사용해 데이터를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E54175F-B05A-0568-5214-CB75F0414A9B}"/>
              </a:ext>
            </a:extLst>
          </p:cNvPr>
          <p:cNvGrpSpPr/>
          <p:nvPr/>
        </p:nvGrpSpPr>
        <p:grpSpPr>
          <a:xfrm>
            <a:off x="2078979" y="3746715"/>
            <a:ext cx="6716679" cy="773993"/>
            <a:chOff x="1514900" y="4698128"/>
            <a:chExt cx="9471548" cy="45108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D8873C8-2F2E-85CF-B36D-D6AF8801770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address2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NULL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이 아닌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CEF9C0-752E-23FD-FED3-3B3FE95EB9EA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address WHERE address2 IS NOT NULL;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0B20A840-9612-521E-A7FA-20F9910D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23" y="4564674"/>
            <a:ext cx="7286171" cy="19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248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이번엔 </a:t>
            </a:r>
            <a:r>
              <a:rPr kumimoji="1" lang="en-US" altLang="ko-KR" dirty="0"/>
              <a:t>address2</a:t>
            </a:r>
            <a:r>
              <a:rPr kumimoji="1" lang="ko-KR" altLang="en-US" dirty="0"/>
              <a:t>에 데이터가 공백인 행을 조회해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공백은 </a:t>
            </a:r>
            <a:r>
              <a:rPr kumimoji="1" lang="en-US" altLang="ko-KR" dirty="0"/>
              <a:t>NULL</a:t>
            </a:r>
            <a:r>
              <a:rPr kumimoji="1" lang="ko-KR" altLang="en-US" dirty="0"/>
              <a:t>이 아니기 때문에 </a:t>
            </a:r>
            <a:br>
              <a:rPr kumimoji="1" lang="en-US" altLang="ko-KR" dirty="0"/>
            </a:br>
            <a:r>
              <a:rPr kumimoji="1" lang="ko-KR" altLang="en-US" dirty="0"/>
              <a:t>다음과 같이 연산자 </a:t>
            </a:r>
            <a:r>
              <a:rPr kumimoji="1" lang="en-US" altLang="ko-KR" dirty="0"/>
              <a:t>=</a:t>
            </a:r>
            <a:r>
              <a:rPr kumimoji="1" lang="ko-KR" altLang="en-US" dirty="0"/>
              <a:t>으로 조회할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</a:t>
            </a:r>
            <a:r>
              <a:rPr kumimoji="1" lang="en-US" altLang="ko-KR" dirty="0"/>
              <a:t>, </a:t>
            </a:r>
            <a:r>
              <a:rPr kumimoji="1" lang="ko-KR" altLang="en-US" dirty="0"/>
              <a:t>공백은 ‘ ‘으로 표현함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</p:spTree>
    <p:extLst>
      <p:ext uri="{BB962C8B-B14F-4D97-AF65-F5344CB8AC3E}">
        <p14:creationId xmlns:p14="http://schemas.microsoft.com/office/powerpoint/2010/main" val="37850944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WHERE </a:t>
            </a:r>
            <a:r>
              <a:rPr kumimoji="1" lang="ko-KR" altLang="en-US" dirty="0">
                <a:solidFill>
                  <a:srgbClr val="E47525"/>
                </a:solidFill>
              </a:rPr>
              <a:t>문에서 논리 연산자 사용해 보기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NULL </a:t>
            </a:r>
            <a:r>
              <a:rPr kumimoji="1" lang="ko-KR" altLang="en-US" b="1" dirty="0"/>
              <a:t>데이터 조회하기</a:t>
            </a: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04-2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WHERE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조건에 맞는 데이터 조회하기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E54175F-B05A-0568-5214-CB75F0414A9B}"/>
              </a:ext>
            </a:extLst>
          </p:cNvPr>
          <p:cNvGrpSpPr/>
          <p:nvPr/>
        </p:nvGrpSpPr>
        <p:grpSpPr>
          <a:xfrm>
            <a:off x="2096929" y="3117472"/>
            <a:ext cx="6716679" cy="773993"/>
            <a:chOff x="1514900" y="4698128"/>
            <a:chExt cx="9471548" cy="45108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D8873C8-2F2E-85CF-B36D-D6AF8801770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address2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NULL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이 아닌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CEF9C0-752E-23FD-FED3-3B3FE95EB9EA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address WHERE address2 = '';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F17503E-BBF9-6F36-FD87-6ADC204F7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79" y="4030278"/>
            <a:ext cx="7678057" cy="204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125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ko-KR" altLang="en-US" dirty="0"/>
              <a:t>실습을 진행하다 보면 여러분의 결과가 다르게 보일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이는 정렬 순서에 따라 결과가 다른 것인데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정렬이 중요한 데이터를 활용해야 할 경우라면 </a:t>
            </a:r>
            <a:r>
              <a:rPr kumimoji="1" lang="en-US" altLang="ko-KR" dirty="0"/>
              <a:t>ORDER BY</a:t>
            </a:r>
            <a:r>
              <a:rPr kumimoji="1" lang="ko-KR" altLang="en-US" dirty="0"/>
              <a:t>로 하면 해결할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조회한 데이터를 정렬하기 위해서는 </a:t>
            </a:r>
            <a:r>
              <a:rPr kumimoji="1" lang="en-US" altLang="ko-KR" dirty="0"/>
              <a:t>ORDER BY </a:t>
            </a:r>
            <a:r>
              <a:rPr kumimoji="1" lang="ko-KR" altLang="en-US" dirty="0"/>
              <a:t>문을 </a:t>
            </a:r>
            <a:br>
              <a:rPr kumimoji="1" lang="en-US" altLang="ko-KR" dirty="0"/>
            </a:br>
            <a:r>
              <a:rPr kumimoji="1" lang="ko-KR" altLang="en-US" dirty="0"/>
              <a:t>다음과 같이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문의 가장 마지막에 추가하여 사용하면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5699C8-D138-1377-0B9D-DA8AFA80C112}"/>
              </a:ext>
            </a:extLst>
          </p:cNvPr>
          <p:cNvSpPr/>
          <p:nvPr/>
        </p:nvSpPr>
        <p:spPr>
          <a:xfrm>
            <a:off x="1503953" y="4183869"/>
            <a:ext cx="7435331" cy="8653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ORDER BY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문의 기본 형식</a:t>
            </a:r>
          </a:p>
          <a:p>
            <a:pPr algn="just"/>
            <a:endParaRPr lang="en-US" altLang="ko-KR" sz="1400" b="1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FROM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테이블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WHERE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= [</a:t>
            </a:r>
            <a:r>
              <a:rPr lang="ko-KR" altLang="en-US" sz="1400" i="0" u="none" strike="noStrike" baseline="0" dirty="0" err="1">
                <a:solidFill>
                  <a:schemeClr val="tx1"/>
                </a:solidFill>
              </a:rPr>
              <a:t>조건값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ORDER BY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[ASC 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또는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DESC]</a:t>
            </a:r>
            <a:r>
              <a:rPr lang="en-US" altLang="ko-KR" sz="1400" dirty="0">
                <a:solidFill>
                  <a:schemeClr val="tx1"/>
                </a:solidFill>
              </a:rPr>
              <a:t>    </a:t>
            </a:r>
          </a:p>
          <a:p>
            <a:pPr algn="just"/>
            <a:r>
              <a:rPr lang="en-US" altLang="ko-KR" sz="1400" dirty="0">
                <a:solidFill>
                  <a:schemeClr val="tx1"/>
                </a:solidFill>
              </a:rPr>
              <a:t>                                                                        ①       ②            ③</a:t>
            </a:r>
            <a:endParaRPr lang="ko-KR" altLang="en-US" sz="1200" i="0" strike="noStrike" baseline="0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B49728-4A80-37B2-B6FB-020C9A0F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53" y="5064836"/>
            <a:ext cx="6804427" cy="104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720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4B617A5-7F9D-433E-454A-1B00CDE4A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130" y="4238171"/>
            <a:ext cx="7032556" cy="222001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ORDER BY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기준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b="0" dirty="0">
                <a:solidFill>
                  <a:schemeClr val="tx1"/>
                </a:solidFill>
              </a:rPr>
              <a:t>데이터를 정렬할 때 정렬할 열 이름을 </a:t>
            </a:r>
            <a:r>
              <a:rPr kumimoji="1" lang="en-US" altLang="ko-KR" b="0" dirty="0">
                <a:solidFill>
                  <a:schemeClr val="tx1"/>
                </a:solidFill>
              </a:rPr>
              <a:t>ORDER BY </a:t>
            </a:r>
            <a:r>
              <a:rPr kumimoji="1" lang="ko-KR" altLang="en-US" b="0" dirty="0">
                <a:solidFill>
                  <a:schemeClr val="tx1"/>
                </a:solidFill>
              </a:rPr>
              <a:t>문 뒤에 입력함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5565AF"/>
              </a:buClr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다음은 각각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열과 </a:t>
            </a:r>
            <a:r>
              <a:rPr kumimoji="1" lang="en-US" altLang="ko-KR" dirty="0" err="1"/>
              <a:t>last_name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 기준으로 정렬하는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15218B-7416-24A5-706A-34AF4566FDBC}"/>
              </a:ext>
            </a:extLst>
          </p:cNvPr>
          <p:cNvGrpSpPr/>
          <p:nvPr/>
        </p:nvGrpSpPr>
        <p:grpSpPr>
          <a:xfrm>
            <a:off x="1737700" y="3588169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1F394A4-4D06-C327-5185-DBA4E4E98BF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열을 기준으로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C33226D-38F1-E4B0-8814-B5906F3D0C65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26043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ORDER BY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기준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15218B-7416-24A5-706A-34AF4566FDBC}"/>
              </a:ext>
            </a:extLst>
          </p:cNvPr>
          <p:cNvGrpSpPr/>
          <p:nvPr/>
        </p:nvGrpSpPr>
        <p:grpSpPr>
          <a:xfrm>
            <a:off x="1660593" y="2459196"/>
            <a:ext cx="5286117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1F394A4-4D06-C327-5185-DBA4E4E98BF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last_name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열을 기준으로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C33226D-38F1-E4B0-8814-B5906F3D0C65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last_name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803C0F9-B107-AD69-1EAB-033605F2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51" y="3258456"/>
            <a:ext cx="8708571" cy="268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00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ORDER BY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기준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두 결과를 비교해 보면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했을 때는 </a:t>
            </a:r>
            <a:br>
              <a:rPr kumimoji="1" lang="en-US" altLang="ko-KR" dirty="0"/>
            </a:b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데이터들이 오름차순으로 정리된 것을 확인할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마찬가지로 </a:t>
            </a:r>
            <a:r>
              <a:rPr kumimoji="1" lang="en-US" altLang="ko-KR" dirty="0" err="1"/>
              <a:t>last_name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정했을 때는 </a:t>
            </a:r>
            <a:br>
              <a:rPr kumimoji="1" lang="en-US" altLang="ko-KR" dirty="0"/>
            </a:br>
            <a:r>
              <a:rPr kumimoji="1" lang="en-US" altLang="ko-KR" dirty="0" err="1"/>
              <a:t>last_name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데이터들이 오름차순으로 정리된 것을 확인할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1393829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ORDER BY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기준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2</a:t>
            </a:r>
            <a:r>
              <a:rPr kumimoji="1" lang="ko-KR" altLang="en-US" dirty="0"/>
              <a:t>개 이상의 열을 기준으로 정렬할 때는 </a:t>
            </a:r>
            <a:br>
              <a:rPr kumimoji="1" lang="en-US" altLang="ko-KR" dirty="0"/>
            </a:br>
            <a:r>
              <a:rPr kumimoji="1" lang="ko-KR" altLang="en-US" dirty="0"/>
              <a:t>쉼표를 사용하여 열 이름을 나열하면 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 열 입력 순서에 따라 정렬 우선순위가 정해지므로 </a:t>
            </a:r>
            <a:br>
              <a:rPr kumimoji="1" lang="en-US" altLang="ko-KR" dirty="0"/>
            </a:br>
            <a:r>
              <a:rPr kumimoji="1" lang="ko-KR" altLang="en-US" dirty="0"/>
              <a:t>열 입력 순서에 주의하자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정렬 순서를 </a:t>
            </a:r>
            <a:r>
              <a:rPr kumimoji="1" lang="en-US" altLang="ko-KR" dirty="0" err="1"/>
              <a:t>store_id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순으로 작성한 쿼리임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이렇게 하면 먼저 </a:t>
            </a:r>
            <a:r>
              <a:rPr kumimoji="1" lang="en-US" altLang="ko-KR" dirty="0" err="1"/>
              <a:t>store_id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정렬한 다음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 err="1"/>
              <a:t>store_id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 같은 값이 있는 경우 </a:t>
            </a:r>
            <a:br>
              <a:rPr kumimoji="1" lang="en-US" altLang="ko-KR" dirty="0"/>
            </a:b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데이터를 정렬함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21463004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ORDER BY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기준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E9BDCF-B737-F721-EE50-C08175CF2DA3}"/>
              </a:ext>
            </a:extLst>
          </p:cNvPr>
          <p:cNvGrpSpPr/>
          <p:nvPr/>
        </p:nvGrpSpPr>
        <p:grpSpPr>
          <a:xfrm>
            <a:off x="1737700" y="2400814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5D4D10A-FA63-BE02-7E60-83AA43F0EDF0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store_id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,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순으로 데이터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2F659-176A-07FA-ADBF-B4A9B17CD89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store_id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AA17A10-ED6A-FD73-5E84-96B483E8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442" y="3176076"/>
            <a:ext cx="9424044" cy="300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706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ORDER BY </a:t>
            </a:r>
            <a:r>
              <a:rPr kumimoji="1" lang="ko-KR" altLang="en-US" dirty="0">
                <a:solidFill>
                  <a:srgbClr val="E47525"/>
                </a:solidFill>
              </a:rPr>
              <a:t>문으로 열 기준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정렬 순서를 바꿔서도 입력해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정렬 순서가 다르므로 결과도 다르게 표시됨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E9BDCF-B737-F721-EE50-C08175CF2DA3}"/>
              </a:ext>
            </a:extLst>
          </p:cNvPr>
          <p:cNvGrpSpPr/>
          <p:nvPr/>
        </p:nvGrpSpPr>
        <p:grpSpPr>
          <a:xfrm>
            <a:off x="1737700" y="3325164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5D4D10A-FA63-BE02-7E60-83AA43F0EDF0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,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store_id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순으로 데이터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2F659-176A-07FA-ADBF-B4A9B17CD89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store_id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4188351-BAC4-C2B4-F99C-667925495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00" y="4053602"/>
            <a:ext cx="7506553" cy="238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863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ORDER BY </a:t>
            </a:r>
            <a:r>
              <a:rPr kumimoji="1" lang="ko-KR" altLang="en-US" dirty="0"/>
              <a:t>문의 기본 형식에서 </a:t>
            </a:r>
            <a:br>
              <a:rPr kumimoji="1" lang="en-US" altLang="ko-KR" dirty="0"/>
            </a:br>
            <a:r>
              <a:rPr kumimoji="1" lang="ko-KR" altLang="en-US" dirty="0"/>
              <a:t>열 이름 다음에 </a:t>
            </a:r>
            <a:r>
              <a:rPr kumimoji="1" lang="en-US" altLang="ko-KR" dirty="0"/>
              <a:t>ASC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DESC</a:t>
            </a:r>
            <a:r>
              <a:rPr kumimoji="1" lang="ko-KR" altLang="en-US" dirty="0"/>
              <a:t>를 작성하면 </a:t>
            </a:r>
            <a:br>
              <a:rPr kumimoji="1" lang="en-US" altLang="ko-KR" dirty="0"/>
            </a:br>
            <a:r>
              <a:rPr kumimoji="1" lang="ko-KR" altLang="en-US" dirty="0"/>
              <a:t>오름차순 또는 내림차순으로 정렬한 데이터를 조회할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ASC</a:t>
            </a:r>
            <a:r>
              <a:rPr kumimoji="1" lang="ko-KR" altLang="en-US" dirty="0"/>
              <a:t>는 오름차순을 의미하는 </a:t>
            </a:r>
            <a:r>
              <a:rPr kumimoji="1" lang="en-US" altLang="ko-KR" dirty="0"/>
              <a:t>ascending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줄임말이고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/>
              <a:t>DESC</a:t>
            </a:r>
            <a:r>
              <a:rPr kumimoji="1" lang="ko-KR" altLang="en-US" dirty="0"/>
              <a:t>는 내림차순을 의미하는 </a:t>
            </a:r>
            <a:r>
              <a:rPr kumimoji="1" lang="en-US" altLang="ko-KR" dirty="0"/>
              <a:t>descending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줄임말임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23686777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ASC</a:t>
            </a:r>
            <a:r>
              <a:rPr kumimoji="1" lang="ko-KR" altLang="en-US" b="1" dirty="0"/>
              <a:t>로 데이터 정렬하기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오름차순으로 정렬하는 방법을 알아보자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기본 형식에서도 보았듯 </a:t>
            </a:r>
            <a:r>
              <a:rPr kumimoji="1" lang="en-US" altLang="ko-KR" dirty="0"/>
              <a:t>ASC</a:t>
            </a:r>
            <a:r>
              <a:rPr kumimoji="1" lang="ko-KR" altLang="en-US" dirty="0"/>
              <a:t>를 정렬하려는 열 이름 뒤에 붙이면 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 대해 오름차순으로 정렬하는 쿼리임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결과를 보면 알파벳순으로 데이터가 정렬되었음을 알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12314692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ASC</a:t>
            </a:r>
            <a:r>
              <a:rPr kumimoji="1" lang="ko-KR" altLang="en-US" b="1" dirty="0"/>
              <a:t>로 데이터 정렬하기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914400" lvl="2" indent="0">
              <a:buClr>
                <a:srgbClr val="E47525"/>
              </a:buClr>
              <a:buNone/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BC6FBD-B103-62F1-A74D-62377903D3C1}"/>
              </a:ext>
            </a:extLst>
          </p:cNvPr>
          <p:cNvGrpSpPr/>
          <p:nvPr/>
        </p:nvGrpSpPr>
        <p:grpSpPr>
          <a:xfrm>
            <a:off x="1628518" y="2920365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5588CCB-A91B-7F21-5C10-6AF1550BC9D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열을 오름차순으로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A0ACC4C-915D-77E6-0988-57C8D5B61617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ASC;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60E12F8-2204-C5CE-A781-F4FEDDC0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18" y="3650165"/>
            <a:ext cx="8093122" cy="253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986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DESC</a:t>
            </a:r>
            <a:r>
              <a:rPr kumimoji="1" lang="ko-KR" altLang="en-US" b="1" dirty="0"/>
              <a:t>로 데이터 정렬하기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 대해 내림차순으로 정렬하는 쿼리를 작성해 보자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내림차순 정렬은 정렬하려는 열 이름 뒤에 </a:t>
            </a:r>
            <a:r>
              <a:rPr kumimoji="1" lang="en-US" altLang="ko-KR" dirty="0"/>
              <a:t>DESC</a:t>
            </a:r>
            <a:r>
              <a:rPr kumimoji="1" lang="ko-KR" altLang="en-US" dirty="0"/>
              <a:t>를 추가하면 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결과를 보면 </a:t>
            </a:r>
            <a:r>
              <a:rPr kumimoji="1" lang="en-US" altLang="ko-KR" dirty="0"/>
              <a:t>Z, Y, X </a:t>
            </a:r>
            <a:r>
              <a:rPr kumimoji="1" lang="ko-KR" altLang="en-US" dirty="0"/>
              <a:t>순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알파벳역순</a:t>
            </a:r>
            <a:r>
              <a:rPr kumimoji="1" lang="en-US" altLang="ko-KR" dirty="0"/>
              <a:t>)</a:t>
            </a:r>
            <a:r>
              <a:rPr kumimoji="1" lang="ko-KR" altLang="en-US" dirty="0"/>
              <a:t>으로 데이터가 정렬되었음을 알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914400" lvl="2" indent="0">
              <a:buClr>
                <a:srgbClr val="E47525"/>
              </a:buClr>
              <a:buNone/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8805152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DESC</a:t>
            </a:r>
            <a:r>
              <a:rPr kumimoji="1" lang="ko-KR" altLang="en-US" b="1" dirty="0"/>
              <a:t>로 데이터 정렬하기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914400" lvl="2" indent="0">
              <a:buClr>
                <a:srgbClr val="E47525"/>
              </a:buClr>
              <a:buNone/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BC6FBD-B103-62F1-A74D-62377903D3C1}"/>
              </a:ext>
            </a:extLst>
          </p:cNvPr>
          <p:cNvGrpSpPr/>
          <p:nvPr/>
        </p:nvGrpSpPr>
        <p:grpSpPr>
          <a:xfrm>
            <a:off x="1817204" y="2991187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5588CCB-A91B-7F21-5C10-6AF1550BC9D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first_name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열을 내림차순으로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A0ACC4C-915D-77E6-0988-57C8D5B61617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DESC;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49ACFA5-AA2A-11F7-FD4F-4B0C787C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229" y="3757838"/>
            <a:ext cx="7329714" cy="22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763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ASC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DESC</a:t>
            </a:r>
            <a:r>
              <a:rPr kumimoji="1" lang="ko-KR" altLang="en-US" b="1" dirty="0"/>
              <a:t>를 조합하여 데이터 정렬하기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오름차순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내림차순을 각 열에 적용한 후 조합하여 정렬할 수도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각 열 이름 뒤에 </a:t>
            </a:r>
            <a:r>
              <a:rPr kumimoji="1" lang="en-US" altLang="ko-KR" dirty="0"/>
              <a:t>ASC, DESC</a:t>
            </a:r>
            <a:r>
              <a:rPr kumimoji="1" lang="ko-KR" altLang="en-US" dirty="0"/>
              <a:t>를 붙인 후 쉼표로 연결하면 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 쿼리는 </a:t>
            </a:r>
            <a:r>
              <a:rPr kumimoji="1" lang="en-US" altLang="ko-KR" dirty="0" err="1"/>
              <a:t>store_id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열은 내림차순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열은 오름차순으로 정렬함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입력순으로 정렬 우선순위가 정해지므로 </a:t>
            </a:r>
            <a:r>
              <a:rPr kumimoji="1" lang="en-US" altLang="ko-KR" dirty="0" err="1"/>
              <a:t>store_id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먼저 정렬한 후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같은 데이터가 있는 경우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정렬함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8463190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오름차순 또는 내림차순으로 정렬하기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ASC</a:t>
            </a:r>
            <a:r>
              <a:rPr kumimoji="1" lang="ko-KR" altLang="en-US" b="1" dirty="0"/>
              <a:t>와 </a:t>
            </a:r>
            <a:r>
              <a:rPr kumimoji="1" lang="en-US" altLang="ko-KR" b="1" dirty="0"/>
              <a:t>DESC</a:t>
            </a:r>
            <a:r>
              <a:rPr kumimoji="1" lang="ko-KR" altLang="en-US" b="1" dirty="0"/>
              <a:t>를 조합하여 데이터 정렬하기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CED0C7-B1CA-28C1-9211-FE571669B96A}"/>
              </a:ext>
            </a:extLst>
          </p:cNvPr>
          <p:cNvGrpSpPr/>
          <p:nvPr/>
        </p:nvGrpSpPr>
        <p:grpSpPr>
          <a:xfrm>
            <a:off x="1817204" y="2991187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6C7E63-0D37-F527-F02C-A5B4188C846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ASC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DESC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조합하여 데이터 정렬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7E05DB-6071-D425-0CC9-B7402ED1294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store_id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DESC,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ASC;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3F6C1C1-4537-54CA-2FB5-51907176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04" y="3767531"/>
            <a:ext cx="8037286" cy="246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874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특정 조건에 해당하는 데이터 중에서 상위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개의 데이터만 보고 싶은 경우 </a:t>
            </a:r>
            <a:br>
              <a:rPr kumimoji="1" lang="en-US" altLang="ko-KR" dirty="0"/>
            </a:br>
            <a:r>
              <a:rPr kumimoji="1" lang="en-US" altLang="ko-KR" dirty="0"/>
              <a:t>SELECT </a:t>
            </a:r>
            <a:r>
              <a:rPr kumimoji="1" lang="ko-KR" altLang="en-US" dirty="0"/>
              <a:t>문에 </a:t>
            </a:r>
            <a:r>
              <a:rPr kumimoji="1" lang="en-US" altLang="ko-KR" dirty="0"/>
              <a:t>LIMIT</a:t>
            </a:r>
            <a:r>
              <a:rPr kumimoji="1" lang="ko-KR" altLang="en-US" dirty="0"/>
              <a:t>을 조합하면 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예를 들면 </a:t>
            </a:r>
            <a:r>
              <a:rPr kumimoji="1" lang="en-US" altLang="ko-KR" b="1" dirty="0"/>
              <a:t>SELECT ~ FROM ORDER BY ~ LIMIT 10</a:t>
            </a:r>
            <a:r>
              <a:rPr kumimoji="1" lang="ko-KR" altLang="en-US" dirty="0"/>
              <a:t>과 같은 방식으로 </a:t>
            </a:r>
            <a:br>
              <a:rPr kumimoji="1" lang="en-US" altLang="ko-KR" dirty="0"/>
            </a:br>
            <a:r>
              <a:rPr kumimoji="1" lang="en-US" altLang="ko-KR" dirty="0"/>
              <a:t>LIMIT </a:t>
            </a:r>
            <a:r>
              <a:rPr kumimoji="1" lang="ko-KR" altLang="en-US" dirty="0"/>
              <a:t>다음에 조회하려는 행의 개수를 입력하면 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LIMIT</a:t>
            </a:r>
            <a:r>
              <a:rPr kumimoji="1" lang="ko-KR" altLang="en-US" dirty="0"/>
              <a:t>의 경우 상위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개의 데이터를 반환하므로 정렬 우선순위가 매우 중요함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 err="1"/>
              <a:t>store_id</a:t>
            </a:r>
            <a:r>
              <a:rPr kumimoji="1" lang="ko-KR" altLang="en-US" dirty="0"/>
              <a:t>는 내림차순으로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first_name</a:t>
            </a:r>
            <a:r>
              <a:rPr kumimoji="1" lang="ko-KR" altLang="en-US" dirty="0"/>
              <a:t>는 오름차순으로 정렬한 다음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상위 </a:t>
            </a:r>
            <a:r>
              <a:rPr kumimoji="1" lang="en-US" altLang="ko-KR" dirty="0"/>
              <a:t>10</a:t>
            </a:r>
            <a:r>
              <a:rPr kumimoji="1" lang="ko-KR" altLang="en-US" dirty="0"/>
              <a:t>개의 데이터를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42089580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6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457200" lvl="1" indent="0">
              <a:buClr>
                <a:srgbClr val="E47525"/>
              </a:buClr>
              <a:buNone/>
            </a:pPr>
            <a:br>
              <a:rPr kumimoji="1" lang="en-US" altLang="ko-KR" dirty="0"/>
            </a:br>
            <a:br>
              <a:rPr kumimoji="1" lang="en-US" altLang="ko-KR" dirty="0"/>
            </a:b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marL="457200" lvl="1" indent="0">
              <a:buClr>
                <a:srgbClr val="E47525"/>
              </a:buClr>
              <a:buNone/>
            </a:pPr>
            <a:br>
              <a:rPr kumimoji="1" lang="en-US" altLang="ko-KR" dirty="0"/>
            </a:b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상위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개의 데이터를 조회할 때는 특히 </a:t>
            </a:r>
            <a:r>
              <a:rPr kumimoji="1" lang="en-US" altLang="ko-KR" dirty="0"/>
              <a:t>ORDER BY </a:t>
            </a:r>
            <a:r>
              <a:rPr kumimoji="1" lang="ko-KR" altLang="en-US" dirty="0"/>
              <a:t>문을 사용하는 것이 좋음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만약 정렬하지 않으면 어떤 값을 기준으로 정렬해 </a:t>
            </a:r>
            <a:br>
              <a:rPr kumimoji="1" lang="en-US" altLang="ko-KR" dirty="0"/>
            </a:br>
            <a:r>
              <a:rPr kumimoji="1" lang="ko-KR" altLang="en-US" dirty="0"/>
              <a:t>상위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개의 데이터를 조회했는지 알 수 없기 때문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F979AD2-0DAE-1DA1-8529-F7438E8CFA07}"/>
              </a:ext>
            </a:extLst>
          </p:cNvPr>
          <p:cNvGrpSpPr/>
          <p:nvPr/>
        </p:nvGrpSpPr>
        <p:grpSpPr>
          <a:xfrm>
            <a:off x="1274995" y="2221930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8818087-7F90-C0B6-8CDA-DDC8F180C73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LIMIT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으로 상위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10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개의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EAEAC3C-09DF-6AA8-B05F-307B5ACEA239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store_id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DESC,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ASC LIMIT 10;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FE31397-D201-63F9-0B19-06009CC1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67" y="2943214"/>
            <a:ext cx="9915519" cy="251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617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범위를 지정해 데이터 조회하기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LIMIT </a:t>
            </a:r>
            <a:r>
              <a:rPr kumimoji="1" lang="ko-KR" altLang="en-US" dirty="0"/>
              <a:t>문에 매개변수 </a:t>
            </a:r>
            <a:r>
              <a:rPr kumimoji="1" lang="en-US" altLang="ko-KR" dirty="0"/>
              <a:t>1</a:t>
            </a:r>
            <a:r>
              <a:rPr kumimoji="1" lang="ko-KR" altLang="en-US" dirty="0"/>
              <a:t>개만 입력했을 때에는 지정한 열에서 상위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개만 조회함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그런데 </a:t>
            </a:r>
            <a:r>
              <a:rPr kumimoji="1" lang="en-US" altLang="ko-KR" dirty="0"/>
              <a:t>LIMIT</a:t>
            </a:r>
            <a:r>
              <a:rPr kumimoji="1" lang="ko-KR" altLang="en-US" dirty="0"/>
              <a:t>과 함께 매개변수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개를 입력하면 범위를 지정해 데이터를 조회할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예를 들어 </a:t>
            </a:r>
            <a:r>
              <a:rPr kumimoji="1" lang="en-US" altLang="ko-KR" dirty="0"/>
              <a:t>N1, N2</a:t>
            </a:r>
            <a:r>
              <a:rPr kumimoji="1" lang="ko-KR" altLang="en-US" dirty="0"/>
              <a:t>라는 매개변수를 입력했다면 </a:t>
            </a:r>
            <a:br>
              <a:rPr kumimoji="1" lang="en-US" altLang="ko-KR" dirty="0"/>
            </a:br>
            <a:r>
              <a:rPr kumimoji="1" lang="ko-KR" altLang="en-US" dirty="0"/>
              <a:t>상위 </a:t>
            </a:r>
            <a:r>
              <a:rPr kumimoji="1" lang="en-US" altLang="ko-KR" dirty="0"/>
              <a:t>N1 </a:t>
            </a:r>
            <a:r>
              <a:rPr kumimoji="1" lang="ko-KR" altLang="en-US" dirty="0"/>
              <a:t>다음 행부터 </a:t>
            </a:r>
            <a:r>
              <a:rPr kumimoji="1" lang="en-US" altLang="ko-KR" dirty="0"/>
              <a:t>N2</a:t>
            </a:r>
            <a:r>
              <a:rPr kumimoji="1" lang="ko-KR" altLang="en-US" dirty="0"/>
              <a:t>개의 행을 조회하게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8594050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범위를 지정해 데이터 조회하기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 쿼리는 </a:t>
            </a:r>
            <a:r>
              <a:rPr kumimoji="1" lang="en-US" altLang="ko-KR" dirty="0" err="1"/>
              <a:t>customer_id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오름차순한 뒤</a:t>
            </a:r>
            <a:r>
              <a:rPr kumimoji="1" lang="en-US" altLang="ko-KR" dirty="0"/>
              <a:t>, 101</a:t>
            </a:r>
            <a:r>
              <a:rPr kumimoji="1" lang="ko-KR" altLang="en-US" dirty="0"/>
              <a:t>번째 행부터 </a:t>
            </a:r>
            <a:r>
              <a:rPr kumimoji="1" lang="en-US" altLang="ko-KR" dirty="0"/>
              <a:t>10</a:t>
            </a:r>
            <a:r>
              <a:rPr kumimoji="1" lang="ko-KR" altLang="en-US" dirty="0"/>
              <a:t>개 행을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CED0C7-B1CA-28C1-9211-FE571669B96A}"/>
              </a:ext>
            </a:extLst>
          </p:cNvPr>
          <p:cNvGrpSpPr/>
          <p:nvPr/>
        </p:nvGrpSpPr>
        <p:grpSpPr>
          <a:xfrm>
            <a:off x="1956128" y="3514893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E6C7E63-0D37-F527-F02C-A5B4188C846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LIMIT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으로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101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번째부터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10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개의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F7E05DB-6071-D425-0CC9-B7402ED1294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customer_id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ASC LIMIT 100, 10;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2444FD4-9149-C985-1F9A-B9F8DDBCE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370" y="4203280"/>
            <a:ext cx="8418286" cy="226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29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OFFSET</a:t>
            </a:r>
            <a:r>
              <a:rPr kumimoji="1" lang="ko-KR" altLang="en-US" b="1" dirty="0"/>
              <a:t>으로 특정 구간의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ORDER BY</a:t>
            </a:r>
            <a:r>
              <a:rPr kumimoji="1" lang="ko-KR" altLang="en-US" dirty="0"/>
              <a:t>로 데이터를 정렬한 다음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상위나 하위가 아닌 특정 구간의 데이터를 조회해야 하는 경우도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이럴 때는 </a:t>
            </a:r>
            <a:r>
              <a:rPr kumimoji="1" lang="en-US" altLang="ko-KR" dirty="0"/>
              <a:t>LIMIT ~ OFFSET</a:t>
            </a:r>
            <a:r>
              <a:rPr kumimoji="1" lang="ko-KR" altLang="en-US" dirty="0"/>
              <a:t>을 사용함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OFFSET</a:t>
            </a:r>
            <a:r>
              <a:rPr kumimoji="1" lang="ko-KR" altLang="en-US" dirty="0"/>
              <a:t>에 지정한 행 개수만큼 건너뛰고 </a:t>
            </a:r>
            <a:br>
              <a:rPr kumimoji="1" lang="en-US" altLang="ko-KR" dirty="0"/>
            </a:br>
            <a:r>
              <a:rPr kumimoji="1" lang="en-US" altLang="ko-KR" dirty="0"/>
              <a:t>LIMIT</a:t>
            </a:r>
            <a:r>
              <a:rPr kumimoji="1" lang="ko-KR" altLang="en-US" dirty="0"/>
              <a:t>에 지정한 개수만큼의 상위 데이터를 출력함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11680028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OFFSET</a:t>
            </a:r>
            <a:r>
              <a:rPr kumimoji="1" lang="ko-KR" altLang="en-US" b="1" dirty="0"/>
              <a:t>으로 특정 구간의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 err="1"/>
              <a:t>customer_id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정렬한 다음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데이터 </a:t>
            </a:r>
            <a:r>
              <a:rPr kumimoji="1" lang="en-US" altLang="ko-KR" dirty="0"/>
              <a:t>100</a:t>
            </a:r>
            <a:r>
              <a:rPr kumimoji="1" lang="ko-KR" altLang="en-US" dirty="0"/>
              <a:t>개를 건너뛰고 </a:t>
            </a:r>
            <a:r>
              <a:rPr kumimoji="1" lang="en-US" altLang="ko-KR" dirty="0"/>
              <a:t>101</a:t>
            </a:r>
            <a:r>
              <a:rPr kumimoji="1" lang="ko-KR" altLang="en-US" dirty="0"/>
              <a:t>번째 데이터부터 행 </a:t>
            </a:r>
            <a:r>
              <a:rPr kumimoji="1" lang="en-US" altLang="ko-KR" dirty="0"/>
              <a:t>10</a:t>
            </a:r>
            <a:r>
              <a:rPr kumimoji="1" lang="ko-KR" altLang="en-US" dirty="0"/>
              <a:t>개를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8C5A38-6629-03B1-C0B5-A9AB655BF6E2}"/>
              </a:ext>
            </a:extLst>
          </p:cNvPr>
          <p:cNvGrpSpPr/>
          <p:nvPr/>
        </p:nvGrpSpPr>
        <p:grpSpPr>
          <a:xfrm>
            <a:off x="1956128" y="3839894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CB0371A-4357-4F46-4DBC-78DE157BCE49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데이터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100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개를 건너뛰고 데이터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10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개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C94D0A3-C99C-AB5F-EBD4-DF48E42380E7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customer_id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ASC LIMIT 10 OFFSET 100;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6F110334-C853-F216-689B-05E0B3802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84" y="4498982"/>
            <a:ext cx="7362043" cy="193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476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LIMIT</a:t>
            </a:r>
            <a:r>
              <a:rPr kumimoji="1" lang="ko-KR" altLang="en-US" dirty="0">
                <a:solidFill>
                  <a:srgbClr val="E47525"/>
                </a:solidFill>
              </a:rPr>
              <a:t>으로 상위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OFFSET</a:t>
            </a:r>
            <a:r>
              <a:rPr kumimoji="1" lang="ko-KR" altLang="en-US" b="1" dirty="0"/>
              <a:t>으로 특정 구간의 데이터 조회하기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OFFSET</a:t>
            </a:r>
            <a:r>
              <a:rPr kumimoji="1" lang="ko-KR" altLang="en-US" dirty="0"/>
              <a:t>은 반드시 </a:t>
            </a:r>
            <a:r>
              <a:rPr kumimoji="1" lang="en-US" altLang="ko-KR" dirty="0"/>
              <a:t>LIMIT </a:t>
            </a:r>
            <a:r>
              <a:rPr kumimoji="1" lang="ko-KR" altLang="en-US" dirty="0"/>
              <a:t>문을 함께 사용해야 한다는 점에 주의해야 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LIMIT</a:t>
            </a:r>
            <a:r>
              <a:rPr kumimoji="1" lang="ko-KR" altLang="en-US" dirty="0"/>
              <a:t>는 상위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 행을 반환하기 때문에 </a:t>
            </a:r>
            <a:br>
              <a:rPr kumimoji="1" lang="en-US" altLang="ko-KR" dirty="0"/>
            </a:br>
            <a:r>
              <a:rPr kumimoji="1" lang="ko-KR" altLang="en-US" dirty="0"/>
              <a:t>정렬 기준을 명확히 하기 위해 </a:t>
            </a:r>
            <a:br>
              <a:rPr kumimoji="1" lang="en-US" altLang="ko-KR" dirty="0"/>
            </a:br>
            <a:r>
              <a:rPr kumimoji="1" lang="en-US" altLang="ko-KR" dirty="0"/>
              <a:t>ORDER BY</a:t>
            </a:r>
            <a:r>
              <a:rPr kumimoji="1" lang="ko-KR" altLang="en-US" dirty="0"/>
              <a:t>를 반드시 함께 사용해야 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04-3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ORDER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정렬하기</a:t>
            </a:r>
          </a:p>
        </p:txBody>
      </p:sp>
    </p:spTree>
    <p:extLst>
      <p:ext uri="{BB962C8B-B14F-4D97-AF65-F5344CB8AC3E}">
        <p14:creationId xmlns:p14="http://schemas.microsoft.com/office/powerpoint/2010/main" val="15250740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en-US" altLang="ko-KR" dirty="0"/>
              <a:t>LIKE</a:t>
            </a:r>
            <a:r>
              <a:rPr kumimoji="1" lang="ko-KR" altLang="en-US" dirty="0"/>
              <a:t>는 와일드카드로 지정한 패턴과 일치하는 문자열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날짜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시간 등을 조회함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LIKE</a:t>
            </a:r>
            <a:r>
              <a:rPr kumimoji="1" lang="ko-KR" altLang="en-US" dirty="0"/>
              <a:t>의 기본 형식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5699C8-D138-1377-0B9D-DA8AFA80C112}"/>
              </a:ext>
            </a:extLst>
          </p:cNvPr>
          <p:cNvSpPr/>
          <p:nvPr/>
        </p:nvSpPr>
        <p:spPr>
          <a:xfrm>
            <a:off x="1503953" y="2869419"/>
            <a:ext cx="7843247" cy="8653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LIKE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의 기본 형식</a:t>
            </a:r>
            <a:endParaRPr lang="en-US" altLang="ko-KR" sz="1400" b="1" i="0" u="none" strike="noStrike" baseline="0" dirty="0">
              <a:solidFill>
                <a:schemeClr val="tx1"/>
              </a:solidFill>
            </a:endParaRPr>
          </a:p>
          <a:p>
            <a:pPr algn="just"/>
            <a:endParaRPr lang="ko-KR" altLang="en-US" sz="1400" b="1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FROM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테이블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WHERE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LIKE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 err="1">
                <a:solidFill>
                  <a:schemeClr val="tx1"/>
                </a:solidFill>
              </a:rPr>
              <a:t>조건값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</a:p>
          <a:p>
            <a:pPr algn="just"/>
            <a:r>
              <a:rPr lang="en-US" altLang="ko-KR" sz="1400" dirty="0">
                <a:solidFill>
                  <a:schemeClr val="tx1"/>
                </a:solidFill>
              </a:rPr>
              <a:t>                                                ①   ②      ③ </a:t>
            </a:r>
            <a:endParaRPr lang="ko-KR" altLang="en-US" sz="1200" i="0" strike="noStrike" baseline="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504F7B-01F3-E822-892B-5C5C39DC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53" y="3901209"/>
            <a:ext cx="3750007" cy="9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125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특정 문자열을 포함하는 문자열을 조회할 때 </a:t>
            </a:r>
            <a:r>
              <a:rPr kumimoji="1" lang="en-US" altLang="ko-KR" dirty="0"/>
              <a:t>%</a:t>
            </a:r>
            <a:r>
              <a:rPr kumimoji="1" lang="ko-KR" altLang="en-US" dirty="0"/>
              <a:t>를 사용함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%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0</a:t>
            </a:r>
            <a:r>
              <a:rPr kumimoji="1" lang="ko-KR" altLang="en-US" dirty="0"/>
              <a:t>개 이상의 문자열을 대치함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% </a:t>
            </a:r>
            <a:r>
              <a:rPr kumimoji="1" lang="ko-KR" altLang="en-US" dirty="0"/>
              <a:t>위치에 따라 특정 문자열이 포함된 문자열을 조회할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44CAF4-F9F9-A6DA-5BA6-4702BBF28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655" y="3681770"/>
            <a:ext cx="6482687" cy="150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34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</a:t>
            </a:r>
            <a:br>
              <a:rPr kumimoji="1" lang="en-US" altLang="ko-KR" dirty="0"/>
            </a:br>
            <a:r>
              <a:rPr kumimoji="1" lang="en-US" altLang="ko-KR" dirty="0"/>
              <a:t>A</a:t>
            </a:r>
            <a:r>
              <a:rPr kumimoji="1" lang="ko-KR" altLang="en-US" dirty="0"/>
              <a:t>로 시작하는 문자열 데이터를 조회하는 쿼리임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실행 결과를 살펴보면 </a:t>
            </a:r>
            <a:br>
              <a:rPr kumimoji="1" lang="en-US" altLang="ko-KR" dirty="0"/>
            </a:br>
            <a:r>
              <a:rPr kumimoji="1" lang="ko-KR" altLang="en-US" dirty="0"/>
              <a:t>첫 번째 글자가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시작하는 문자열이</a:t>
            </a:r>
            <a:br>
              <a:rPr kumimoji="1" lang="en-US" altLang="ko-KR" dirty="0"/>
            </a:br>
            <a:r>
              <a:rPr kumimoji="1" lang="ko-KR" altLang="en-US" dirty="0"/>
              <a:t>조회된 것을 확인할 수 있음 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</p:spTree>
    <p:extLst>
      <p:ext uri="{BB962C8B-B14F-4D97-AF65-F5344CB8AC3E}">
        <p14:creationId xmlns:p14="http://schemas.microsoft.com/office/powerpoint/2010/main" val="4529108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ECD697F-F999-235D-5DA1-C56512654E4A}"/>
              </a:ext>
            </a:extLst>
          </p:cNvPr>
          <p:cNvGrpSpPr/>
          <p:nvPr/>
        </p:nvGrpSpPr>
        <p:grpSpPr>
          <a:xfrm>
            <a:off x="1765059" y="2420527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8EF8E2B-8698-56FD-FE8C-60C9E116D261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첫 번째 글자가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시작하는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8EB9787-8EA5-4497-A562-27EA11CDEDE7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B8BB16A-817D-CFA0-CC12-336B1E74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59" y="3201389"/>
            <a:ext cx="8775510" cy="240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256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다음은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r>
              <a:rPr kumimoji="1" lang="en-US" altLang="ko-KR" dirty="0"/>
              <a:t>AA</a:t>
            </a:r>
            <a:r>
              <a:rPr kumimoji="1" lang="ko-KR" altLang="en-US" dirty="0"/>
              <a:t>로 시작하는 </a:t>
            </a:r>
            <a:br>
              <a:rPr kumimoji="1" lang="en-US" altLang="ko-KR" dirty="0"/>
            </a:br>
            <a:r>
              <a:rPr kumimoji="1" lang="ko-KR" altLang="en-US" dirty="0"/>
              <a:t>모든 문자열 데이터를 조회하는 </a:t>
            </a:r>
            <a:r>
              <a:rPr kumimoji="1" lang="ko-KR" altLang="en-US" dirty="0" err="1"/>
              <a:t>조회하는</a:t>
            </a:r>
            <a:r>
              <a:rPr kumimoji="1" lang="ko-KR" altLang="en-US" dirty="0"/>
              <a:t>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65059" y="3225745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첫 번째 글자가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시작하는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'AA%';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98D57D2-DCBC-219A-3BB2-2AC614DC5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59" y="3980039"/>
            <a:ext cx="9216007" cy="96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555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다음은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끝나는 </a:t>
            </a:r>
            <a:br>
              <a:rPr kumimoji="1" lang="en-US" altLang="ko-KR" dirty="0"/>
            </a:br>
            <a:r>
              <a:rPr kumimoji="1" lang="ko-KR" altLang="en-US" dirty="0"/>
              <a:t>모든 문자열 데이터를 조회하는 </a:t>
            </a:r>
            <a:r>
              <a:rPr kumimoji="1" lang="ko-KR" altLang="en-US" dirty="0" err="1"/>
              <a:t>조회하는</a:t>
            </a:r>
            <a:r>
              <a:rPr kumimoji="1" lang="ko-KR" altLang="en-US" dirty="0"/>
              <a:t>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65059" y="3225745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끝나는 모든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'%A';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D4A52189-CA7B-5432-55CD-89AB60FC4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63" y="3929993"/>
            <a:ext cx="7683638" cy="21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944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이번에는 같은 열에서 </a:t>
            </a:r>
            <a:r>
              <a:rPr kumimoji="1" lang="en-US" altLang="ko-KR" dirty="0"/>
              <a:t>RA</a:t>
            </a:r>
            <a:r>
              <a:rPr kumimoji="1" lang="ko-KR" altLang="en-US" dirty="0"/>
              <a:t>로 끝나는 모든 문자열 데이터를 조회하는 조회한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65059" y="2968570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RA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끝나는 모든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'%RA';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29E044E-B64F-499C-AFB8-183185F2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63" y="3680846"/>
            <a:ext cx="8611801" cy="244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923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en-US" altLang="ko-KR" dirty="0"/>
              <a:t>A</a:t>
            </a:r>
            <a:r>
              <a:rPr kumimoji="1" lang="ko-KR" altLang="en-US" dirty="0"/>
              <a:t>를 포함한 모든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데이터를 조회하는 쿼리도 입력해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65059" y="2964487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포함한 모든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'%A%';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03D4C2A-97E6-6EE7-0936-66F4FBE95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85" y="3654297"/>
            <a:ext cx="8407021" cy="242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505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특정 문자열을 포함하는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6"/>
            </a:pPr>
            <a:r>
              <a:rPr kumimoji="1" lang="ko-KR" altLang="en-US" dirty="0"/>
              <a:t>특정 문자열을 제외해 데이터를 조회하고 싶다면 </a:t>
            </a:r>
            <a:r>
              <a:rPr kumimoji="1" lang="en-US" altLang="ko-KR" dirty="0"/>
              <a:t>NOT</a:t>
            </a:r>
            <a:r>
              <a:rPr kumimoji="1" lang="ko-KR" altLang="en-US" dirty="0"/>
              <a:t>을 조합해 사용하면 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다음 예를 통해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시작하는 문자열을 제외한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데이터를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65059" y="3225745"/>
            <a:ext cx="684674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첫 번째 글자가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시작하지 않는 데이터만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NOT LIKE 'A%';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839D83C-9883-92B8-E294-EBB87EC8B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115" y="3903043"/>
            <a:ext cx="9007522" cy="230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42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LIKE</a:t>
            </a:r>
            <a:r>
              <a:rPr kumimoji="1" lang="ko-KR" altLang="en-US" dirty="0"/>
              <a:t>를 사용해 문자열에 특수 문자 </a:t>
            </a:r>
            <a:r>
              <a:rPr kumimoji="1" lang="en-US" altLang="ko-KR" dirty="0"/>
              <a:t>%</a:t>
            </a:r>
            <a:r>
              <a:rPr kumimoji="1" lang="ko-KR" altLang="en-US" dirty="0"/>
              <a:t>가 포함된 데이터를 검색하려면 어떻게 해야 할까</a:t>
            </a:r>
            <a:r>
              <a:rPr kumimoji="1" lang="en-US" altLang="ko-KR" dirty="0"/>
              <a:t>?</a:t>
            </a:r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%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예약어이므로</a:t>
            </a:r>
            <a:r>
              <a:rPr kumimoji="1" lang="ko-KR" altLang="en-US" dirty="0"/>
              <a:t> </a:t>
            </a:r>
            <a:r>
              <a:rPr kumimoji="1" lang="en-US" altLang="ko-KR" dirty="0"/>
              <a:t>%%</a:t>
            </a:r>
            <a:r>
              <a:rPr kumimoji="1" lang="ko-KR" altLang="en-US" dirty="0"/>
              <a:t>와 같이 입력하는 방법으로는 검색할 수 없음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%</a:t>
            </a:r>
            <a:r>
              <a:rPr kumimoji="1" lang="ko-KR" altLang="en-US" dirty="0"/>
              <a:t>를 포함한 데이터를 검색하고 싶다면 </a:t>
            </a:r>
            <a:r>
              <a:rPr kumimoji="1" lang="en-US" altLang="ko-KR" dirty="0"/>
              <a:t>ESCAPE</a:t>
            </a:r>
            <a:r>
              <a:rPr kumimoji="1" lang="ko-KR" altLang="en-US" dirty="0"/>
              <a:t>를 사용함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</p:spTree>
    <p:extLst>
      <p:ext uri="{BB962C8B-B14F-4D97-AF65-F5344CB8AC3E}">
        <p14:creationId xmlns:p14="http://schemas.microsoft.com/office/powerpoint/2010/main" val="12791837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먼저 </a:t>
            </a:r>
            <a:r>
              <a:rPr kumimoji="1" lang="en-US" altLang="ko-KR" dirty="0"/>
              <a:t>%</a:t>
            </a:r>
            <a:r>
              <a:rPr kumimoji="1" lang="ko-KR" altLang="en-US" dirty="0"/>
              <a:t>나 </a:t>
            </a:r>
            <a:r>
              <a:rPr kumimoji="1" lang="en-US" altLang="ko-KR" dirty="0"/>
              <a:t>_</a:t>
            </a:r>
            <a:r>
              <a:rPr kumimoji="1" lang="ko-KR" altLang="en-US" dirty="0"/>
              <a:t>와 같은 특수 기호를 포함한 </a:t>
            </a:r>
            <a:br>
              <a:rPr kumimoji="1" lang="en-US" altLang="ko-KR" dirty="0"/>
            </a:br>
            <a:r>
              <a:rPr kumimoji="1" lang="ko-KR" altLang="en-US" dirty="0"/>
              <a:t>임의의 테이블을 생성한 뒤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실습을 진행해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</a:t>
            </a:r>
            <a:r>
              <a:rPr kumimoji="1" lang="en-US" altLang="ko-KR" dirty="0"/>
              <a:t>, </a:t>
            </a:r>
            <a:r>
              <a:rPr kumimoji="1" lang="ko-KR" altLang="en-US" dirty="0"/>
              <a:t>공통 테이블 표현식을 활용해 이러한 테이블을 생성할 수 있음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다음과 같이 쿼리를 입력해 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65059" y="4151906"/>
            <a:ext cx="4330941" cy="2083230"/>
            <a:chOff x="1514900" y="4698129"/>
            <a:chExt cx="7319159" cy="144570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9"/>
              <a:ext cx="7319158" cy="2255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특수 문자를 포함한 임의의 테이블 생성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1" y="4923669"/>
              <a:ext cx="7319158" cy="122016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WITH CTE (col_1) AS (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'A%BC'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'A_BC'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'ABC'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CTE;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7A6D4B8-572C-7180-F747-FF0634896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068" y="4990114"/>
            <a:ext cx="1510434" cy="124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020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이 테이블에서 특수 문자 </a:t>
            </a:r>
            <a:r>
              <a:rPr kumimoji="1" lang="en-US" altLang="ko-KR" dirty="0"/>
              <a:t>%</a:t>
            </a:r>
            <a:r>
              <a:rPr kumimoji="1" lang="ko-KR" altLang="en-US" dirty="0"/>
              <a:t>가 들어간 데이터를 조회해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다음과 같이 쿼리를 작성해 실행하면 어떻게 될까</a:t>
            </a:r>
            <a:r>
              <a:rPr kumimoji="1" lang="en-US" altLang="ko-KR" dirty="0"/>
              <a:t>?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801453" y="3180280"/>
            <a:ext cx="4330941" cy="2110177"/>
            <a:chOff x="1514900" y="4698129"/>
            <a:chExt cx="7319159" cy="146440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9"/>
              <a:ext cx="7319158" cy="2255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특수 문자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%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포함한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2" y="4923669"/>
              <a:ext cx="7319157" cy="123886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WITH CTE (col_1) AS (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'A%BC'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'A_BC'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'ABC’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CTE WHERE col_1 LIKE '%';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A9E4E0D-1820-8371-D9D8-109BBA743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697" y="3814301"/>
            <a:ext cx="1651812" cy="135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132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그런데 이 결과는 우리가 원한 결과가 아님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이런 결과가 나온 이유는 </a:t>
            </a:r>
            <a:r>
              <a:rPr kumimoji="1" lang="en-US" altLang="ko-KR" dirty="0"/>
              <a:t>% </a:t>
            </a:r>
            <a:r>
              <a:rPr kumimoji="1" lang="ko-KR" altLang="en-US" dirty="0"/>
              <a:t>기호는 검색할 수 있는 값이 아니라 </a:t>
            </a:r>
            <a:br>
              <a:rPr kumimoji="1" lang="en-US" altLang="ko-KR" dirty="0"/>
            </a:br>
            <a:r>
              <a:rPr kumimoji="1" lang="en-US" altLang="ko-KR" dirty="0"/>
              <a:t>0</a:t>
            </a:r>
            <a:r>
              <a:rPr kumimoji="1" lang="ko-KR" altLang="en-US" dirty="0"/>
              <a:t>개 이상의 문자를 의미하는 </a:t>
            </a:r>
            <a:r>
              <a:rPr kumimoji="1" lang="ko-KR" altLang="en-US" dirty="0" err="1"/>
              <a:t>예약어이기</a:t>
            </a:r>
            <a:r>
              <a:rPr kumimoji="1" lang="ko-KR" altLang="en-US" dirty="0"/>
              <a:t> 때문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% </a:t>
            </a:r>
            <a:r>
              <a:rPr kumimoji="1" lang="ko-KR" altLang="en-US" dirty="0"/>
              <a:t>기호가 포함된 데이터인 </a:t>
            </a:r>
            <a:r>
              <a:rPr kumimoji="1" lang="en-US" altLang="ko-KR" dirty="0"/>
              <a:t>A%BC</a:t>
            </a:r>
            <a:r>
              <a:rPr kumimoji="1" lang="ko-KR" altLang="en-US" dirty="0"/>
              <a:t>를 조회하려면 어떻게 해야 할까</a:t>
            </a:r>
            <a:r>
              <a:rPr kumimoji="1" lang="en-US" altLang="ko-KR" dirty="0"/>
              <a:t>? </a:t>
            </a:r>
            <a:br>
              <a:rPr kumimoji="1" lang="en-US" altLang="ko-KR" dirty="0"/>
            </a:br>
            <a:r>
              <a:rPr kumimoji="1" lang="en-US" altLang="ko-KR" dirty="0"/>
              <a:t>ESCAPE</a:t>
            </a:r>
            <a:r>
              <a:rPr kumimoji="1" lang="ko-KR" altLang="en-US" dirty="0"/>
              <a:t>를 이용하면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7A177F-ACEE-A43D-52A3-F242B9ADFEB8}"/>
              </a:ext>
            </a:extLst>
          </p:cNvPr>
          <p:cNvGrpSpPr/>
          <p:nvPr/>
        </p:nvGrpSpPr>
        <p:grpSpPr>
          <a:xfrm>
            <a:off x="1774158" y="4359772"/>
            <a:ext cx="5663872" cy="2157144"/>
            <a:chOff x="1514900" y="4698129"/>
            <a:chExt cx="7319159" cy="149699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FBCF1F-1F22-BC83-BA10-0357F8B3817D}"/>
                </a:ext>
              </a:extLst>
            </p:cNvPr>
            <p:cNvSpPr/>
            <p:nvPr/>
          </p:nvSpPr>
          <p:spPr>
            <a:xfrm>
              <a:off x="1514900" y="4698129"/>
              <a:ext cx="7319158" cy="2255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ESCAPE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특수 문자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%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포함한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5372BC2-C500-AACB-D039-4D927B5BEF6C}"/>
                </a:ext>
              </a:extLst>
            </p:cNvPr>
            <p:cNvSpPr/>
            <p:nvPr/>
          </p:nvSpPr>
          <p:spPr>
            <a:xfrm>
              <a:off x="1514903" y="4923669"/>
              <a:ext cx="7319156" cy="127145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WITH CTE (col_1) AS (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'A%BC'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'A_BC'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'ABC’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CTE WHERE col_1 LIKE '%#%%' ESCAPE '#';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05111256-F22B-F705-EE8E-4B0C031E6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987" y="5752604"/>
            <a:ext cx="1441765" cy="6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257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쿼리를 실행할 때 </a:t>
            </a:r>
            <a:r>
              <a:rPr kumimoji="1" lang="en-US" altLang="ko-KR" dirty="0"/>
              <a:t>ESCAPE </a:t>
            </a:r>
            <a:r>
              <a:rPr kumimoji="1" lang="ko-KR" altLang="en-US" dirty="0"/>
              <a:t>문이 </a:t>
            </a:r>
            <a:r>
              <a:rPr kumimoji="1" lang="en-US" altLang="ko-KR" dirty="0"/>
              <a:t>#</a:t>
            </a:r>
            <a:r>
              <a:rPr kumimoji="1" lang="ko-KR" altLang="en-US" dirty="0"/>
              <a:t>을 제거해 </a:t>
            </a:r>
            <a:br>
              <a:rPr kumimoji="1" lang="en-US" altLang="ko-KR" dirty="0"/>
            </a:br>
            <a:r>
              <a:rPr kumimoji="1" lang="ko-KR" altLang="en-US" dirty="0"/>
              <a:t>쿼리 명령 단계에서는 </a:t>
            </a:r>
            <a:r>
              <a:rPr kumimoji="1" lang="en-US" altLang="ko-KR" dirty="0"/>
              <a:t>%#%%</a:t>
            </a:r>
            <a:r>
              <a:rPr kumimoji="1" lang="ko-KR" altLang="en-US" dirty="0"/>
              <a:t>이 호출되고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실제 실행할 때는 </a:t>
            </a:r>
            <a:r>
              <a:rPr kumimoji="1" lang="en-US" altLang="ko-KR" dirty="0"/>
              <a:t>%%%</a:t>
            </a:r>
            <a:r>
              <a:rPr kumimoji="1" lang="ko-KR" altLang="en-US" dirty="0"/>
              <a:t>로 해석되어 </a:t>
            </a:r>
            <a:br>
              <a:rPr kumimoji="1" lang="en-US" altLang="ko-KR" dirty="0"/>
            </a:br>
            <a:r>
              <a:rPr kumimoji="1" lang="en-US" altLang="ko-KR" dirty="0"/>
              <a:t>%</a:t>
            </a:r>
            <a:r>
              <a:rPr kumimoji="1" lang="ko-KR" altLang="en-US" dirty="0"/>
              <a:t>를 포함하는 앞뒤 어떠한 문자가 와도 상관없는 데이터가 검색되는 것임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</p:spTree>
    <p:extLst>
      <p:ext uri="{BB962C8B-B14F-4D97-AF65-F5344CB8AC3E}">
        <p14:creationId xmlns:p14="http://schemas.microsoft.com/office/powerpoint/2010/main" val="33728154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en-US" altLang="ko-KR" dirty="0"/>
              <a:t>ESCAPE</a:t>
            </a:r>
            <a:r>
              <a:rPr kumimoji="1" lang="ko-KR" altLang="en-US" dirty="0"/>
              <a:t>에 사용할 특수문자는 </a:t>
            </a:r>
            <a:r>
              <a:rPr kumimoji="1" lang="en-US" altLang="ko-KR" dirty="0"/>
              <a:t># </a:t>
            </a:r>
            <a:r>
              <a:rPr kumimoji="1" lang="ko-KR" altLang="en-US" dirty="0"/>
              <a:t>외에 </a:t>
            </a:r>
            <a:r>
              <a:rPr kumimoji="1" lang="en-US" altLang="ko-KR" dirty="0"/>
              <a:t>&amp;, !, / </a:t>
            </a:r>
            <a:r>
              <a:rPr kumimoji="1" lang="ko-KR" altLang="en-US" dirty="0"/>
              <a:t>등 다른 것도 쓸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다만 해당 문자가 데이터에 쓰이지 않는 것이어야 </a:t>
            </a:r>
            <a:br>
              <a:rPr kumimoji="1" lang="en-US" altLang="ko-KR" dirty="0"/>
            </a:br>
            <a:r>
              <a:rPr kumimoji="1" lang="ko-KR" altLang="en-US" dirty="0"/>
              <a:t>의도하지 않은 데이터 오류를 방지할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003114E-A0ED-7A3A-E857-D9665CCD24CC}"/>
              </a:ext>
            </a:extLst>
          </p:cNvPr>
          <p:cNvGrpSpPr/>
          <p:nvPr/>
        </p:nvGrpSpPr>
        <p:grpSpPr>
          <a:xfrm>
            <a:off x="1765059" y="3840762"/>
            <a:ext cx="6846742" cy="1997936"/>
            <a:chOff x="1514900" y="4698128"/>
            <a:chExt cx="9471548" cy="138651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EFABA4F-8984-B215-2517-E1BEF91C9CB8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ESCAPE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!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특수 문자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%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포함한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B5DDAFC-E938-0EC2-31A1-5973053AA1C8}"/>
                </a:ext>
              </a:extLst>
            </p:cNvPr>
            <p:cNvSpPr/>
            <p:nvPr/>
          </p:nvSpPr>
          <p:spPr>
            <a:xfrm>
              <a:off x="1514900" y="4923670"/>
              <a:ext cx="9471548" cy="11609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WITH CTE (col_1) AS (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'A%BC'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'A_BC' UNION ALL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'ABC'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CTE WHERE col_1 LIKE '%!%%' ESCAPE '!';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E74DD44-21E5-7D6F-5E4F-44E351D7F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480" y="5083268"/>
            <a:ext cx="1528610" cy="79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446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ESCAPE</a:t>
            </a:r>
            <a:r>
              <a:rPr kumimoji="1" lang="ko-KR" altLang="en-US" dirty="0">
                <a:solidFill>
                  <a:srgbClr val="E47525"/>
                </a:solidFill>
              </a:rPr>
              <a:t>로 특수 문자를 포함한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이와 같이 </a:t>
            </a:r>
            <a:r>
              <a:rPr kumimoji="1" lang="en-US" altLang="ko-KR" dirty="0"/>
              <a:t>#</a:t>
            </a:r>
            <a:r>
              <a:rPr kumimoji="1" lang="ko-KR" altLang="en-US" dirty="0"/>
              <a:t>이 아닌 </a:t>
            </a:r>
            <a:r>
              <a:rPr kumimoji="1" lang="en-US" altLang="ko-KR" dirty="0"/>
              <a:t>!</a:t>
            </a:r>
            <a:r>
              <a:rPr kumimoji="1" lang="ko-KR" altLang="en-US" dirty="0"/>
              <a:t>로도 원하는 데이터를 조회할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 과정을 쪼개서 살펴보면 좀 더 이해가 쉬움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DF222E-3BA5-A701-9259-9B6F1C5F8724}"/>
              </a:ext>
            </a:extLst>
          </p:cNvPr>
          <p:cNvSpPr/>
          <p:nvPr/>
        </p:nvSpPr>
        <p:spPr>
          <a:xfrm>
            <a:off x="1763261" y="3608870"/>
            <a:ext cx="6578175" cy="7057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명령어가 전달될 때</a:t>
            </a:r>
          </a:p>
          <a:p>
            <a:pPr algn="just"/>
            <a:endParaRPr lang="en-US" altLang="ko-KR" sz="1400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* FROM CTE WHERE col_1 LIKE </a:t>
            </a:r>
            <a:r>
              <a:rPr lang="en-US" altLang="ko-KR" sz="1400" i="0" u="none" strike="noStrike" baseline="0" dirty="0">
                <a:solidFill>
                  <a:srgbClr val="E47525"/>
                </a:solidFill>
              </a:rPr>
              <a:t>'%!%%'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ESCAPE '!';</a:t>
            </a:r>
            <a:endParaRPr lang="ko-KR" altLang="en-US" sz="1200" i="0" u="none" strike="noStrike" baseline="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ED3977-A194-ACD1-A107-923B8D889A24}"/>
              </a:ext>
            </a:extLst>
          </p:cNvPr>
          <p:cNvSpPr/>
          <p:nvPr/>
        </p:nvSpPr>
        <p:spPr>
          <a:xfrm>
            <a:off x="1763261" y="4466496"/>
            <a:ext cx="6578175" cy="7057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데이터베이스 엔진이 </a:t>
            </a:r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SQL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명령을 수행할 때</a:t>
            </a:r>
          </a:p>
          <a:p>
            <a:pPr algn="just"/>
            <a:endParaRPr lang="en-US" altLang="ko-KR" sz="1400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* FROM CTE WHERE col_1 LIKE</a:t>
            </a:r>
            <a:r>
              <a:rPr lang="en-US" altLang="ko-KR" sz="1400" i="0" u="none" strike="noStrike" baseline="0" dirty="0">
                <a:solidFill>
                  <a:srgbClr val="E47525"/>
                </a:solidFill>
              </a:rPr>
              <a:t> '%%%';</a:t>
            </a:r>
            <a:endParaRPr lang="ko-KR" altLang="en-US" sz="1200" i="0" u="none" strike="noStrike" baseline="0" dirty="0">
              <a:solidFill>
                <a:srgbClr val="E475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897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로 길이가 정해진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%</a:t>
            </a:r>
            <a:r>
              <a:rPr kumimoji="1" lang="ko-KR" altLang="en-US" dirty="0"/>
              <a:t>는 특정 문자열을 포함하는 데이터를 검색함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특정 문자열을 포함하면서 문자열의 길이도 정해 </a:t>
            </a:r>
            <a:br>
              <a:rPr kumimoji="1" lang="en-US" altLang="ko-KR" dirty="0"/>
            </a:br>
            <a:r>
              <a:rPr kumimoji="1" lang="ko-KR" altLang="en-US" dirty="0"/>
              <a:t>데이터를 검색하려면 </a:t>
            </a:r>
            <a:r>
              <a:rPr kumimoji="1" lang="en-US" altLang="ko-KR" dirty="0"/>
              <a:t>_</a:t>
            </a:r>
            <a:r>
              <a:rPr kumimoji="1" lang="ko-KR" altLang="en-US" dirty="0"/>
              <a:t>를 사용함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%</a:t>
            </a:r>
            <a:r>
              <a:rPr kumimoji="1" lang="ko-KR" altLang="en-US" dirty="0"/>
              <a:t>만 사용하면 검색된 데이터의 양이 많아 </a:t>
            </a:r>
            <a:br>
              <a:rPr kumimoji="1" lang="en-US" altLang="ko-KR" dirty="0"/>
            </a:br>
            <a:r>
              <a:rPr kumimoji="1" lang="ko-KR" altLang="en-US" dirty="0"/>
              <a:t>원하는 데이터를 빠르게 찾지 못할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CDB4F8-9C14-E6F4-F316-EDD25F25C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40" y="4941201"/>
            <a:ext cx="6206712" cy="144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071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로 길이가 정해진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A</a:t>
            </a:r>
            <a:r>
              <a:rPr kumimoji="1" lang="ko-KR" altLang="en-US" dirty="0"/>
              <a:t>로 시작하면서 뒤의 글자가 하나 있는 문자열을</a:t>
            </a:r>
            <a:br>
              <a:rPr kumimoji="1" lang="en-US" altLang="ko-KR" dirty="0"/>
            </a:b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24117" y="3284220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시작하면서 문자열 길이가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2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'A_';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FB105DB-7E5F-EC75-5A1F-4C1922B3E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117" y="3992903"/>
            <a:ext cx="6096000" cy="7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681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로 길이가 정해진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시작하면서 문자열 길이가 </a:t>
            </a:r>
            <a:br>
              <a:rPr kumimoji="1" lang="en-US" altLang="ko-KR" dirty="0"/>
            </a:br>
            <a:r>
              <a:rPr kumimoji="1" lang="en-US" altLang="ko-KR" dirty="0"/>
              <a:t>3</a:t>
            </a:r>
            <a:r>
              <a:rPr kumimoji="1" lang="ko-KR" altLang="en-US" dirty="0"/>
              <a:t>인 데이터를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조회함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조건에 맞는 행이 있어서 다음과 같이 </a:t>
            </a:r>
            <a:r>
              <a:rPr kumimoji="1" lang="en-US" altLang="ko-KR" dirty="0"/>
              <a:t>3</a:t>
            </a:r>
            <a:r>
              <a:rPr kumimoji="1" lang="ko-KR" altLang="en-US" dirty="0"/>
              <a:t>건이 출력됨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24117" y="3429000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시작하면서 문자열 길이가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3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'A__';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EDFB67C-D4CB-9404-75BF-9F3F1635A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81" y="4120812"/>
            <a:ext cx="8925636" cy="112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902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로 길이가 정해진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반대로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끝나면서 문자열 길이가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인 데이터를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24117" y="2924033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끝나면서 문자열 길이가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3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'__A';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4EDF34A-6C0D-FCD4-09A5-24F0C4D79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1" y="3710218"/>
            <a:ext cx="9717206" cy="119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539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로 길이가 정해진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en-US" altLang="ko-KR" dirty="0"/>
              <a:t>A</a:t>
            </a:r>
            <a:r>
              <a:rPr kumimoji="1" lang="ko-KR" altLang="en-US" dirty="0"/>
              <a:t>로 시작하고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끝나면서 문자열 길이가 </a:t>
            </a:r>
            <a:r>
              <a:rPr kumimoji="1" lang="en-US" altLang="ko-KR" dirty="0"/>
              <a:t>4</a:t>
            </a:r>
            <a:r>
              <a:rPr kumimoji="1" lang="ko-KR" altLang="en-US" dirty="0"/>
              <a:t>인 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24117" y="2924033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시작하고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끝나면서 문자열 길이가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4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'A__A';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594A8EA-DA9D-68B2-C53D-8A517D6A5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91" y="3674710"/>
            <a:ext cx="9621672" cy="97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574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LIKE</a:t>
            </a:r>
            <a:r>
              <a:rPr kumimoji="1" lang="ko-KR" altLang="en-US" dirty="0">
                <a:solidFill>
                  <a:srgbClr val="E47525"/>
                </a:solidFill>
              </a:rPr>
              <a:t>와 </a:t>
            </a: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로 길이가 정해진 데이터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다음과 같이 </a:t>
            </a:r>
            <a:r>
              <a:rPr kumimoji="1" lang="en-US" altLang="ko-KR" dirty="0"/>
              <a:t>5</a:t>
            </a:r>
            <a:r>
              <a:rPr kumimoji="1" lang="ko-KR" altLang="en-US" dirty="0"/>
              <a:t>글자인 이름을 찾으려면 </a:t>
            </a:r>
            <a:r>
              <a:rPr kumimoji="1" lang="en-US" altLang="ko-KR" dirty="0"/>
              <a:t>_ </a:t>
            </a:r>
            <a:r>
              <a:rPr kumimoji="1" lang="ko-KR" altLang="en-US" dirty="0"/>
              <a:t>문자를 </a:t>
            </a:r>
            <a:r>
              <a:rPr kumimoji="1" lang="en-US" altLang="ko-KR" dirty="0"/>
              <a:t>5</a:t>
            </a:r>
            <a:r>
              <a:rPr kumimoji="1" lang="ko-KR" altLang="en-US" dirty="0"/>
              <a:t>번 입력해 데이터를 조회할 수도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24117" y="2924033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문자열 길이가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5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'_____';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E5F998-30CA-52CD-9F9D-EB432A55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173" y="3647513"/>
            <a:ext cx="8372120" cy="238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458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과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문자열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특정 문자열을 포함하고 길이가 정해진 데이터를 조회하려면 </a:t>
            </a:r>
            <a:br>
              <a:rPr kumimoji="1" lang="en-US" altLang="ko-KR" dirty="0"/>
            </a:br>
            <a:r>
              <a:rPr kumimoji="1" lang="en-US" altLang="ko-KR" dirty="0"/>
              <a:t>_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%</a:t>
            </a:r>
            <a:r>
              <a:rPr kumimoji="1" lang="ko-KR" altLang="en-US" dirty="0"/>
              <a:t>를 조합해 사용하면 됨</a:t>
            </a: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5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 </a:t>
            </a:r>
            <a:r>
              <a:rPr kumimoji="1" lang="en-US" altLang="ko-KR" dirty="0"/>
              <a:t>A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R </a:t>
            </a:r>
            <a:r>
              <a:rPr kumimoji="1" lang="ko-KR" altLang="en-US" dirty="0"/>
              <a:t>사이에 한 글자를 포함하여 시작하면서 </a:t>
            </a:r>
            <a:br>
              <a:rPr kumimoji="1" lang="en-US" altLang="ko-KR" dirty="0"/>
            </a:br>
            <a:r>
              <a:rPr kumimoji="1" lang="ko-KR" altLang="en-US" dirty="0"/>
              <a:t>이후 문자열은 어떤 문자열이라도 상관없는 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37764" y="4198365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A_R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시작하는 문자열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'A_R%';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550020D3-AFB1-1F2F-6BAC-F6D15EABC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172" y="4892339"/>
            <a:ext cx="8120418" cy="98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521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과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문자열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R </a:t>
            </a:r>
            <a:r>
              <a:rPr kumimoji="1" lang="ko-KR" altLang="en-US" dirty="0"/>
              <a:t>앞에 두 글자를 포함하여 시작하면서 </a:t>
            </a:r>
            <a:br>
              <a:rPr kumimoji="1" lang="en-US" altLang="ko-KR" dirty="0"/>
            </a:br>
            <a:r>
              <a:rPr kumimoji="1" lang="ko-KR" altLang="en-US" dirty="0"/>
              <a:t>이후 문자열은 어떤 문자열이라도 상관없는 데이터를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65059" y="3202079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__R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시작하는 문자열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'__R%';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24290583-CCCA-E669-0456-262BB3625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940" y="3951282"/>
            <a:ext cx="8678057" cy="185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082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_</a:t>
            </a:r>
            <a:r>
              <a:rPr kumimoji="1" lang="ko-KR" altLang="en-US" dirty="0">
                <a:solidFill>
                  <a:srgbClr val="E47525"/>
                </a:solidFill>
              </a:rPr>
              <a:t>과 </a:t>
            </a:r>
            <a:r>
              <a:rPr kumimoji="1" lang="en-US" altLang="ko-KR" dirty="0">
                <a:solidFill>
                  <a:srgbClr val="E47525"/>
                </a:solidFill>
              </a:rPr>
              <a:t>%</a:t>
            </a:r>
            <a:r>
              <a:rPr kumimoji="1" lang="ko-KR" altLang="en-US" dirty="0">
                <a:solidFill>
                  <a:srgbClr val="E47525"/>
                </a:solidFill>
              </a:rPr>
              <a:t>로 문자열 조회하기</a:t>
            </a:r>
            <a:endParaRPr kumimoji="1" lang="en-US" altLang="ko-KR" dirty="0">
              <a:solidFill>
                <a:srgbClr val="E47525"/>
              </a:solidFill>
            </a:endParaRPr>
          </a:p>
          <a:p>
            <a:pPr lvl="1">
              <a:buClr>
                <a:srgbClr val="E47525"/>
              </a:buClr>
            </a:pP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A</a:t>
            </a:r>
            <a:r>
              <a:rPr kumimoji="1" lang="ko-KR" altLang="en-US" dirty="0"/>
              <a:t>로 시작하고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마지막은 </a:t>
            </a:r>
            <a:r>
              <a:rPr kumimoji="1" lang="en-US" altLang="ko-KR" dirty="0"/>
              <a:t>R</a:t>
            </a:r>
            <a:r>
              <a:rPr kumimoji="1" lang="ko-KR" altLang="en-US" dirty="0"/>
              <a:t>과 함께 </a:t>
            </a:r>
            <a:br>
              <a:rPr kumimoji="1" lang="en-US" altLang="ko-KR" dirty="0"/>
            </a:br>
            <a:r>
              <a:rPr kumimoji="1" lang="ko-KR" altLang="en-US" dirty="0"/>
              <a:t>마지막 한 글자가 더 있는 문자열 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E37D6F-C1EA-5EC0-061C-8DF5D1FE6E47}"/>
              </a:ext>
            </a:extLst>
          </p:cNvPr>
          <p:cNvGrpSpPr/>
          <p:nvPr/>
        </p:nvGrpSpPr>
        <p:grpSpPr>
          <a:xfrm>
            <a:off x="1765059" y="3202079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D927276-BED5-7573-ACE4-14CF6CD74A6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A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시작하면서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R_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로 끝나는 문자열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49669D-DE93-2055-E2DE-B9320DE1D07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'A%R_';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F33535A-CAE0-EE79-4F61-1FE0E50E2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11" y="3929078"/>
            <a:ext cx="7694636" cy="9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695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REGEXP</a:t>
            </a:r>
            <a:r>
              <a:rPr kumimoji="1" lang="ko-KR" altLang="en-US" dirty="0">
                <a:solidFill>
                  <a:srgbClr val="E47525"/>
                </a:solidFill>
              </a:rPr>
              <a:t>로 더 다양하게 데이터 조회하기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MySQL</a:t>
            </a:r>
            <a:r>
              <a:rPr kumimoji="1" lang="ko-KR" altLang="en-US" dirty="0"/>
              <a:t>에서는 정규 표현식</a:t>
            </a:r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(regular expression)</a:t>
            </a:r>
            <a:r>
              <a:rPr kumimoji="1" lang="ko-KR" altLang="en-US" dirty="0"/>
              <a:t>을 의미하는 </a:t>
            </a:r>
            <a:r>
              <a:rPr kumimoji="1" lang="en-US" altLang="ko-KR" dirty="0"/>
              <a:t>REGEXP</a:t>
            </a:r>
            <a:r>
              <a:rPr kumimoji="1" lang="ko-KR" altLang="en-US" dirty="0"/>
              <a:t>으로 </a:t>
            </a:r>
            <a:br>
              <a:rPr kumimoji="1" lang="en-US" altLang="ko-KR" dirty="0"/>
            </a:br>
            <a:r>
              <a:rPr kumimoji="1" lang="ko-KR" altLang="en-US" dirty="0"/>
              <a:t>더 다양한 방법으로 문자열을 검색할 수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정규 표현식은 특정한 패턴의 문자열을 표현하기 위해 사용함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</p:spTree>
    <p:extLst>
      <p:ext uri="{BB962C8B-B14F-4D97-AF65-F5344CB8AC3E}">
        <p14:creationId xmlns:p14="http://schemas.microsoft.com/office/powerpoint/2010/main" val="21405999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REGEXP</a:t>
            </a:r>
            <a:r>
              <a:rPr kumimoji="1" lang="ko-KR" altLang="en-US" dirty="0">
                <a:solidFill>
                  <a:srgbClr val="E47525"/>
                </a:solidFill>
              </a:rPr>
              <a:t>로 더 다양하게 데이터 조회하기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MySQL</a:t>
            </a:r>
            <a:r>
              <a:rPr kumimoji="1" lang="ko-KR" altLang="en-US" dirty="0"/>
              <a:t>에서 지원하는 정규 표현식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66BC0E-0376-F256-E59C-55B72678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05" y="2980650"/>
            <a:ext cx="4062982" cy="293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390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REGEXP</a:t>
            </a:r>
            <a:r>
              <a:rPr kumimoji="1" lang="ko-KR" altLang="en-US" dirty="0">
                <a:solidFill>
                  <a:srgbClr val="E47525"/>
                </a:solidFill>
              </a:rPr>
              <a:t>로 더 다양하게 데이터 조회하기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정규 표현식을 사용해 </a:t>
            </a:r>
            <a:r>
              <a:rPr kumimoji="1" lang="en-US" altLang="ko-KR" dirty="0"/>
              <a:t>customer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first_name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en-US" altLang="ko-KR" dirty="0"/>
              <a:t>K</a:t>
            </a:r>
            <a:r>
              <a:rPr kumimoji="1" lang="ko-KR" altLang="en-US" dirty="0"/>
              <a:t>로 시작하거나 </a:t>
            </a:r>
            <a:r>
              <a:rPr kumimoji="1" lang="en-US" altLang="ko-KR" dirty="0"/>
              <a:t>N</a:t>
            </a:r>
            <a:r>
              <a:rPr kumimoji="1" lang="ko-KR" altLang="en-US" dirty="0"/>
              <a:t>으로 끝나는 데이터를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57C8FFF-7CCD-1749-8E1B-66D7102FC17F}"/>
              </a:ext>
            </a:extLst>
          </p:cNvPr>
          <p:cNvGrpSpPr/>
          <p:nvPr/>
        </p:nvGrpSpPr>
        <p:grpSpPr>
          <a:xfrm>
            <a:off x="1765059" y="3202079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FF189A9-DE42-C9E4-0952-807EFA948E9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^, |, $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사용해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39FC22-1F28-76E5-A0D6-3381F34BFEF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REGEXP '^K|N$';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5EADE6F-AB87-715D-1DD7-03CB3D42F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467" y="3879377"/>
            <a:ext cx="7833815" cy="226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5994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REGEXP</a:t>
            </a:r>
            <a:r>
              <a:rPr kumimoji="1" lang="ko-KR" altLang="en-US" dirty="0">
                <a:solidFill>
                  <a:srgbClr val="E47525"/>
                </a:solidFill>
              </a:rPr>
              <a:t>로 더 다양하게 데이터 조회하기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</a:t>
            </a:r>
            <a:r>
              <a:rPr kumimoji="1" lang="en-US" altLang="ko-KR" dirty="0"/>
              <a:t>K</a:t>
            </a:r>
            <a:r>
              <a:rPr kumimoji="1" lang="ko-KR" altLang="en-US" dirty="0"/>
              <a:t>와 함께 </a:t>
            </a:r>
            <a:r>
              <a:rPr kumimoji="1" lang="en-US" altLang="ko-KR" dirty="0"/>
              <a:t>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N </a:t>
            </a:r>
            <a:r>
              <a:rPr kumimoji="1" lang="ko-KR" altLang="en-US" dirty="0"/>
              <a:t>사이의 글자를 포함한 데이터를 조회해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결과를 살펴보면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문자열 데이터에서 </a:t>
            </a:r>
            <a:br>
              <a:rPr kumimoji="1" lang="en-US" altLang="ko-KR" dirty="0"/>
            </a:br>
            <a:r>
              <a:rPr kumimoji="1" lang="en-US" altLang="ko-KR" dirty="0"/>
              <a:t>K </a:t>
            </a:r>
            <a:r>
              <a:rPr kumimoji="1" lang="ko-KR" altLang="en-US" dirty="0"/>
              <a:t>뒤에 </a:t>
            </a:r>
            <a:r>
              <a:rPr kumimoji="1" lang="en-US" altLang="ko-KR" dirty="0"/>
              <a:t>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N</a:t>
            </a:r>
            <a:r>
              <a:rPr kumimoji="1" lang="ko-KR" altLang="en-US" dirty="0"/>
              <a:t>사이의 글자가 포함되어 있는 데이터를 검색하여 결과를 보여줌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57C8FFF-7CCD-1749-8E1B-66D7102FC17F}"/>
              </a:ext>
            </a:extLst>
          </p:cNvPr>
          <p:cNvGrpSpPr/>
          <p:nvPr/>
        </p:nvGrpSpPr>
        <p:grpSpPr>
          <a:xfrm>
            <a:off x="1707000" y="2920620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FF189A9-DE42-C9E4-0952-807EFA948E9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[…]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사용해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39FC22-1F28-76E5-A0D6-3381F34BFEF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REGEXP 'K[L-N]';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FFAC4D4-DD76-4340-AF97-F178524EF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72" y="3641408"/>
            <a:ext cx="9724571" cy="82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987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8159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REGEXP</a:t>
            </a:r>
            <a:r>
              <a:rPr kumimoji="1" lang="ko-KR" altLang="en-US" dirty="0">
                <a:solidFill>
                  <a:srgbClr val="E47525"/>
                </a:solidFill>
              </a:rPr>
              <a:t>로 더 다양하게 데이터 조회하기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반대로 </a:t>
            </a:r>
            <a:r>
              <a:rPr kumimoji="1" lang="en-US" altLang="ko-KR" dirty="0"/>
              <a:t>K</a:t>
            </a:r>
            <a:r>
              <a:rPr kumimoji="1" lang="ko-KR" altLang="en-US" dirty="0"/>
              <a:t>와 함께 </a:t>
            </a:r>
            <a:r>
              <a:rPr kumimoji="1" lang="en-US" altLang="ko-KR" dirty="0"/>
              <a:t>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N </a:t>
            </a:r>
            <a:r>
              <a:rPr kumimoji="1" lang="ko-KR" altLang="en-US" dirty="0"/>
              <a:t>사이의 글자를 포함하지 않는 데이터를 조회해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결과를 살펴보면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문자열에서 </a:t>
            </a:r>
            <a:br>
              <a:rPr kumimoji="1" lang="en-US" altLang="ko-KR" dirty="0"/>
            </a:br>
            <a:r>
              <a:rPr kumimoji="1" lang="en-US" altLang="ko-KR" dirty="0"/>
              <a:t>K </a:t>
            </a:r>
            <a:r>
              <a:rPr kumimoji="1" lang="ko-KR" altLang="en-US" dirty="0"/>
              <a:t>뒤에 </a:t>
            </a:r>
            <a:r>
              <a:rPr kumimoji="1" lang="en-US" altLang="ko-KR" dirty="0"/>
              <a:t>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N</a:t>
            </a:r>
            <a:r>
              <a:rPr kumimoji="1" lang="ko-KR" altLang="en-US" dirty="0"/>
              <a:t>사이의 글자가 포함되어 있지 않는 데이터를 검색하여 결과를 보여줌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57C8FFF-7CCD-1749-8E1B-66D7102FC17F}"/>
              </a:ext>
            </a:extLst>
          </p:cNvPr>
          <p:cNvGrpSpPr/>
          <p:nvPr/>
        </p:nvGrpSpPr>
        <p:grpSpPr>
          <a:xfrm>
            <a:off x="1707000" y="2804506"/>
            <a:ext cx="6846742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FF189A9-DE42-C9E4-0952-807EFA948E9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[^…]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를 사용해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39FC22-1F28-76E5-A0D6-3381F34BFEF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REGEXP 'K[^L-N]';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EF548D9-E913-976B-3800-064F50BAF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73" y="3476175"/>
            <a:ext cx="7480542" cy="207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3250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와일드카드 더 활용해 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S</a:t>
            </a:r>
            <a:r>
              <a:rPr kumimoji="1" lang="ko-KR" altLang="en-US" dirty="0"/>
              <a:t>로 시작하는 문자열 데이터 중에 </a:t>
            </a:r>
            <a:br>
              <a:rPr kumimoji="1" lang="en-US" altLang="ko-KR" dirty="0"/>
            </a:br>
            <a:r>
              <a:rPr kumimoji="1" lang="en-US" altLang="ko-KR" dirty="0"/>
              <a:t>A </a:t>
            </a:r>
            <a:r>
              <a:rPr kumimoji="1" lang="ko-KR" altLang="en-US" dirty="0"/>
              <a:t>뒤에 </a:t>
            </a:r>
            <a:r>
              <a:rPr kumimoji="1" lang="en-US" altLang="ko-KR" dirty="0"/>
              <a:t>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N </a:t>
            </a:r>
            <a:r>
              <a:rPr kumimoji="1" lang="ko-KR" altLang="en-US" dirty="0"/>
              <a:t>사이의 글자가 있는 데이터를 조회함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57C8FFF-7CCD-1749-8E1B-66D7102FC17F}"/>
              </a:ext>
            </a:extLst>
          </p:cNvPr>
          <p:cNvGrpSpPr/>
          <p:nvPr/>
        </p:nvGrpSpPr>
        <p:grpSpPr>
          <a:xfrm>
            <a:off x="1706999" y="3270357"/>
            <a:ext cx="7712771" cy="650002"/>
            <a:chOff x="1514900" y="4698128"/>
            <a:chExt cx="9471548" cy="4510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FF189A9-DE42-C9E4-0952-807EFA948E9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%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[…]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을 사용해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39FC22-1F28-76E5-A0D6-3381F34BFEFD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'S%' AND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REGEXP 'A[L-N]';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E98C6B5-EA2F-1628-26F9-BD3EE1BF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71" y="4023093"/>
            <a:ext cx="8273143" cy="23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1034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와일드카드 더 활용해 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좀 더 복잡한 조건으로 데이터를 조회해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다음은 </a:t>
            </a:r>
            <a:r>
              <a:rPr kumimoji="1" lang="en-US" altLang="ko-KR" dirty="0" err="1"/>
              <a:t>first_name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 총 </a:t>
            </a:r>
            <a:r>
              <a:rPr kumimoji="1" lang="en-US" altLang="ko-KR" dirty="0"/>
              <a:t>7 </a:t>
            </a:r>
            <a:r>
              <a:rPr kumimoji="1" lang="ko-KR" altLang="en-US" dirty="0"/>
              <a:t>글자이고</a:t>
            </a:r>
            <a:r>
              <a:rPr kumimoji="1" lang="en-US" altLang="ko-KR" dirty="0"/>
              <a:t>, A </a:t>
            </a:r>
            <a:r>
              <a:rPr kumimoji="1" lang="ko-KR" altLang="en-US" dirty="0"/>
              <a:t>뒤에 </a:t>
            </a:r>
            <a:r>
              <a:rPr kumimoji="1" lang="en-US" altLang="ko-KR" dirty="0"/>
              <a:t>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N </a:t>
            </a:r>
            <a:r>
              <a:rPr kumimoji="1" lang="ko-KR" altLang="en-US" dirty="0"/>
              <a:t>사이의 글자가 있고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마지막 글자는 </a:t>
            </a:r>
            <a:r>
              <a:rPr kumimoji="1" lang="en-US" altLang="ko-KR" dirty="0"/>
              <a:t>O</a:t>
            </a:r>
            <a:r>
              <a:rPr kumimoji="1" lang="ko-KR" altLang="en-US" dirty="0"/>
              <a:t>인 문자열 데이터를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04-4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와일드카드로 문자열 조회하기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57C8FFF-7CCD-1749-8E1B-66D7102FC17F}"/>
              </a:ext>
            </a:extLst>
          </p:cNvPr>
          <p:cNvGrpSpPr/>
          <p:nvPr/>
        </p:nvGrpSpPr>
        <p:grpSpPr>
          <a:xfrm>
            <a:off x="1706999" y="3488071"/>
            <a:ext cx="7712771" cy="1243587"/>
            <a:chOff x="1514900" y="4698128"/>
            <a:chExt cx="9471548" cy="86301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FF189A9-DE42-C9E4-0952-807EFA948E9E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와일드카드 조합으로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39FC22-1F28-76E5-A0D6-3381F34BFEFD}"/>
                </a:ext>
              </a:extLst>
            </p:cNvPr>
            <p:cNvSpPr/>
            <p:nvPr/>
          </p:nvSpPr>
          <p:spPr>
            <a:xfrm>
              <a:off x="1514900" y="4923670"/>
              <a:ext cx="9471548" cy="63747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customer WHERE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LIKE '_______’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AND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REGEXP 'A[L-N]’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	AND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first_name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REGEXP 'O$';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D1F30CF-4AC4-CAA3-47A1-1EE4CE4D9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99" y="4779403"/>
            <a:ext cx="9186408" cy="135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803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ko-KR" altLang="en-US" dirty="0"/>
              <a:t>조회한 데이터들을 그룹으로 묶어 정보를 확인해야 할 때가 있고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ko-KR" altLang="en-US" dirty="0"/>
              <a:t>데이터 그룹에 특정 조건을 필터링해 필요한 데이터를 조회해야 하는 경우도 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예를 들어 다음과 같이 어떤 회사의 직원 정보가 담긴 테이블이 있다고 하자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이를 소속별로 그룹화하고 싶다면 다음 표와 같이 묶을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1A86B2-5659-3A7C-34F9-AC9F4F255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85" y="3772806"/>
            <a:ext cx="6618514" cy="166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62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ko-KR" altLang="en-US" dirty="0"/>
              <a:t>이렇게 데이터를 그룹화하고 싶을 때 바로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문을 사용하면 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데이터 그룹을 필터링할 때는 </a:t>
            </a:r>
            <a:r>
              <a:rPr kumimoji="1" lang="en-US" altLang="ko-KR" dirty="0"/>
              <a:t>HAVING </a:t>
            </a:r>
            <a:r>
              <a:rPr kumimoji="1" lang="ko-KR" altLang="en-US" dirty="0"/>
              <a:t>문을 사용함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GROUP BY </a:t>
            </a:r>
            <a:r>
              <a:rPr kumimoji="1" lang="ko-KR" altLang="en-US" dirty="0"/>
              <a:t>문</a:t>
            </a:r>
            <a:r>
              <a:rPr kumimoji="1" lang="en-US" altLang="ko-KR" dirty="0"/>
              <a:t>, HAVING </a:t>
            </a:r>
            <a:r>
              <a:rPr kumimoji="1" lang="ko-KR" altLang="en-US" dirty="0"/>
              <a:t>문은 다음과 같이 사용함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7F453D-F704-3DAB-8C67-6C2FCD5BA66C}"/>
              </a:ext>
            </a:extLst>
          </p:cNvPr>
          <p:cNvSpPr/>
          <p:nvPr/>
        </p:nvSpPr>
        <p:spPr>
          <a:xfrm>
            <a:off x="1620067" y="2894867"/>
            <a:ext cx="8568962" cy="86539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GROUP BY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문과 </a:t>
            </a:r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HAVING </a:t>
            </a:r>
            <a:r>
              <a:rPr lang="ko-KR" altLang="en-US" sz="1400" b="1" i="0" u="none" strike="noStrike" baseline="0" dirty="0">
                <a:solidFill>
                  <a:schemeClr val="tx1"/>
                </a:solidFill>
              </a:rPr>
              <a:t>문의 기본 형식</a:t>
            </a:r>
          </a:p>
          <a:p>
            <a:pPr algn="just"/>
            <a:endParaRPr lang="en-US" altLang="ko-KR" sz="1400" b="1" i="0" u="none" strike="noStrike" baseline="0" dirty="0">
              <a:solidFill>
                <a:schemeClr val="tx1"/>
              </a:solidFill>
            </a:endParaRPr>
          </a:p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SELECT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FROM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테이블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WHERE [</a:t>
            </a:r>
            <a:r>
              <a:rPr lang="ko-KR" altLang="en-US" sz="1400" i="0" u="none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= [</a:t>
            </a:r>
            <a:r>
              <a:rPr lang="ko-KR" altLang="en-US" sz="1400" i="0" u="none" strike="noStrike" baseline="0" dirty="0" err="1">
                <a:solidFill>
                  <a:schemeClr val="tx1"/>
                </a:solidFill>
              </a:rPr>
              <a:t>조건값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]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GROUP BY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HAVING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>
                <a:solidFill>
                  <a:schemeClr val="tx1"/>
                </a:solidFill>
              </a:rPr>
              <a:t>열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= 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[</a:t>
            </a:r>
            <a:r>
              <a:rPr lang="ko-KR" altLang="en-US" sz="1400" i="0" u="sng" strike="noStrike" baseline="0" dirty="0" err="1">
                <a:solidFill>
                  <a:schemeClr val="tx1"/>
                </a:solidFill>
              </a:rPr>
              <a:t>조건값</a:t>
            </a:r>
            <a:r>
              <a:rPr lang="en-US" altLang="ko-KR" sz="1400" i="0" u="sng" strike="noStrike" baseline="0" dirty="0">
                <a:solidFill>
                  <a:schemeClr val="tx1"/>
                </a:solidFill>
              </a:rPr>
              <a:t>]</a:t>
            </a:r>
          </a:p>
          <a:p>
            <a:pPr algn="just"/>
            <a:r>
              <a:rPr lang="en-US" altLang="ko-KR" sz="1400" dirty="0">
                <a:solidFill>
                  <a:schemeClr val="tx1"/>
                </a:solidFill>
              </a:rPr>
              <a:t>                                                                        ①        ②     ③      ④         ⑤  </a:t>
            </a:r>
            <a:endParaRPr lang="ko-KR" altLang="en-US" sz="1200" i="0" strike="noStrike" baseline="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CE5E02-E153-B34E-A383-E948E424A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67" y="3851341"/>
            <a:ext cx="6010956" cy="15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4933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GROUP BY </a:t>
            </a:r>
            <a:r>
              <a:rPr kumimoji="1" lang="ko-KR" altLang="en-US" dirty="0"/>
              <a:t>문은 지정한 열에 있는 데이터를 그룹화함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film </a:t>
            </a:r>
            <a:r>
              <a:rPr kumimoji="1" lang="ko-KR" altLang="en-US" dirty="0"/>
              <a:t>테이블에 저장되어 있는 </a:t>
            </a:r>
            <a:br>
              <a:rPr kumimoji="1" lang="en-US" altLang="ko-KR" dirty="0"/>
            </a:b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열의 데이터 종류가 무엇인지 궁금하다면 </a:t>
            </a:r>
            <a:br>
              <a:rPr kumimoji="1" lang="en-US" altLang="ko-KR" dirty="0"/>
            </a:br>
            <a:r>
              <a:rPr kumimoji="1" lang="en-US" altLang="ko-KR" dirty="0"/>
              <a:t>GROUP BY </a:t>
            </a:r>
            <a:r>
              <a:rPr kumimoji="1" lang="ko-KR" altLang="en-US" dirty="0"/>
              <a:t>문을 사용하면 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</p:spTree>
    <p:extLst>
      <p:ext uri="{BB962C8B-B14F-4D97-AF65-F5344CB8AC3E}">
        <p14:creationId xmlns:p14="http://schemas.microsoft.com/office/powerpoint/2010/main" val="20291170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하나의 열을 기준으로 그룹화하기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데이터를 그룹화할 때는 반드시 그룹화할 기준 열을 지정해야 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다음은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, rating </a:t>
            </a:r>
            <a:r>
              <a:rPr kumimoji="1" lang="ko-KR" altLang="en-US" dirty="0"/>
              <a:t>열을 기준으로 각각 데이터를 그룹화한 것임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즉</a:t>
            </a:r>
            <a:r>
              <a:rPr kumimoji="1" lang="en-US" altLang="ko-KR" dirty="0"/>
              <a:t>, film </a:t>
            </a:r>
            <a:r>
              <a:rPr kumimoji="1" lang="ko-KR" altLang="en-US" dirty="0"/>
              <a:t>테이블에서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열과 </a:t>
            </a:r>
            <a:r>
              <a:rPr kumimoji="1" lang="en-US" altLang="ko-KR" dirty="0"/>
              <a:t>rating </a:t>
            </a:r>
            <a:r>
              <a:rPr kumimoji="1" lang="ko-KR" altLang="en-US" dirty="0"/>
              <a:t>열에 </a:t>
            </a:r>
            <a:br>
              <a:rPr kumimoji="1" lang="en-US" altLang="ko-KR" dirty="0"/>
            </a:br>
            <a:r>
              <a:rPr kumimoji="1" lang="ko-KR" altLang="en-US" dirty="0"/>
              <a:t>어떤 데이터 그룹이 있는지 확인하는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46FDA9-5643-F5D0-5148-A63716E3F1EF}"/>
              </a:ext>
            </a:extLst>
          </p:cNvPr>
          <p:cNvGrpSpPr/>
          <p:nvPr/>
        </p:nvGrpSpPr>
        <p:grpSpPr>
          <a:xfrm>
            <a:off x="1925363" y="4489452"/>
            <a:ext cx="5717383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BB37E3-3093-A3EB-3836-5995E869A3F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special_features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열의 데이터를 그룹화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571535-25D4-0317-15A6-A48D1CDD6504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 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4CADB7A-A49E-32B1-89AB-9A592816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928" y="4261766"/>
            <a:ext cx="3311457" cy="20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1780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하나의 열을 기준으로 그룹화하기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열에서는 </a:t>
            </a:r>
            <a:r>
              <a:rPr kumimoji="1" lang="en-US" altLang="ko-KR" dirty="0"/>
              <a:t>Deleted Scenes, Trailers </a:t>
            </a:r>
            <a:r>
              <a:rPr kumimoji="1" lang="ko-KR" altLang="en-US" dirty="0"/>
              <a:t>등으로 데이터가 그룹화되었고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/>
              <a:t>rating </a:t>
            </a:r>
            <a:r>
              <a:rPr kumimoji="1" lang="ko-KR" altLang="en-US" dirty="0"/>
              <a:t>열에서는 </a:t>
            </a:r>
            <a:r>
              <a:rPr kumimoji="1" lang="en-US" altLang="ko-KR" dirty="0"/>
              <a:t>PG, G </a:t>
            </a:r>
            <a:r>
              <a:rPr kumimoji="1" lang="ko-KR" altLang="en-US" dirty="0"/>
              <a:t>등으로 데이터가 그룹화된 것을 확인할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46FDA9-5643-F5D0-5148-A63716E3F1EF}"/>
              </a:ext>
            </a:extLst>
          </p:cNvPr>
          <p:cNvGrpSpPr/>
          <p:nvPr/>
        </p:nvGrpSpPr>
        <p:grpSpPr>
          <a:xfrm>
            <a:off x="1925363" y="2960906"/>
            <a:ext cx="5717383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BB37E3-3093-A3EB-3836-5995E869A3F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rating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열의 데이터를 그룹화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571535-25D4-0317-15A6-A48D1CDD6504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rating FROM film GROUP BY rating;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CFAA2F0-18BA-2BF3-DFE5-2FCBFB7F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02" y="2767443"/>
            <a:ext cx="827745" cy="13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7155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2</a:t>
            </a:r>
            <a:r>
              <a:rPr kumimoji="1" lang="ko-KR" altLang="en-US" b="1" dirty="0"/>
              <a:t>개 이상의 열을 기준으로 그룹화하기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2</a:t>
            </a:r>
            <a:r>
              <a:rPr kumimoji="1" lang="ko-KR" altLang="en-US" dirty="0"/>
              <a:t>개 이상의 열을 기준으로 그룹화하는 방법도 알아보자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열을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 이상 지정하여 그룹화할 때는 </a:t>
            </a:r>
            <a:br>
              <a:rPr kumimoji="1" lang="en-US" altLang="ko-KR" dirty="0"/>
            </a:br>
            <a:r>
              <a:rPr kumimoji="1" lang="en-US" altLang="ko-KR" dirty="0"/>
              <a:t>GROUP BY</a:t>
            </a:r>
            <a:r>
              <a:rPr kumimoji="1" lang="ko-KR" altLang="en-US" dirty="0"/>
              <a:t>에 열을 순서대로 작성하면 그 순서대로 데이터를 그룹화함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</p:spTree>
    <p:extLst>
      <p:ext uri="{BB962C8B-B14F-4D97-AF65-F5344CB8AC3E}">
        <p14:creationId xmlns:p14="http://schemas.microsoft.com/office/powerpoint/2010/main" val="22127768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2</a:t>
            </a:r>
            <a:r>
              <a:rPr kumimoji="1" lang="ko-KR" altLang="en-US" b="1" dirty="0"/>
              <a:t>개 이상의 열을 기준으로 그룹화하기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 err="1"/>
              <a:t>special_features</a:t>
            </a:r>
            <a:r>
              <a:rPr kumimoji="1" lang="en-US" altLang="ko-KR" dirty="0"/>
              <a:t>, rating </a:t>
            </a:r>
            <a:r>
              <a:rPr kumimoji="1" lang="ko-KR" altLang="en-US" dirty="0"/>
              <a:t>열 순서로 그룹화하면 </a:t>
            </a:r>
            <a:br>
              <a:rPr kumimoji="1" lang="en-US" altLang="ko-KR" dirty="0"/>
            </a:b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열로 우선 그룹화한 다음 </a:t>
            </a:r>
            <a:r>
              <a:rPr kumimoji="1" lang="en-US" altLang="ko-KR" dirty="0"/>
              <a:t>rating </a:t>
            </a:r>
            <a:r>
              <a:rPr kumimoji="1" lang="ko-KR" altLang="en-US" dirty="0"/>
              <a:t>열로 그룹화한 결과를 출력함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46FDA9-5643-F5D0-5148-A63716E3F1EF}"/>
              </a:ext>
            </a:extLst>
          </p:cNvPr>
          <p:cNvGrpSpPr/>
          <p:nvPr/>
        </p:nvGrpSpPr>
        <p:grpSpPr>
          <a:xfrm>
            <a:off x="1278429" y="4029758"/>
            <a:ext cx="6732807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BB37E3-3093-A3EB-3836-5995E869A3F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special_features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, rating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 순서로 데이터를 그룹화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571535-25D4-0317-15A6-A48D1CDD6504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 FROM film 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69E1DA5E-2C2E-B553-5CB6-419469AAF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783" y="3793877"/>
            <a:ext cx="3541346" cy="195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0440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2</a:t>
            </a:r>
            <a:r>
              <a:rPr kumimoji="1" lang="ko-KR" altLang="en-US" b="1" dirty="0"/>
              <a:t>개 이상의 열을 기준으로 그룹화하기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반대로 </a:t>
            </a:r>
            <a:r>
              <a:rPr kumimoji="1" lang="en-US" altLang="ko-KR" dirty="0"/>
              <a:t>rating,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 순서로 데이터를 그룹화해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열 순서만 변경되었을 뿐 쿼리 결과를 보면 모두 같은 개수의 데이터</a:t>
            </a:r>
            <a:r>
              <a:rPr kumimoji="1" lang="en-US" altLang="ko-KR" dirty="0"/>
              <a:t>(</a:t>
            </a:r>
            <a:r>
              <a:rPr kumimoji="1" lang="ko-KR" altLang="en-US" dirty="0"/>
              <a:t>행</a:t>
            </a:r>
            <a:r>
              <a:rPr kumimoji="1" lang="en-US" altLang="ko-KR" dirty="0"/>
              <a:t>)</a:t>
            </a:r>
            <a:r>
              <a:rPr kumimoji="1" lang="ko-KR" altLang="en-US" dirty="0"/>
              <a:t>를 출력함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46FDA9-5643-F5D0-5148-A63716E3F1EF}"/>
              </a:ext>
            </a:extLst>
          </p:cNvPr>
          <p:cNvGrpSpPr/>
          <p:nvPr/>
        </p:nvGrpSpPr>
        <p:grpSpPr>
          <a:xfrm>
            <a:off x="2046969" y="3724227"/>
            <a:ext cx="4706256" cy="977088"/>
            <a:chOff x="1514900" y="4698128"/>
            <a:chExt cx="9471548" cy="67807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BB37E3-3093-A3EB-3836-5995E869A3FD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rating,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special_features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 순서로 데이터를 그룹화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571535-25D4-0317-15A6-A48D1CDD6504}"/>
                </a:ext>
              </a:extLst>
            </p:cNvPr>
            <p:cNvSpPr/>
            <p:nvPr/>
          </p:nvSpPr>
          <p:spPr>
            <a:xfrm>
              <a:off x="1514900" y="4923671"/>
              <a:ext cx="9471548" cy="45253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rating,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 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953ABAC-72DE-5262-4641-9FA20392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686" y="3530598"/>
            <a:ext cx="4092711" cy="25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21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COUNT</a:t>
            </a:r>
            <a:r>
              <a:rPr kumimoji="1" lang="ko-KR" altLang="en-US" b="1" dirty="0"/>
              <a:t>로 그룹화한 열의 데이터 개수 세기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데이터를 그룹화한 다음</a:t>
            </a:r>
            <a:br>
              <a:rPr kumimoji="1" lang="en-US" altLang="ko-KR" dirty="0"/>
            </a:br>
            <a:r>
              <a:rPr kumimoji="1" lang="en-US" altLang="ko-KR" dirty="0"/>
              <a:t>COUNT </a:t>
            </a:r>
            <a:r>
              <a:rPr kumimoji="1" lang="ko-KR" altLang="en-US" dirty="0"/>
              <a:t>함수로 각 데이터 그룹에 속한 데이터가 </a:t>
            </a:r>
            <a:br>
              <a:rPr kumimoji="1" lang="en-US" altLang="ko-KR" dirty="0"/>
            </a:br>
            <a:r>
              <a:rPr kumimoji="1" lang="ko-KR" altLang="en-US" dirty="0"/>
              <a:t>몇 개인지 조회하는 쿼리를 작성해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 </a:t>
            </a:r>
            <a:r>
              <a:rPr kumimoji="1" lang="en-US" altLang="ko-KR" dirty="0"/>
              <a:t>COUNT </a:t>
            </a:r>
            <a:r>
              <a:rPr kumimoji="1" lang="ko-KR" altLang="en-US" dirty="0"/>
              <a:t>함수에는 </a:t>
            </a:r>
            <a:r>
              <a:rPr kumimoji="1" lang="en-US" altLang="ko-KR" dirty="0"/>
              <a:t>AS </a:t>
            </a:r>
            <a:r>
              <a:rPr kumimoji="1" lang="en-US" altLang="ko-KR" dirty="0" err="1"/>
              <a:t>cnt</a:t>
            </a:r>
            <a:r>
              <a:rPr kumimoji="1" lang="ko-KR" altLang="en-US" dirty="0"/>
              <a:t>를 붙였는데 </a:t>
            </a:r>
            <a:br>
              <a:rPr kumimoji="1" lang="en-US" altLang="ko-KR" dirty="0"/>
            </a:br>
            <a:r>
              <a:rPr kumimoji="1" lang="ko-KR" altLang="en-US" dirty="0"/>
              <a:t>이는 계산한 결과를 출력할 때 열 이름을 </a:t>
            </a:r>
            <a:r>
              <a:rPr kumimoji="1" lang="en-US" altLang="ko-KR" dirty="0" err="1"/>
              <a:t>cnt</a:t>
            </a:r>
            <a:r>
              <a:rPr kumimoji="1" lang="ko-KR" altLang="en-US" dirty="0"/>
              <a:t>로 하겠다는 의미임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</p:spTree>
    <p:extLst>
      <p:ext uri="{BB962C8B-B14F-4D97-AF65-F5344CB8AC3E}">
        <p14:creationId xmlns:p14="http://schemas.microsoft.com/office/powerpoint/2010/main" val="22159801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COUNT</a:t>
            </a:r>
            <a:r>
              <a:rPr kumimoji="1" lang="ko-KR" altLang="en-US" b="1" dirty="0"/>
              <a:t>로 그룹화한 열의 데이터 개수 세기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2ACFD0-1311-8912-FDCD-C15DB7004092}"/>
              </a:ext>
            </a:extLst>
          </p:cNvPr>
          <p:cNvGrpSpPr/>
          <p:nvPr/>
        </p:nvGrpSpPr>
        <p:grpSpPr>
          <a:xfrm>
            <a:off x="2212975" y="3196097"/>
            <a:ext cx="731316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2667316-B201-D7C9-A07A-66546C192B2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COUNT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함수로 그룹에 속한 데이터 개수 세기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AAB2EF-96FA-3D76-0314-881459B3F638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 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9D82C75-B10E-AEDE-AFF4-5AB2032A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83" y="3885524"/>
            <a:ext cx="4204293" cy="236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4166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COUNT</a:t>
            </a:r>
            <a:r>
              <a:rPr kumimoji="1" lang="ko-KR" altLang="en-US" b="1" dirty="0"/>
              <a:t>로 그룹화한 열의 데이터 개수 세기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다음 쿼리는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, rating </a:t>
            </a:r>
            <a:r>
              <a:rPr kumimoji="1" lang="ko-KR" altLang="en-US" dirty="0"/>
              <a:t>열을 기준으로 그룹화한 다음 </a:t>
            </a:r>
            <a:br>
              <a:rPr kumimoji="1" lang="en-US" altLang="ko-KR" dirty="0"/>
            </a:br>
            <a:r>
              <a:rPr kumimoji="1" lang="ko-KR" altLang="en-US" dirty="0"/>
              <a:t>각 그룹의 데이터가 몇 개인지 셀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 쿼리 마지막 부분에 </a:t>
            </a:r>
            <a:r>
              <a:rPr kumimoji="1" lang="en-US" altLang="ko-KR" dirty="0"/>
              <a:t>ORDER BY </a:t>
            </a:r>
            <a:r>
              <a:rPr kumimoji="1" lang="ko-KR" altLang="en-US" dirty="0"/>
              <a:t>문을 입력한 이유는 </a:t>
            </a:r>
            <a:br>
              <a:rPr kumimoji="1" lang="en-US" altLang="ko-KR" dirty="0"/>
            </a:br>
            <a:r>
              <a:rPr kumimoji="1" lang="ko-KR" altLang="en-US" dirty="0"/>
              <a:t>조회한 데이터의 결과를 정렬하여 개수를 확인하기 쉽게 하기 </a:t>
            </a:r>
            <a:r>
              <a:rPr kumimoji="1" lang="ko-KR" altLang="en-US" dirty="0" err="1"/>
              <a:t>위함임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여기서는 그룹화한 데이터의 개수에 따라 내림차순으로 정렬함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</p:spTree>
    <p:extLst>
      <p:ext uri="{BB962C8B-B14F-4D97-AF65-F5344CB8AC3E}">
        <p14:creationId xmlns:p14="http://schemas.microsoft.com/office/powerpoint/2010/main" val="394762762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COUNT</a:t>
            </a:r>
            <a:r>
              <a:rPr kumimoji="1" lang="ko-KR" altLang="en-US" b="1" dirty="0"/>
              <a:t>로 그룹화한 열의 데이터 개수 세기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2ACFD0-1311-8912-FDCD-C15DB7004092}"/>
              </a:ext>
            </a:extLst>
          </p:cNvPr>
          <p:cNvGrpSpPr/>
          <p:nvPr/>
        </p:nvGrpSpPr>
        <p:grpSpPr>
          <a:xfrm>
            <a:off x="2176275" y="3199535"/>
            <a:ext cx="7313162" cy="863431"/>
            <a:chOff x="1514900" y="4698128"/>
            <a:chExt cx="9471548" cy="59919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2667316-B201-D7C9-A07A-66546C192B2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두 열의 데이터 그룹에 속한 데이터 개수 세기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AAB2EF-96FA-3D76-0314-881459B3F638}"/>
                </a:ext>
              </a:extLst>
            </p:cNvPr>
            <p:cNvSpPr/>
            <p:nvPr/>
          </p:nvSpPr>
          <p:spPr>
            <a:xfrm>
              <a:off x="1514900" y="4923670"/>
              <a:ext cx="9471548" cy="3736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 ORDER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rating,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DESC;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C6A428E-525C-1086-0901-CA362C6E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979" y="4090262"/>
            <a:ext cx="4561764" cy="232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4474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COUNT</a:t>
            </a:r>
            <a:r>
              <a:rPr kumimoji="1" lang="ko-KR" altLang="en-US" b="1" dirty="0"/>
              <a:t>로 그룹화한 열의 데이터 개수 세기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지금까지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문으로 조회한 열 이름이 </a:t>
            </a:r>
            <a:br>
              <a:rPr kumimoji="1" lang="en-US" altLang="ko-KR" dirty="0"/>
            </a:br>
            <a:r>
              <a:rPr kumimoji="1" lang="en-US" altLang="ko-KR" dirty="0"/>
              <a:t>GROUP BY </a:t>
            </a:r>
            <a:r>
              <a:rPr kumimoji="1" lang="ko-KR" altLang="en-US" dirty="0"/>
              <a:t>문에서 그대로 사용되었음을 파악했음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데이터를 그룹화할 때는 기준이 되는 열이 필요하므로 </a:t>
            </a:r>
            <a:br>
              <a:rPr kumimoji="1" lang="en-US" altLang="ko-KR" dirty="0"/>
            </a:br>
            <a:r>
              <a:rPr kumimoji="1" lang="ko-KR" altLang="en-US" dirty="0"/>
              <a:t>반드시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문에 사용한 열을 반드시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문에도 사용해야 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만약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문에 사용한 열을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문에 사용하지 않으면 오류가 발생할 것임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2ACFD0-1311-8912-FDCD-C15DB7004092}"/>
              </a:ext>
            </a:extLst>
          </p:cNvPr>
          <p:cNvGrpSpPr/>
          <p:nvPr/>
        </p:nvGrpSpPr>
        <p:grpSpPr>
          <a:xfrm>
            <a:off x="2060160" y="5255739"/>
            <a:ext cx="7313162" cy="650002"/>
            <a:chOff x="1514900" y="4698128"/>
            <a:chExt cx="9471548" cy="451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2667316-B201-D7C9-A07A-66546C192B22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SELECT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문과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GROUP BY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문의 열 이름을 달리할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AAB2EF-96FA-3D76-0314-881459B3F638}"/>
                </a:ext>
              </a:extLst>
            </p:cNvPr>
            <p:cNvSpPr/>
            <p:nvPr/>
          </p:nvSpPr>
          <p:spPr>
            <a:xfrm>
              <a:off x="1514900" y="4923670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 GROUP BY rating;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49748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GROUP BY </a:t>
            </a:r>
            <a:r>
              <a:rPr kumimoji="1" lang="ko-KR" altLang="en-US" dirty="0">
                <a:solidFill>
                  <a:srgbClr val="E47525"/>
                </a:solidFill>
              </a:rPr>
              <a:t>문으로 데이터 그룹화하기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COUNT</a:t>
            </a:r>
            <a:r>
              <a:rPr kumimoji="1" lang="ko-KR" altLang="en-US" b="1" dirty="0"/>
              <a:t>로 그룹화한 열의 데이터 개수 세기</a:t>
            </a:r>
            <a:endParaRPr kumimoji="1" lang="en-US" altLang="ko-KR" b="1" dirty="0"/>
          </a:p>
          <a:p>
            <a:pPr lvl="1">
              <a:buClr>
                <a:srgbClr val="E47525"/>
              </a:buClr>
            </a:pPr>
            <a:endParaRPr kumimoji="1" lang="en-US" altLang="ko-KR" b="1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오류를 살펴보면 다음과 같은 메시지가 출력됨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내용은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문에 사용된 열이 </a:t>
            </a:r>
            <a:br>
              <a:rPr kumimoji="1" lang="en-US" altLang="ko-KR" dirty="0"/>
            </a:br>
            <a:r>
              <a:rPr kumimoji="1" lang="en-US" altLang="ko-KR" dirty="0"/>
              <a:t>GROUP BY</a:t>
            </a:r>
            <a:r>
              <a:rPr kumimoji="1" lang="ko-KR" altLang="en-US" dirty="0"/>
              <a:t>에 명시되지 않아 열을 그룹화할 수 없다는 뜻임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FB9791-B742-3282-7D81-65673E25A573}"/>
              </a:ext>
            </a:extLst>
          </p:cNvPr>
          <p:cNvSpPr/>
          <p:nvPr/>
        </p:nvSpPr>
        <p:spPr>
          <a:xfrm>
            <a:off x="2097089" y="3545114"/>
            <a:ext cx="8643482" cy="113730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Error Code: 1055. Expression #1 of SELECT list is not in GROUP BY clause and contains </a:t>
            </a:r>
            <a:r>
              <a:rPr lang="en-US" altLang="ko-KR" sz="1400" i="0" u="none" strike="noStrike" baseline="0" dirty="0" err="1">
                <a:solidFill>
                  <a:schemeClr val="tx1"/>
                </a:solidFill>
              </a:rPr>
              <a:t>nonaggregated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 column '</a:t>
            </a:r>
            <a:r>
              <a:rPr lang="en-US" altLang="ko-KR" sz="1400" i="0" u="none" strike="noStrike" baseline="0" dirty="0" err="1">
                <a:solidFill>
                  <a:schemeClr val="tx1"/>
                </a:solidFill>
              </a:rPr>
              <a:t>sakila.film.special_features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' which is not functionally dependent on columns in GROUP BY clause; this is incompatible with </a:t>
            </a:r>
            <a:r>
              <a:rPr lang="en-US" altLang="ko-KR" sz="1400" i="0" u="none" strike="noStrike" baseline="0" dirty="0" err="1">
                <a:solidFill>
                  <a:schemeClr val="tx1"/>
                </a:solidFill>
              </a:rPr>
              <a:t>sql_mode</a:t>
            </a:r>
            <a:r>
              <a:rPr lang="en-US" altLang="ko-KR" sz="1400" i="0" u="none" strike="noStrike" baseline="0" dirty="0">
                <a:solidFill>
                  <a:schemeClr val="tx1"/>
                </a:solidFill>
              </a:rPr>
              <a:t>=</a:t>
            </a:r>
            <a:r>
              <a:rPr lang="en-US" altLang="ko-KR" sz="1400" i="0" u="none" strike="noStrike" baseline="0" dirty="0" err="1">
                <a:solidFill>
                  <a:schemeClr val="tx1"/>
                </a:solidFill>
              </a:rPr>
              <a:t>only_full_group_by</a:t>
            </a:r>
            <a:endParaRPr lang="ko-KR" altLang="en-US" sz="1200" i="0" u="none" strike="noStrike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9789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HAVING </a:t>
            </a:r>
            <a:r>
              <a:rPr kumimoji="1" lang="ko-KR" altLang="en-US" dirty="0">
                <a:solidFill>
                  <a:srgbClr val="E47525"/>
                </a:solidFill>
              </a:rPr>
              <a:t>문으로 그룹화한 데이터 필터링하기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그룹화한 데이터에서 데이터를 필터링하려면 </a:t>
            </a:r>
            <a:r>
              <a:rPr kumimoji="1" lang="en-US" altLang="ko-KR" dirty="0"/>
              <a:t>HAVING </a:t>
            </a:r>
            <a:r>
              <a:rPr kumimoji="1" lang="ko-KR" altLang="en-US" dirty="0"/>
              <a:t>문을 사용해야 함</a:t>
            </a:r>
            <a:br>
              <a:rPr kumimoji="1" lang="en-US" altLang="ko-KR" dirty="0"/>
            </a:b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HAVING </a:t>
            </a:r>
            <a:r>
              <a:rPr kumimoji="1" lang="ko-KR" altLang="en-US" dirty="0"/>
              <a:t>문은 </a:t>
            </a:r>
            <a:r>
              <a:rPr kumimoji="1" lang="en-US" altLang="ko-KR" dirty="0"/>
              <a:t>WHERE </a:t>
            </a:r>
            <a:r>
              <a:rPr kumimoji="1" lang="ko-KR" altLang="en-US" dirty="0"/>
              <a:t>문과 비슷하지만 </a:t>
            </a:r>
            <a:br>
              <a:rPr kumimoji="1" lang="en-US" altLang="ko-KR" dirty="0"/>
            </a:br>
            <a:r>
              <a:rPr kumimoji="1" lang="en-US" altLang="ko-KR" dirty="0"/>
              <a:t>WHERE </a:t>
            </a:r>
            <a:r>
              <a:rPr kumimoji="1" lang="ko-KR" altLang="en-US" dirty="0"/>
              <a:t>문은 테이블에 있는 열에 대해 적용하는 것이라면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HAVING </a:t>
            </a:r>
            <a:r>
              <a:rPr kumimoji="1" lang="ko-KR" altLang="en-US" dirty="0"/>
              <a:t>문은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문으로 조회한 열이나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문에 </a:t>
            </a:r>
            <a:br>
              <a:rPr kumimoji="1" lang="en-US" altLang="ko-KR" dirty="0"/>
            </a:br>
            <a:r>
              <a:rPr kumimoji="1" lang="ko-KR" altLang="en-US" dirty="0"/>
              <a:t>그룹화한 열에만 필터링을 적용할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</p:spTree>
    <p:extLst>
      <p:ext uri="{BB962C8B-B14F-4D97-AF65-F5344CB8AC3E}">
        <p14:creationId xmlns:p14="http://schemas.microsoft.com/office/powerpoint/2010/main" val="409748111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HAVING </a:t>
            </a:r>
            <a:r>
              <a:rPr kumimoji="1" lang="ko-KR" altLang="en-US" dirty="0">
                <a:solidFill>
                  <a:srgbClr val="E47525"/>
                </a:solidFill>
              </a:rPr>
              <a:t>문으로 그룹화한 데이터 필터링하기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다음은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, rating </a:t>
            </a:r>
            <a:r>
              <a:rPr kumimoji="1" lang="ko-KR" altLang="en-US" dirty="0"/>
              <a:t>열을 기준으로 그룹화한 뒤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/>
              <a:t>rating </a:t>
            </a:r>
            <a:r>
              <a:rPr kumimoji="1" lang="ko-KR" altLang="en-US" dirty="0"/>
              <a:t>열에서 </a:t>
            </a:r>
            <a:r>
              <a:rPr kumimoji="1" lang="en-US" altLang="ko-KR" dirty="0"/>
              <a:t>G</a:t>
            </a:r>
            <a:r>
              <a:rPr kumimoji="1" lang="ko-KR" altLang="en-US" dirty="0"/>
              <a:t>인 데이터만 필터링해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6C942BF-ABAA-470A-4CB5-8F108B12D312}"/>
              </a:ext>
            </a:extLst>
          </p:cNvPr>
          <p:cNvGrpSpPr/>
          <p:nvPr/>
        </p:nvGrpSpPr>
        <p:grpSpPr>
          <a:xfrm>
            <a:off x="1740847" y="3272110"/>
            <a:ext cx="4735828" cy="1285380"/>
            <a:chOff x="1514900" y="4698128"/>
            <a:chExt cx="9471548" cy="892019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8CCBAC7-8AC6-82E7-5096-91A6BD10358F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rating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G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인 데이터만 필터링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E57C189-07BB-3DD8-C620-AB1ECA27FDBC}"/>
                </a:ext>
              </a:extLst>
            </p:cNvPr>
            <p:cNvSpPr/>
            <p:nvPr/>
          </p:nvSpPr>
          <p:spPr>
            <a:xfrm>
              <a:off x="1514900" y="4923670"/>
              <a:ext cx="9471548" cy="66647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rating, FROM film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HAVING rating = 'G';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1E8EB7FF-B3EC-D161-D30A-D4423D91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731" y="3126353"/>
            <a:ext cx="4735828" cy="25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2325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HAVING </a:t>
            </a:r>
            <a:r>
              <a:rPr kumimoji="1" lang="ko-KR" altLang="en-US" dirty="0">
                <a:solidFill>
                  <a:srgbClr val="E47525"/>
                </a:solidFill>
              </a:rPr>
              <a:t>문으로 그룹화한 데이터 필터링하기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COUNT </a:t>
            </a:r>
            <a:r>
              <a:rPr kumimoji="1" lang="ko-KR" altLang="en-US" dirty="0"/>
              <a:t>함수도 적용해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다음은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 </a:t>
            </a:r>
            <a:r>
              <a:rPr kumimoji="1" lang="ko-KR" altLang="en-US" dirty="0"/>
              <a:t>열을 기준으로 그룹화한 다음 </a:t>
            </a:r>
            <a:br>
              <a:rPr kumimoji="1" lang="en-US" altLang="ko-KR" dirty="0"/>
            </a:br>
            <a:r>
              <a:rPr kumimoji="1" lang="ko-KR" altLang="en-US" dirty="0"/>
              <a:t>각 그룹에서 데이터의 개수가 </a:t>
            </a:r>
            <a:r>
              <a:rPr kumimoji="1" lang="en-US" altLang="ko-KR" dirty="0"/>
              <a:t>70</a:t>
            </a:r>
            <a:r>
              <a:rPr kumimoji="1" lang="ko-KR" altLang="en-US" dirty="0"/>
              <a:t>보다 큰 것만 조회하는 쿼리임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B167D9-A526-C2F1-2DFD-109C481A6DCC}"/>
              </a:ext>
            </a:extLst>
          </p:cNvPr>
          <p:cNvGrpSpPr/>
          <p:nvPr/>
        </p:nvGrpSpPr>
        <p:grpSpPr>
          <a:xfrm>
            <a:off x="1748518" y="3562766"/>
            <a:ext cx="7313162" cy="1255973"/>
            <a:chOff x="1514900" y="4698128"/>
            <a:chExt cx="9471548" cy="87161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D9B4103-F117-0A53-63D7-6306FAB45167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i="0" u="none" strike="noStrike" baseline="0" dirty="0" err="1">
                  <a:solidFill>
                    <a:srgbClr val="211D1E"/>
                  </a:solidFill>
                  <a:latin typeface="TDc_SSiGothic 150"/>
                </a:rPr>
                <a:t>special_features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열에서 데이터 개수가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70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보다 큰 것만 필터링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1FFB710-0612-F6B8-2EA6-88F044D972B6}"/>
                </a:ext>
              </a:extLst>
            </p:cNvPr>
            <p:cNvSpPr/>
            <p:nvPr/>
          </p:nvSpPr>
          <p:spPr>
            <a:xfrm>
              <a:off x="1514900" y="4923670"/>
              <a:ext cx="9471548" cy="64607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HAVING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&gt; 70;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E8E5023E-C53D-C117-F6B5-E51614967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90" y="4864388"/>
            <a:ext cx="4641396" cy="15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5534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HAVING </a:t>
            </a:r>
            <a:r>
              <a:rPr kumimoji="1" lang="ko-KR" altLang="en-US" dirty="0">
                <a:solidFill>
                  <a:srgbClr val="E47525"/>
                </a:solidFill>
              </a:rPr>
              <a:t>문으로 그룹화한 데이터 필터링하기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만약 그룹화하지 않은 열에 </a:t>
            </a:r>
            <a:r>
              <a:rPr kumimoji="1" lang="en-US" altLang="ko-KR" dirty="0"/>
              <a:t>HAVING </a:t>
            </a:r>
            <a:r>
              <a:rPr kumimoji="1" lang="ko-KR" altLang="en-US" dirty="0"/>
              <a:t>문을 사용하면 오류가 발생할 것임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오류를 살펴보면 다음과 같은 메시지가 출력됨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내용은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문에 </a:t>
            </a:r>
            <a:r>
              <a:rPr kumimoji="1" lang="en-US" altLang="ko-KR" dirty="0"/>
              <a:t>rating </a:t>
            </a:r>
            <a:r>
              <a:rPr kumimoji="1" lang="ko-KR" altLang="en-US" dirty="0"/>
              <a:t>열이 없어</a:t>
            </a:r>
            <a:br>
              <a:rPr kumimoji="1" lang="en-US" altLang="ko-KR" dirty="0"/>
            </a:br>
            <a:r>
              <a:rPr kumimoji="1" lang="en-US" altLang="ko-KR" dirty="0"/>
              <a:t>HAVING</a:t>
            </a:r>
            <a:r>
              <a:rPr kumimoji="1" lang="ko-KR" altLang="en-US" dirty="0"/>
              <a:t>으로 해당 열을 필터링할 수 없다는 내용임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B167D9-A526-C2F1-2DFD-109C481A6DCC}"/>
              </a:ext>
            </a:extLst>
          </p:cNvPr>
          <p:cNvGrpSpPr/>
          <p:nvPr/>
        </p:nvGrpSpPr>
        <p:grpSpPr>
          <a:xfrm>
            <a:off x="1748518" y="2956798"/>
            <a:ext cx="7313162" cy="1255973"/>
            <a:chOff x="1514900" y="4698128"/>
            <a:chExt cx="9471548" cy="87161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D9B4103-F117-0A53-63D7-6306FAB45167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그룹화하지 않은 열을 필터링할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1FFB710-0612-F6B8-2EA6-88F044D972B6}"/>
                </a:ext>
              </a:extLst>
            </p:cNvPr>
            <p:cNvSpPr/>
            <p:nvPr/>
          </p:nvSpPr>
          <p:spPr>
            <a:xfrm>
              <a:off x="1514900" y="4923670"/>
              <a:ext cx="9471548" cy="64607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HAVING rating = 'G';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97F78E-334C-143E-811B-C4CBEB7C62CA}"/>
              </a:ext>
            </a:extLst>
          </p:cNvPr>
          <p:cNvSpPr/>
          <p:nvPr/>
        </p:nvSpPr>
        <p:spPr>
          <a:xfrm>
            <a:off x="1748518" y="4990498"/>
            <a:ext cx="7313162" cy="3144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Error Code: 1054. Unknown column 'rating' in 'having clause'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38778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HAVING </a:t>
            </a:r>
            <a:r>
              <a:rPr kumimoji="1" lang="ko-KR" altLang="en-US" dirty="0">
                <a:solidFill>
                  <a:srgbClr val="E47525"/>
                </a:solidFill>
              </a:rPr>
              <a:t>문으로 그룹화한 데이터 필터링하기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오류가 난 쿼리를 수정해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en-US" altLang="ko-KR" dirty="0"/>
              <a:t>HAVING </a:t>
            </a:r>
            <a:r>
              <a:rPr kumimoji="1" lang="ko-KR" altLang="en-US" dirty="0"/>
              <a:t>문에 사용하는 열을 </a:t>
            </a:r>
            <a:r>
              <a:rPr kumimoji="1" lang="en-US" altLang="ko-KR" dirty="0"/>
              <a:t>SELECT </a:t>
            </a:r>
            <a:r>
              <a:rPr kumimoji="1" lang="ko-KR" altLang="en-US" dirty="0"/>
              <a:t>문과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문에 추가하면 됨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E2E7B57-3C7A-A9BF-EBB4-55B13A0A7556}"/>
              </a:ext>
            </a:extLst>
          </p:cNvPr>
          <p:cNvGrpSpPr/>
          <p:nvPr/>
        </p:nvGrpSpPr>
        <p:grpSpPr>
          <a:xfrm>
            <a:off x="1632406" y="3448463"/>
            <a:ext cx="5407025" cy="1255973"/>
            <a:chOff x="1514900" y="4698128"/>
            <a:chExt cx="9471548" cy="87161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BB07F7B-F511-A76F-2EAA-F612F8A24910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오류 없이 필터링할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DB5B6DF-7ECB-156A-34A5-E09699E9425C}"/>
                </a:ext>
              </a:extLst>
            </p:cNvPr>
            <p:cNvSpPr/>
            <p:nvPr/>
          </p:nvSpPr>
          <p:spPr>
            <a:xfrm>
              <a:off x="1514900" y="4923670"/>
              <a:ext cx="9471548" cy="64607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HAVING rating = 'R' AND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&gt; 8;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27B1133B-2461-E506-7103-06E751AF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973" y="3137388"/>
            <a:ext cx="4552096" cy="22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345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DISTINCT </a:t>
            </a:r>
            <a:r>
              <a:rPr kumimoji="1" lang="ko-KR" altLang="en-US" dirty="0">
                <a:solidFill>
                  <a:srgbClr val="E47525"/>
                </a:solidFill>
              </a:rPr>
              <a:t>문으로 중복된 데이터 제거하기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GROUP BY </a:t>
            </a:r>
            <a:r>
              <a:rPr kumimoji="1" lang="ko-KR" altLang="en-US" dirty="0"/>
              <a:t>문을 사용하지 않고 </a:t>
            </a:r>
            <a:br>
              <a:rPr kumimoji="1" lang="en-US" altLang="ko-KR" dirty="0"/>
            </a:br>
            <a:r>
              <a:rPr kumimoji="1" lang="ko-KR" altLang="en-US" dirty="0"/>
              <a:t>같은 열에 있는 중복 데이터를 제거하고 싶다면 </a:t>
            </a:r>
            <a:br>
              <a:rPr kumimoji="1" lang="en-US" altLang="ko-KR" dirty="0"/>
            </a:br>
            <a:r>
              <a:rPr kumimoji="1" lang="en-US" altLang="ko-KR" dirty="0"/>
              <a:t>DISTINCT </a:t>
            </a:r>
            <a:r>
              <a:rPr kumimoji="1" lang="ko-KR" altLang="en-US" dirty="0"/>
              <a:t>문을 사용하면 됨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DISTINCT </a:t>
            </a:r>
            <a:r>
              <a:rPr kumimoji="1" lang="ko-KR" altLang="en-US" dirty="0"/>
              <a:t>문의 기본 형식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DISTINCT </a:t>
            </a:r>
            <a:r>
              <a:rPr kumimoji="1" lang="ko-KR" altLang="en-US" dirty="0"/>
              <a:t>문은 지정한 열의 중복 데이터를 제거함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ABFB3A-400B-1044-BC1B-CB0B9EC7AF46}"/>
              </a:ext>
            </a:extLst>
          </p:cNvPr>
          <p:cNvSpPr/>
          <p:nvPr/>
        </p:nvSpPr>
        <p:spPr>
          <a:xfrm>
            <a:off x="1458460" y="4212772"/>
            <a:ext cx="5348740" cy="96882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600" b="1" i="0" u="none" strike="noStrike" baseline="0" dirty="0">
                <a:solidFill>
                  <a:srgbClr val="211D1E"/>
                </a:solidFill>
                <a:latin typeface="TDc_SSiGothic 160"/>
              </a:rPr>
              <a:t>DISTINCT </a:t>
            </a:r>
            <a:r>
              <a:rPr lang="ko-KR" altLang="en-US" sz="1600" b="1" i="0" u="none" strike="noStrike" baseline="0" dirty="0">
                <a:solidFill>
                  <a:srgbClr val="211D1E"/>
                </a:solidFill>
                <a:latin typeface="TDc_SSiGothic 160"/>
              </a:rPr>
              <a:t>문의 기본 형식</a:t>
            </a:r>
            <a:endParaRPr lang="en-US" altLang="ko-KR" sz="1600" b="1" i="0" u="none" strike="noStrike" baseline="0" dirty="0">
              <a:solidFill>
                <a:srgbClr val="211D1E"/>
              </a:solidFill>
              <a:latin typeface="TDc_SSiGothic 160"/>
            </a:endParaRPr>
          </a:p>
          <a:p>
            <a:pPr algn="just"/>
            <a:endParaRPr lang="ko-KR" altLang="en-US" sz="1600" b="0" i="0" u="none" strike="noStrike" baseline="0" dirty="0">
              <a:solidFill>
                <a:srgbClr val="211D1E"/>
              </a:solidFill>
              <a:latin typeface="TDc_SSiGothic 160"/>
            </a:endParaRPr>
          </a:p>
          <a:p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SELECT DISTINCT [</a:t>
            </a:r>
            <a:r>
              <a:rPr lang="ko-KR" altLang="en-US" sz="1600" b="0" i="0" u="none" strike="noStrike" baseline="0" dirty="0">
                <a:solidFill>
                  <a:srgbClr val="211D1E"/>
                </a:solidFill>
                <a:latin typeface="TDc_SSiGothic 120"/>
              </a:rPr>
              <a:t>열</a:t>
            </a:r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] FROM [</a:t>
            </a:r>
            <a:r>
              <a:rPr lang="ko-KR" altLang="en-US" sz="1600" b="0" i="0" u="none" strike="noStrike" baseline="0" dirty="0">
                <a:solidFill>
                  <a:srgbClr val="211D1E"/>
                </a:solidFill>
                <a:latin typeface="TDc_SSiGothic 120"/>
              </a:rPr>
              <a:t>테이블</a:t>
            </a:r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] </a:t>
            </a:r>
            <a:endParaRPr lang="ko-KR" altLang="en-US" sz="1600" i="0" u="none" strike="noStrike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28904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DISTINCT </a:t>
            </a:r>
            <a:r>
              <a:rPr kumimoji="1" lang="ko-KR" altLang="en-US" dirty="0">
                <a:solidFill>
                  <a:srgbClr val="E47525"/>
                </a:solidFill>
              </a:rPr>
              <a:t>문으로 중복된 데이터 제거하기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다음은 </a:t>
            </a:r>
            <a:r>
              <a:rPr kumimoji="1" lang="en-US" altLang="ko-KR" dirty="0"/>
              <a:t>DISTINCT </a:t>
            </a:r>
            <a:r>
              <a:rPr kumimoji="1" lang="ko-KR" altLang="en-US" dirty="0"/>
              <a:t>문으로 </a:t>
            </a:r>
            <a:r>
              <a:rPr kumimoji="1" lang="en-US" altLang="ko-KR" dirty="0"/>
              <a:t>film </a:t>
            </a:r>
            <a:r>
              <a:rPr kumimoji="1" lang="ko-KR" altLang="en-US" dirty="0"/>
              <a:t>테이블의 </a:t>
            </a:r>
            <a:r>
              <a:rPr kumimoji="1" lang="en-US" altLang="ko-KR" dirty="0" err="1"/>
              <a:t>special_features</a:t>
            </a:r>
            <a:r>
              <a:rPr kumimoji="1" lang="en-US" altLang="ko-KR" dirty="0"/>
              <a:t>, rating </a:t>
            </a:r>
            <a:r>
              <a:rPr kumimoji="1" lang="ko-KR" altLang="en-US" dirty="0"/>
              <a:t>열에서 </a:t>
            </a:r>
            <a:br>
              <a:rPr kumimoji="1" lang="en-US" altLang="ko-KR" dirty="0"/>
            </a:br>
            <a:r>
              <a:rPr kumimoji="1" lang="ko-KR" altLang="en-US" dirty="0"/>
              <a:t>중복된 데이터를 제거하는 쿼리임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결과를 보면 앞서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문으로 얻은 결과와 같은 것을 확인할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852271B-B80F-5FFE-C1CC-A6674CEC4F02}"/>
              </a:ext>
            </a:extLst>
          </p:cNvPr>
          <p:cNvGrpSpPr/>
          <p:nvPr/>
        </p:nvGrpSpPr>
        <p:grpSpPr>
          <a:xfrm>
            <a:off x="1755361" y="3524539"/>
            <a:ext cx="4863153" cy="757178"/>
            <a:chOff x="1514900" y="4698128"/>
            <a:chExt cx="9471548" cy="52546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679226-76F4-54E4-47A0-8B3C27C3DC38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두 열의 데이터 중복 제거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F884998-7286-062A-1F86-8C689A2E78CB}"/>
                </a:ext>
              </a:extLst>
            </p:cNvPr>
            <p:cNvSpPr/>
            <p:nvPr/>
          </p:nvSpPr>
          <p:spPr>
            <a:xfrm>
              <a:off x="1514900" y="4923670"/>
              <a:ext cx="9471548" cy="29991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DISTINCT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 FROM film;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02C00307-FC36-08EB-D621-388D31B58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039" y="3429000"/>
            <a:ext cx="4589917" cy="23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6626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DISTINCT </a:t>
            </a:r>
            <a:r>
              <a:rPr kumimoji="1" lang="ko-KR" altLang="en-US" dirty="0">
                <a:solidFill>
                  <a:srgbClr val="E47525"/>
                </a:solidFill>
              </a:rPr>
              <a:t>문으로 중복된 데이터 제거하기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비교를 위해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문의 결과를 살펴보자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852271B-B80F-5FFE-C1CC-A6674CEC4F02}"/>
              </a:ext>
            </a:extLst>
          </p:cNvPr>
          <p:cNvGrpSpPr/>
          <p:nvPr/>
        </p:nvGrpSpPr>
        <p:grpSpPr>
          <a:xfrm>
            <a:off x="1755361" y="2919784"/>
            <a:ext cx="6053325" cy="1018432"/>
            <a:chOff x="1514900" y="4698128"/>
            <a:chExt cx="9471548" cy="70676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679226-76F4-54E4-47A0-8B3C27C3DC38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GROUP BY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문으로 두 열을 그룹화한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F884998-7286-062A-1F86-8C689A2E78CB}"/>
                </a:ext>
              </a:extLst>
            </p:cNvPr>
            <p:cNvSpPr/>
            <p:nvPr/>
          </p:nvSpPr>
          <p:spPr>
            <a:xfrm>
              <a:off x="1514900" y="4923670"/>
              <a:ext cx="9471548" cy="48122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 FROM film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GROUP BY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DF8940ED-3CA8-FA0F-9162-A70A316AF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052" y="4010624"/>
            <a:ext cx="4357461" cy="230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0129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DISTINCT </a:t>
            </a:r>
            <a:r>
              <a:rPr kumimoji="1" lang="ko-KR" altLang="en-US" dirty="0">
                <a:solidFill>
                  <a:srgbClr val="E47525"/>
                </a:solidFill>
              </a:rPr>
              <a:t>문으로 중복된 데이터 제거하기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en-US" altLang="ko-KR" dirty="0"/>
              <a:t>GROUP BY </a:t>
            </a:r>
            <a:r>
              <a:rPr kumimoji="1" lang="ko-KR" altLang="en-US" dirty="0"/>
              <a:t>문을 사용했을 때와 결과가 같다고 해서 </a:t>
            </a:r>
            <a:br>
              <a:rPr kumimoji="1" lang="en-US" altLang="ko-KR" dirty="0"/>
            </a:br>
            <a:r>
              <a:rPr kumimoji="1" lang="en-US" altLang="ko-KR" dirty="0"/>
              <a:t>GROUP BY </a:t>
            </a:r>
            <a:r>
              <a:rPr kumimoji="1" lang="ko-KR" altLang="en-US" dirty="0"/>
              <a:t>문과 </a:t>
            </a:r>
            <a:r>
              <a:rPr kumimoji="1" lang="en-US" altLang="ko-KR" dirty="0"/>
              <a:t>DISTINCT </a:t>
            </a:r>
            <a:r>
              <a:rPr kumimoji="1" lang="ko-KR" altLang="en-US" dirty="0"/>
              <a:t>문이 같은 역할을 한다고 착각하면 안 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DISTINCT </a:t>
            </a:r>
            <a:r>
              <a:rPr kumimoji="1" lang="ko-KR" altLang="en-US" dirty="0"/>
              <a:t>문은 중복을 제거할 뿐이지 </a:t>
            </a:r>
            <a:br>
              <a:rPr kumimoji="1" lang="en-US" altLang="ko-KR" dirty="0"/>
            </a:br>
            <a:r>
              <a:rPr kumimoji="1" lang="ko-KR" altLang="en-US" dirty="0"/>
              <a:t>그룹화를 하거나 이를 이용해 계산 작업을 할 수는 없음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만약 계산이 필요하다면 반드시 </a:t>
            </a:r>
            <a:r>
              <a:rPr kumimoji="1" lang="en-US" altLang="ko-KR" dirty="0"/>
              <a:t>GROUP BY </a:t>
            </a:r>
            <a:r>
              <a:rPr kumimoji="1" lang="ko-KR" altLang="en-US" dirty="0"/>
              <a:t>문을 사용해야 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852271B-B80F-5FFE-C1CC-A6674CEC4F02}"/>
              </a:ext>
            </a:extLst>
          </p:cNvPr>
          <p:cNvGrpSpPr/>
          <p:nvPr/>
        </p:nvGrpSpPr>
        <p:grpSpPr>
          <a:xfrm>
            <a:off x="1726333" y="4696194"/>
            <a:ext cx="6648411" cy="761180"/>
            <a:chOff x="1514900" y="4698128"/>
            <a:chExt cx="9471548" cy="528238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679226-76F4-54E4-47A0-8B3C27C3DC38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DISTINCT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문에 </a:t>
              </a:r>
              <a:r>
                <a:rPr lang="en-US" altLang="ko-KR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COUNT </a:t>
              </a:r>
              <a:r>
                <a:rPr lang="ko-KR" altLang="en-US" sz="1400" b="1" i="0" u="none" strike="noStrike" baseline="0" dirty="0">
                  <a:solidFill>
                    <a:srgbClr val="211D1E"/>
                  </a:solidFill>
                  <a:latin typeface="TDc_SSiGothic 150"/>
                </a:rPr>
                <a:t>함수를 사용할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F884998-7286-062A-1F86-8C689A2E78CB}"/>
                </a:ext>
              </a:extLst>
            </p:cNvPr>
            <p:cNvSpPr/>
            <p:nvPr/>
          </p:nvSpPr>
          <p:spPr>
            <a:xfrm>
              <a:off x="1514900" y="4923670"/>
              <a:ext cx="9471548" cy="3026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DISTINCT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special_features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rating, COUNT(*) AS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FROM film;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676008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DISTINCT </a:t>
            </a:r>
            <a:r>
              <a:rPr kumimoji="1" lang="ko-KR" altLang="en-US" dirty="0">
                <a:solidFill>
                  <a:srgbClr val="E47525"/>
                </a:solidFill>
              </a:rPr>
              <a:t>문으로 중복된 데이터 제거하기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오류를 살펴보면 다음과 같은 메시지가 출력됨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내용을 살펴보면 </a:t>
            </a:r>
            <a:r>
              <a:rPr kumimoji="1" lang="en-US" altLang="ko-KR" dirty="0"/>
              <a:t>GROUP BY</a:t>
            </a:r>
            <a:r>
              <a:rPr kumimoji="1" lang="ko-KR" altLang="en-US" dirty="0"/>
              <a:t>가 사용되지 않아 발생한 오류임을 알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COUNT </a:t>
            </a:r>
            <a:r>
              <a:rPr kumimoji="1" lang="ko-KR" altLang="en-US" dirty="0"/>
              <a:t>함수를 사용하여 그룹별로 집계를 하기 때문에 반드시 </a:t>
            </a:r>
            <a:r>
              <a:rPr kumimoji="1" lang="en-US" altLang="ko-KR" dirty="0"/>
              <a:t>GROUP BY</a:t>
            </a:r>
            <a:r>
              <a:rPr kumimoji="1" lang="ko-KR" altLang="en-US" dirty="0"/>
              <a:t>가 필요함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6" y="475213"/>
            <a:ext cx="10520780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04-5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GROUP BY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문으로 데이터 묶기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0B7605-1A3D-92A8-004C-E3C344B43B02}"/>
              </a:ext>
            </a:extLst>
          </p:cNvPr>
          <p:cNvSpPr/>
          <p:nvPr/>
        </p:nvSpPr>
        <p:spPr>
          <a:xfrm>
            <a:off x="1748518" y="2856898"/>
            <a:ext cx="7313162" cy="90230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Error Code: 1140. In aggregated query without GROUP BY, expression #1 of SELECT list contains </a:t>
            </a:r>
            <a:r>
              <a:rPr lang="en-US" altLang="ko-KR" sz="1600" b="0" i="0" u="none" strike="noStrike" baseline="0" dirty="0" err="1">
                <a:solidFill>
                  <a:srgbClr val="211D1E"/>
                </a:solidFill>
                <a:latin typeface="D2Coding"/>
              </a:rPr>
              <a:t>nonaggregated</a:t>
            </a:r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 column '</a:t>
            </a:r>
            <a:r>
              <a:rPr lang="en-US" altLang="ko-KR" sz="1600" b="0" i="0" u="none" strike="noStrike" baseline="0" dirty="0" err="1">
                <a:solidFill>
                  <a:srgbClr val="211D1E"/>
                </a:solidFill>
                <a:latin typeface="D2Coding"/>
              </a:rPr>
              <a:t>sakila.film.special_features</a:t>
            </a:r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'; this is incompatible with </a:t>
            </a:r>
            <a:r>
              <a:rPr lang="en-US" altLang="ko-KR" sz="1600" b="0" i="0" u="none" strike="noStrike" baseline="0" dirty="0" err="1">
                <a:solidFill>
                  <a:srgbClr val="211D1E"/>
                </a:solidFill>
                <a:latin typeface="D2Coding"/>
              </a:rPr>
              <a:t>sql_mode</a:t>
            </a:r>
            <a:r>
              <a:rPr lang="en-US" altLang="ko-KR" sz="1600" b="0" i="0" u="none" strike="noStrike" baseline="0" dirty="0">
                <a:solidFill>
                  <a:srgbClr val="211D1E"/>
                </a:solidFill>
                <a:latin typeface="D2Coding"/>
              </a:rPr>
              <a:t>=</a:t>
            </a:r>
            <a:r>
              <a:rPr lang="en-US" altLang="ko-KR" sz="1600" b="0" i="0" u="none" strike="noStrike" baseline="0" dirty="0" err="1">
                <a:solidFill>
                  <a:srgbClr val="211D1E"/>
                </a:solidFill>
                <a:latin typeface="D2Coding"/>
              </a:rPr>
              <a:t>only_full_group_by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95372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157105"/>
          </a:xfrm>
        </p:spPr>
        <p:txBody>
          <a:bodyPr>
            <a:normAutofit lnSpcReduction="10000"/>
          </a:bodyPr>
          <a:lstStyle/>
          <a:p>
            <a:pPr lvl="1">
              <a:buClr>
                <a:srgbClr val="E47525"/>
              </a:buClr>
            </a:pPr>
            <a:r>
              <a:rPr kumimoji="1" lang="ko-KR" altLang="en-US" dirty="0"/>
              <a:t>테이블 생성 시 사용할 수 있는 다양한 옵션을 살펴봄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이번 실습은 </a:t>
            </a:r>
            <a:r>
              <a:rPr kumimoji="1" lang="en-US" altLang="ko-KR" dirty="0" err="1"/>
              <a:t>doitsql</a:t>
            </a:r>
            <a:r>
              <a:rPr kumimoji="1" lang="en-US" altLang="ko-KR" dirty="0"/>
              <a:t> </a:t>
            </a:r>
            <a:r>
              <a:rPr kumimoji="1" lang="ko-KR" altLang="en-US" dirty="0"/>
              <a:t>데이터베이스에서 진행하므로 </a:t>
            </a:r>
            <a:br>
              <a:rPr kumimoji="1" lang="en-US" altLang="ko-KR" dirty="0"/>
            </a:br>
            <a:r>
              <a:rPr kumimoji="1" lang="ko-KR" altLang="en-US" dirty="0"/>
              <a:t>이 데이터베이스가 없다면 다음 쿼리문을 입력하여 </a:t>
            </a:r>
            <a:br>
              <a:rPr kumimoji="1" lang="en-US" altLang="ko-KR" dirty="0"/>
            </a:br>
            <a:r>
              <a:rPr kumimoji="1" lang="ko-KR" altLang="en-US" dirty="0"/>
              <a:t>데이터베이스를 먼저 생성한 뒤 시작하자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/>
              <a:t>테이블을 생성할 때 어떤 열에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를 적용하면</a:t>
            </a:r>
            <a:br>
              <a:rPr kumimoji="1" lang="en-US" altLang="ko-KR" dirty="0"/>
            </a:br>
            <a:r>
              <a:rPr kumimoji="1" lang="ko-KR" altLang="en-US" dirty="0"/>
              <a:t>해당 열은 </a:t>
            </a:r>
            <a:r>
              <a:rPr kumimoji="1" lang="en-US" altLang="ko-KR" dirty="0"/>
              <a:t>1</a:t>
            </a:r>
            <a:r>
              <a:rPr kumimoji="1" lang="ko-KR" altLang="en-US" dirty="0"/>
              <a:t>씩 또는 사용자가 정의한 값만큼 증가하며 데이터가 자동으로 입력됨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</a:t>
            </a:r>
            <a:r>
              <a:rPr kumimoji="1" lang="en-US" altLang="ko-KR" dirty="0"/>
              <a:t>, AUTO_INCREMENT</a:t>
            </a:r>
            <a:r>
              <a:rPr kumimoji="1" lang="ko-KR" altLang="en-US" dirty="0"/>
              <a:t>가 적용된 열을 생성할 때에는 </a:t>
            </a:r>
            <a:br>
              <a:rPr kumimoji="1" lang="en-US" altLang="ko-KR" dirty="0"/>
            </a:br>
            <a:r>
              <a:rPr kumimoji="1" lang="ko-KR" altLang="en-US" dirty="0"/>
              <a:t>반드시 해당 열을 기본키로 설정해야 함 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7F453D-F704-3DAB-8C67-6C2FCD5BA66C}"/>
              </a:ext>
            </a:extLst>
          </p:cNvPr>
          <p:cNvSpPr/>
          <p:nvPr/>
        </p:nvSpPr>
        <p:spPr>
          <a:xfrm>
            <a:off x="1503953" y="3217745"/>
            <a:ext cx="8568962" cy="42250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CREATE DATABASE IF NOT EXISTS </a:t>
            </a:r>
            <a:r>
              <a:rPr lang="en-US" altLang="ko-KR" sz="1400" b="1" i="0" u="none" strike="noStrike" baseline="0" dirty="0" err="1">
                <a:solidFill>
                  <a:schemeClr val="tx1"/>
                </a:solidFill>
              </a:rPr>
              <a:t>doitsql</a:t>
            </a:r>
            <a:r>
              <a:rPr lang="en-US" altLang="ko-KR" sz="1400" b="1" i="0" u="none" strike="noStrike" baseline="0" dirty="0">
                <a:solidFill>
                  <a:schemeClr val="tx1"/>
                </a:solidFill>
              </a:rPr>
              <a:t>;</a:t>
            </a:r>
            <a:endParaRPr lang="ko-KR" altLang="en-US" sz="1200" i="0" strike="noStrike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6874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데이터 입력하기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다음 쿼리는 테이블을 생성할 때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를 적용하여 데이터를 입력함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테이블을 생성한 뒤</a:t>
            </a:r>
            <a:r>
              <a:rPr kumimoji="1" lang="en-US" altLang="ko-KR" dirty="0"/>
              <a:t>, </a:t>
            </a:r>
            <a:r>
              <a:rPr kumimoji="1" lang="ko-KR" altLang="en-US" dirty="0"/>
              <a:t>조회해 보면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가 적용된 열에 </a:t>
            </a:r>
            <a:br>
              <a:rPr kumimoji="1" lang="en-US" altLang="ko-KR" dirty="0"/>
            </a:br>
            <a:r>
              <a:rPr kumimoji="1" lang="ko-KR" altLang="en-US" dirty="0"/>
              <a:t>자동으로 </a:t>
            </a:r>
            <a:r>
              <a:rPr kumimoji="1" lang="en-US" altLang="ko-KR" dirty="0"/>
              <a:t>1</a:t>
            </a:r>
            <a:r>
              <a:rPr kumimoji="1" lang="ko-KR" altLang="en-US" dirty="0"/>
              <a:t>씩 증가한 데이터가 입력된 것을 확인할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140948648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데이터 입력하기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ABA7EE5-8806-0020-E02F-D5526DD9E83A}"/>
              </a:ext>
            </a:extLst>
          </p:cNvPr>
          <p:cNvGrpSpPr/>
          <p:nvPr/>
        </p:nvGrpSpPr>
        <p:grpSpPr>
          <a:xfrm>
            <a:off x="2169433" y="2987903"/>
            <a:ext cx="6652530" cy="3394883"/>
            <a:chOff x="1514900" y="4698128"/>
            <a:chExt cx="9471548" cy="235595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6AB9962-F49A-52E3-6A07-330DB9A66AA3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첫 번째 열에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AUTO_INCREMENT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적용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27FECF8-9C54-A6B3-FEB8-0C3C503EF245}"/>
                </a:ext>
              </a:extLst>
            </p:cNvPr>
            <p:cNvSpPr/>
            <p:nvPr/>
          </p:nvSpPr>
          <p:spPr>
            <a:xfrm>
              <a:off x="1514900" y="4923668"/>
              <a:ext cx="9471548" cy="213041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USE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doitsql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col_1 INT AUTO_INCREMENT PRIMARY KEY,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col_2 VARCHAR(50),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col_3 INT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dirty="0">
                  <a:solidFill>
                    <a:schemeClr val="tx1"/>
                  </a:solidFill>
                </a:rPr>
                <a:t>INSERT INTO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doit_increment</a:t>
              </a:r>
              <a:r>
                <a:rPr lang="en-US" altLang="ko-KR" sz="1600" dirty="0">
                  <a:solidFill>
                    <a:schemeClr val="tx1"/>
                  </a:solidFill>
                </a:rPr>
                <a:t> (col_2, col_3) VALUES ('1 </a:t>
              </a:r>
              <a:r>
                <a:rPr lang="ko-KR" altLang="en-US" sz="1600" dirty="0">
                  <a:solidFill>
                    <a:schemeClr val="tx1"/>
                  </a:solidFill>
                </a:rPr>
                <a:t>자동 입력</a:t>
              </a:r>
              <a:r>
                <a:rPr lang="en-US" altLang="ko-KR" sz="1600" dirty="0">
                  <a:solidFill>
                    <a:schemeClr val="tx1"/>
                  </a:solidFill>
                </a:rPr>
                <a:t>', 1);</a:t>
              </a:r>
            </a:p>
            <a:p>
              <a:pPr algn="just"/>
              <a:r>
                <a:rPr lang="en-US" altLang="ko-KR" sz="1600" dirty="0">
                  <a:solidFill>
                    <a:schemeClr val="tx1"/>
                  </a:solidFill>
                </a:rPr>
                <a:t>INSERT INTO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doit_increment</a:t>
              </a:r>
              <a:r>
                <a:rPr lang="en-US" altLang="ko-KR" sz="1600" dirty="0">
                  <a:solidFill>
                    <a:schemeClr val="tx1"/>
                  </a:solidFill>
                </a:rPr>
                <a:t> (col_2, col_3) VALUES ('2 </a:t>
              </a:r>
              <a:r>
                <a:rPr lang="ko-KR" altLang="en-US" sz="1600" dirty="0">
                  <a:solidFill>
                    <a:schemeClr val="tx1"/>
                  </a:solidFill>
                </a:rPr>
                <a:t>자동 입력</a:t>
              </a:r>
              <a:r>
                <a:rPr lang="en-US" altLang="ko-KR" sz="1600" dirty="0">
                  <a:solidFill>
                    <a:schemeClr val="tx1"/>
                  </a:solidFill>
                </a:rPr>
                <a:t>', 2);</a:t>
              </a:r>
            </a:p>
            <a:p>
              <a:pPr algn="just"/>
              <a:endParaRPr lang="en-US" altLang="ko-KR" sz="1600" dirty="0">
                <a:solidFill>
                  <a:schemeClr val="tx1"/>
                </a:solidFill>
              </a:endParaRPr>
            </a:p>
            <a:p>
              <a:pPr algn="just"/>
              <a:r>
                <a:rPr lang="en-US" altLang="ko-KR" sz="1600" dirty="0">
                  <a:solidFill>
                    <a:schemeClr val="tx1"/>
                  </a:solidFill>
                </a:rPr>
                <a:t>SELECT * FROM </a:t>
              </a:r>
              <a:r>
                <a:rPr lang="en-US" altLang="ko-KR" sz="1600" dirty="0" err="1">
                  <a:solidFill>
                    <a:schemeClr val="tx1"/>
                  </a:solidFill>
                </a:rPr>
                <a:t>doit_increment</a:t>
              </a:r>
              <a:r>
                <a:rPr lang="en-US" altLang="ko-KR" sz="1600" dirty="0">
                  <a:solidFill>
                    <a:schemeClr val="tx1"/>
                  </a:solidFill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9A91B76-557B-8A67-2898-4E3BE0906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91" y="5335006"/>
            <a:ext cx="2637518" cy="104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612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데이터 입력하기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그런데 쿼리를 살펴보면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가 설정된 열에는 값을 입력하지 않았음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AUTO_INCREMENT</a:t>
            </a:r>
            <a:r>
              <a:rPr kumimoji="1" lang="ko-KR" altLang="en-US" dirty="0"/>
              <a:t>에 의해 자동으로 값이 증가돼 입력되도록 정의되어 있기 때문임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94414624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데이터 입력하기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가 정의된 열에 값을 입력하려고 하면 어떻게 되는지 알아보자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자동 입력되는 값과 동일한 값을 입력한 경우 </a:t>
            </a:r>
            <a:br>
              <a:rPr kumimoji="1" lang="en-US" altLang="ko-KR" dirty="0"/>
            </a:br>
            <a:r>
              <a:rPr kumimoji="1" lang="ko-KR" altLang="en-US" dirty="0"/>
              <a:t>문제없이 쿼리가 실행되고 이와 같은 결과가 출력됨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84C0198-F350-686E-6970-857FB092B1DF}"/>
              </a:ext>
            </a:extLst>
          </p:cNvPr>
          <p:cNvGrpSpPr/>
          <p:nvPr/>
        </p:nvGrpSpPr>
        <p:grpSpPr>
          <a:xfrm>
            <a:off x="2169433" y="3584368"/>
            <a:ext cx="6652530" cy="1129598"/>
            <a:chOff x="1514900" y="4698128"/>
            <a:chExt cx="9471548" cy="7839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CC63940-95BA-B7E9-914B-518C65976C7C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자동 입력되는 값과 동일한 값을 입력한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1FE692D-8E45-D776-E8AD-3282B10572DE}"/>
                </a:ext>
              </a:extLst>
            </p:cNvPr>
            <p:cNvSpPr/>
            <p:nvPr/>
          </p:nvSpPr>
          <p:spPr>
            <a:xfrm>
              <a:off x="1514900" y="4923669"/>
              <a:ext cx="9471548" cy="55837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(col_1, col_2, col_3) VALUES (3, '3 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자동 입력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', 3);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8764EAD-B4A8-C467-EDD4-7F4433484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336" y="3429000"/>
            <a:ext cx="2569936" cy="128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3307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데이터 입력하기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이번에는 자동 입력되는 값보다 큰 값을 입력해 보자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                                               </a:t>
            </a:r>
            <a:r>
              <a:rPr kumimoji="1" lang="ko-KR" altLang="en-US" dirty="0"/>
              <a:t>이 경우도 문제없이 쿼리가 실행되고 </a:t>
            </a:r>
            <a:br>
              <a:rPr kumimoji="1" lang="en-US" altLang="ko-KR" dirty="0"/>
            </a:br>
            <a:r>
              <a:rPr kumimoji="1" lang="en-US" altLang="ko-KR" dirty="0"/>
              <a:t>                                               </a:t>
            </a:r>
            <a:r>
              <a:rPr kumimoji="1" lang="ko-KR" altLang="en-US" dirty="0"/>
              <a:t>이와 같은 결과가 출력됨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84C0198-F350-686E-6970-857FB092B1DF}"/>
              </a:ext>
            </a:extLst>
          </p:cNvPr>
          <p:cNvGrpSpPr/>
          <p:nvPr/>
        </p:nvGrpSpPr>
        <p:grpSpPr>
          <a:xfrm>
            <a:off x="2169433" y="3584369"/>
            <a:ext cx="7845424" cy="1190831"/>
            <a:chOff x="1514900" y="4698128"/>
            <a:chExt cx="9471548" cy="82640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CC63940-95BA-B7E9-914B-518C65976C7C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자동 입력되는 값보다 큰 값을 입력한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1FE692D-8E45-D776-E8AD-3282B10572DE}"/>
                </a:ext>
              </a:extLst>
            </p:cNvPr>
            <p:cNvSpPr/>
            <p:nvPr/>
          </p:nvSpPr>
          <p:spPr>
            <a:xfrm>
              <a:off x="1514900" y="4923669"/>
              <a:ext cx="9471548" cy="60086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(col_1, col_2, col_3) VALUES (5, '4 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건너뛰고 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5 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자동 입력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', 5);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D6B1CB4-4D5C-D9D6-7C1A-F4858AED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919" y="4820602"/>
            <a:ext cx="3003324" cy="145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1393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데이터 입력하기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다시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이 적용된 </a:t>
            </a:r>
            <a:r>
              <a:rPr kumimoji="1" lang="en-US" altLang="ko-KR" dirty="0"/>
              <a:t>1</a:t>
            </a:r>
            <a:r>
              <a:rPr kumimoji="1" lang="ko-KR" altLang="en-US" dirty="0"/>
              <a:t>열을 제외하고 </a:t>
            </a:r>
            <a:br>
              <a:rPr kumimoji="1" lang="en-US" altLang="ko-KR" dirty="0"/>
            </a:br>
            <a:r>
              <a:rPr kumimoji="1" lang="en-US" altLang="ko-KR" dirty="0"/>
              <a:t>2, 3</a:t>
            </a:r>
            <a:r>
              <a:rPr kumimoji="1" lang="ko-KR" altLang="en-US" dirty="0"/>
              <a:t>열에 데이터를 입력해 보자</a:t>
            </a:r>
            <a:r>
              <a:rPr kumimoji="1" lang="en-US" altLang="ko-KR" dirty="0"/>
              <a:t>. </a:t>
            </a:r>
            <a:r>
              <a:rPr kumimoji="1" lang="ko-KR" altLang="en-US" dirty="0"/>
              <a:t>어떤 값이 입력될까</a:t>
            </a:r>
            <a:r>
              <a:rPr kumimoji="1" lang="en-US" altLang="ko-KR" dirty="0"/>
              <a:t>?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5 </a:t>
            </a:r>
            <a:r>
              <a:rPr kumimoji="1" lang="ko-KR" altLang="en-US" dirty="0"/>
              <a:t>다음 값인 </a:t>
            </a:r>
            <a:r>
              <a:rPr kumimoji="1" lang="en-US" altLang="ko-KR" dirty="0"/>
              <a:t>6</a:t>
            </a:r>
            <a:r>
              <a:rPr kumimoji="1" lang="ko-KR" altLang="en-US" dirty="0"/>
              <a:t>이 자동 입력된 것을 알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84C0198-F350-686E-6970-857FB092B1DF}"/>
              </a:ext>
            </a:extLst>
          </p:cNvPr>
          <p:cNvGrpSpPr/>
          <p:nvPr/>
        </p:nvGrpSpPr>
        <p:grpSpPr>
          <a:xfrm>
            <a:off x="1117803" y="3863762"/>
            <a:ext cx="7279368" cy="1209222"/>
            <a:chOff x="1514900" y="4698128"/>
            <a:chExt cx="9471548" cy="83916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CC63940-95BA-B7E9-914B-518C65976C7C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1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열을 제외하고 데이터 입력한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1FE692D-8E45-D776-E8AD-3282B10572DE}"/>
                </a:ext>
              </a:extLst>
            </p:cNvPr>
            <p:cNvSpPr/>
            <p:nvPr/>
          </p:nvSpPr>
          <p:spPr>
            <a:xfrm>
              <a:off x="1514900" y="4923669"/>
              <a:ext cx="9471548" cy="61362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(col_2, col_3) VALUES ('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어디까지 입력되었을까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?', 0);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730F6A4-BF23-6583-4171-1B642BBF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713" y="3813900"/>
            <a:ext cx="2713062" cy="13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2100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</a:t>
            </a:r>
            <a:r>
              <a:rPr kumimoji="1" lang="ko-KR" altLang="en-US" b="1" dirty="0"/>
              <a:t>로 자동 생성된 마지막 값 확인하기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앞선 예처럼 데이터를 입력하다 보면 </a:t>
            </a:r>
            <a:br>
              <a:rPr kumimoji="1" lang="en-US" altLang="ko-KR" dirty="0"/>
            </a:br>
            <a:r>
              <a:rPr kumimoji="1" lang="ko-KR" altLang="en-US" dirty="0"/>
              <a:t>숫자가 연속적으로 입력되는 것이 아니므로 </a:t>
            </a:r>
            <a:br>
              <a:rPr kumimoji="1" lang="en-US" altLang="ko-KR" dirty="0"/>
            </a:br>
            <a:r>
              <a:rPr kumimoji="1" lang="en-US" altLang="ko-KR" dirty="0"/>
              <a:t>AUTO_INCREMENT</a:t>
            </a:r>
            <a:r>
              <a:rPr kumimoji="1" lang="ko-KR" altLang="en-US" dirty="0"/>
              <a:t>가 적용됐을 때 데이터가 어디까지 입력됐는지 궁금할 것임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 다음 쿼리를 사용하면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가 적용된 열의 </a:t>
            </a:r>
            <a:br>
              <a:rPr kumimoji="1" lang="en-US" altLang="ko-KR" dirty="0"/>
            </a:br>
            <a:r>
              <a:rPr kumimoji="1" lang="ko-KR" altLang="en-US" dirty="0"/>
              <a:t>마지막 데이터를 확인할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sz="1000" dirty="0"/>
            </a:br>
            <a:r>
              <a:rPr kumimoji="1" lang="ko-KR" altLang="en-US" dirty="0"/>
              <a:t>쿼리를 실행한 결과</a:t>
            </a:r>
            <a:r>
              <a:rPr kumimoji="1" lang="en-US" altLang="ko-KR" dirty="0"/>
              <a:t>, 6</a:t>
            </a:r>
            <a:r>
              <a:rPr kumimoji="1" lang="ko-KR" altLang="en-US" dirty="0"/>
              <a:t>까지 입력되어 있음을 알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LAST_INSERT_ID()</a:t>
            </a:r>
            <a:r>
              <a:rPr kumimoji="1" lang="ko-KR" altLang="en-US" dirty="0"/>
              <a:t>는 현재 마지막 </a:t>
            </a:r>
            <a:r>
              <a:rPr kumimoji="1" lang="en-US" altLang="ko-KR" dirty="0"/>
              <a:t>AUTO_INCREMENT </a:t>
            </a:r>
            <a:r>
              <a:rPr kumimoji="1" lang="ko-KR" altLang="en-US" dirty="0"/>
              <a:t>값을 보여줌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84C0198-F350-686E-6970-857FB092B1DF}"/>
              </a:ext>
            </a:extLst>
          </p:cNvPr>
          <p:cNvGrpSpPr/>
          <p:nvPr/>
        </p:nvGrpSpPr>
        <p:grpSpPr>
          <a:xfrm>
            <a:off x="1974145" y="4840480"/>
            <a:ext cx="5602312" cy="650000"/>
            <a:chOff x="1514900" y="4698128"/>
            <a:chExt cx="9471548" cy="45108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CC63940-95BA-B7E9-914B-518C65976C7C}"/>
                </a:ext>
              </a:extLst>
            </p:cNvPr>
            <p:cNvSpPr/>
            <p:nvPr/>
          </p:nvSpPr>
          <p:spPr>
            <a:xfrm>
              <a:off x="1514900" y="4698128"/>
              <a:ext cx="9471548" cy="2255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AUTO_INCREMENT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가 적용된 열의 마지막 데이터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1FE692D-8E45-D776-E8AD-3282B10572DE}"/>
                </a:ext>
              </a:extLst>
            </p:cNvPr>
            <p:cNvSpPr/>
            <p:nvPr/>
          </p:nvSpPr>
          <p:spPr>
            <a:xfrm>
              <a:off x="1514900" y="4923669"/>
              <a:ext cx="9471548" cy="22554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LAST_INSERT_ID();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D5FDD691-933B-06DE-40DC-C861DEB2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487" y="4786261"/>
            <a:ext cx="1741713" cy="77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7938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 </a:t>
            </a:r>
            <a:r>
              <a:rPr kumimoji="1" lang="ko-KR" altLang="en-US" b="1" dirty="0" err="1"/>
              <a:t>시작값</a:t>
            </a:r>
            <a:r>
              <a:rPr kumimoji="1" lang="ko-KR" altLang="en-US" b="1" dirty="0"/>
              <a:t> 변경하기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이번에는 </a:t>
            </a:r>
            <a:r>
              <a:rPr kumimoji="1" lang="en-US" altLang="ko-KR" dirty="0"/>
              <a:t>AUTO_INCREMENT</a:t>
            </a:r>
            <a:r>
              <a:rPr kumimoji="1" lang="ko-KR" altLang="en-US" dirty="0"/>
              <a:t>을 다시 적용했을 때 </a:t>
            </a:r>
            <a:br>
              <a:rPr kumimoji="1" lang="en-US" altLang="ko-KR" dirty="0"/>
            </a:br>
            <a:r>
              <a:rPr kumimoji="1" lang="ko-KR" altLang="en-US" dirty="0"/>
              <a:t>다른 값으로 시작하도록 설정하는 방법을 알아보자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이미 해당 열에 입력된 값이 있다면 </a:t>
            </a:r>
            <a:br>
              <a:rPr kumimoji="1" lang="en-US" altLang="ko-KR" dirty="0"/>
            </a:br>
            <a:r>
              <a:rPr kumimoji="1" lang="ko-KR" altLang="en-US" dirty="0"/>
              <a:t>그 값보다는 큰 값으로 설정해야 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100</a:t>
            </a:r>
            <a:r>
              <a:rPr kumimoji="1" lang="ko-KR" altLang="en-US" dirty="0"/>
              <a:t>부터 다시 시작하도록 값을 설정함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28168669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 </a:t>
            </a:r>
            <a:r>
              <a:rPr kumimoji="1" lang="ko-KR" altLang="en-US" b="1" dirty="0" err="1"/>
              <a:t>시작값</a:t>
            </a:r>
            <a:r>
              <a:rPr kumimoji="1" lang="ko-KR" altLang="en-US" b="1" dirty="0"/>
              <a:t> 변경하기</a:t>
            </a:r>
            <a:endParaRPr kumimoji="1" lang="en-US" altLang="ko-KR" b="1" dirty="0"/>
          </a:p>
          <a:p>
            <a:pPr marL="1371600" lvl="2" indent="-457200">
              <a:buClr>
                <a:srgbClr val="E47525"/>
              </a:buClr>
              <a:buFont typeface="+mj-lt"/>
              <a:buAutoNum type="arabicPeriod"/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D4D544-8DB0-13A3-D131-974A0C6C3FD3}"/>
              </a:ext>
            </a:extLst>
          </p:cNvPr>
          <p:cNvGrpSpPr/>
          <p:nvPr/>
        </p:nvGrpSpPr>
        <p:grpSpPr>
          <a:xfrm>
            <a:off x="2127382" y="2976676"/>
            <a:ext cx="7845424" cy="1421157"/>
            <a:chOff x="1514900" y="4770981"/>
            <a:chExt cx="9471548" cy="73096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434F0AC-6AA8-F0DB-5DA9-04558FBA41ED}"/>
                </a:ext>
              </a:extLst>
            </p:cNvPr>
            <p:cNvSpPr/>
            <p:nvPr/>
          </p:nvSpPr>
          <p:spPr>
            <a:xfrm>
              <a:off x="1514900" y="4770981"/>
              <a:ext cx="9471548" cy="1526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자동으로 입력되는 값을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100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부터 시작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0C5BCC-20DA-77D2-3F73-6F5C04286DF8}"/>
                </a:ext>
              </a:extLst>
            </p:cNvPr>
            <p:cNvSpPr/>
            <p:nvPr/>
          </p:nvSpPr>
          <p:spPr>
            <a:xfrm>
              <a:off x="1514900" y="4923669"/>
              <a:ext cx="9471548" cy="57827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ALTER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AUTO_INCREMENT=100;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(col_2, col_3) VALUES ('</a:t>
              </a:r>
              <a:r>
                <a:rPr lang="ko-KR" altLang="en-US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시작값이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변경되었을까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?', 0);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4C20BB5-284C-914E-1803-7116FBB83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405" y="4474721"/>
            <a:ext cx="3260887" cy="187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5274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en-US" altLang="ko-KR" dirty="0">
                <a:solidFill>
                  <a:srgbClr val="E47525"/>
                </a:solidFill>
              </a:rPr>
              <a:t>AUTO_INCREMENT</a:t>
            </a:r>
            <a:r>
              <a:rPr kumimoji="1" lang="ko-KR" altLang="en-US" dirty="0">
                <a:solidFill>
                  <a:srgbClr val="E47525"/>
                </a:solidFill>
              </a:rPr>
              <a:t>로 데이터 자동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b="1" dirty="0"/>
              <a:t>AUTO_INCREMENT </a:t>
            </a:r>
            <a:r>
              <a:rPr kumimoji="1" lang="ko-KR" altLang="en-US" b="1" dirty="0" err="1"/>
              <a:t>증갓값</a:t>
            </a:r>
            <a:r>
              <a:rPr kumimoji="1" lang="ko-KR" altLang="en-US" b="1" dirty="0"/>
              <a:t> 변경하기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자동으로 입력되는 값이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아닌 </a:t>
            </a:r>
            <a:r>
              <a:rPr kumimoji="1" lang="en-US" altLang="ko-KR" dirty="0"/>
              <a:t>5</a:t>
            </a:r>
            <a:r>
              <a:rPr kumimoji="1" lang="ko-KR" altLang="en-US" dirty="0"/>
              <a:t>씩 증가하도록 수정해 보자</a:t>
            </a:r>
            <a:r>
              <a:rPr kumimoji="1" lang="en-US" altLang="ko-KR" dirty="0"/>
              <a:t> </a:t>
            </a:r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 쿼리를 입력하고 결과를 살펴보면 </a:t>
            </a:r>
            <a:r>
              <a:rPr kumimoji="1" lang="en-US" altLang="ko-KR" dirty="0"/>
              <a:t>5</a:t>
            </a:r>
            <a:r>
              <a:rPr kumimoji="1" lang="ko-KR" altLang="en-US" dirty="0"/>
              <a:t>씩 증가된 것을 확인할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그런데 </a:t>
            </a:r>
            <a:r>
              <a:rPr kumimoji="1" lang="ko-KR" altLang="en-US" dirty="0" err="1"/>
              <a:t>증갓값을</a:t>
            </a:r>
            <a:r>
              <a:rPr kumimoji="1" lang="ko-KR" altLang="en-US" dirty="0"/>
              <a:t> 수정하면 첫 데이터는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증가하고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첫 데이터를 입력한 이후 데이터부터 </a:t>
            </a:r>
            <a:r>
              <a:rPr kumimoji="1" lang="en-US" altLang="ko-KR" dirty="0"/>
              <a:t>5</a:t>
            </a:r>
            <a:r>
              <a:rPr kumimoji="1" lang="ko-KR" altLang="en-US" dirty="0"/>
              <a:t>씩 증가하는 것을 알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D4D544-8DB0-13A3-D131-974A0C6C3FD3}"/>
              </a:ext>
            </a:extLst>
          </p:cNvPr>
          <p:cNvGrpSpPr/>
          <p:nvPr/>
        </p:nvGrpSpPr>
        <p:grpSpPr>
          <a:xfrm>
            <a:off x="1912030" y="4486080"/>
            <a:ext cx="6549799" cy="1615917"/>
            <a:chOff x="1514900" y="4745033"/>
            <a:chExt cx="9471548" cy="83114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434F0AC-6AA8-F0DB-5DA9-04558FBA41ED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자동으로 입력되는 값이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5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씩 증가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0C5BCC-20DA-77D2-3F73-6F5C04286DF8}"/>
                </a:ext>
              </a:extLst>
            </p:cNvPr>
            <p:cNvSpPr/>
            <p:nvPr/>
          </p:nvSpPr>
          <p:spPr>
            <a:xfrm>
              <a:off x="1514900" y="4923669"/>
              <a:ext cx="9471548" cy="65250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SET @@AUTO_INCREMENT_INCREMENT = 5;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(col_2, col_3) VALUES ('5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씩 증가할까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? (1)', 0);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(col_2, col_3) VALUES ('5</a:t>
              </a:r>
              <a:r>
                <a:rPr lang="ko-KR" altLang="en-US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씩 증가할까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? (2)', 0);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doit_increment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52C5651-1D5B-CCA9-5FEA-EE862C0C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371" y="4556462"/>
            <a:ext cx="3137354" cy="163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6034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조회 결과를 다른 테이블에 입력하기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조회한 결과를 다른 테이블에 입력해 보자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INSERT INTO ~ SELECT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SELECT ~ INTO</a:t>
            </a:r>
            <a:r>
              <a:rPr kumimoji="1" lang="ko-KR" altLang="en-US" dirty="0"/>
              <a:t>를 사용함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이때 반드시 입력하려는 테이블과 조회한 열의 데이터 유형이 동일해야 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먼저 본격적인 실습을 위해서 다음과 같이 </a:t>
            </a:r>
            <a:br>
              <a:rPr kumimoji="1" lang="en-US" altLang="ko-KR" dirty="0"/>
            </a:br>
            <a:r>
              <a:rPr kumimoji="1" lang="en-US" altLang="ko-KR" dirty="0" err="1"/>
              <a:t>doit_insert_select_from</a:t>
            </a:r>
            <a:r>
              <a:rPr kumimoji="1" lang="ko-KR" altLang="en-US" dirty="0"/>
              <a:t>과 </a:t>
            </a:r>
            <a:r>
              <a:rPr kumimoji="1" lang="en-US" altLang="ko-KR" dirty="0" err="1"/>
              <a:t>doit_insert_select_to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개의 테이블을 생성함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 err="1"/>
              <a:t>그다음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초기 데이터를 </a:t>
            </a:r>
            <a:r>
              <a:rPr kumimoji="1" lang="en-US" altLang="ko-KR" dirty="0" err="1"/>
              <a:t>doit_insert_select_from</a:t>
            </a:r>
            <a:r>
              <a:rPr kumimoji="1" lang="ko-KR" altLang="en-US" dirty="0"/>
              <a:t>에 입력함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마지막으로 </a:t>
            </a:r>
            <a:r>
              <a:rPr kumimoji="1" lang="en-US" altLang="ko-KR" dirty="0" err="1"/>
              <a:t>doit_insert_select_from</a:t>
            </a:r>
            <a:r>
              <a:rPr kumimoji="1" lang="ko-KR" altLang="en-US" dirty="0"/>
              <a:t>의 데이터를 조회해서 </a:t>
            </a:r>
            <a:br>
              <a:rPr kumimoji="1" lang="en-US" altLang="ko-KR" dirty="0"/>
            </a:br>
            <a:r>
              <a:rPr kumimoji="1" lang="en-US" altLang="ko-KR" dirty="0" err="1"/>
              <a:t>doit_insert_select_to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테이블로 입력해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140848269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sz="1000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조회 결과를 다른 테이블에 입력하기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D95476-7AC1-B45C-C51D-44B2EE1B322C}"/>
              </a:ext>
            </a:extLst>
          </p:cNvPr>
          <p:cNvGrpSpPr/>
          <p:nvPr/>
        </p:nvGrpSpPr>
        <p:grpSpPr>
          <a:xfrm>
            <a:off x="1549173" y="2742025"/>
            <a:ext cx="9525227" cy="3339462"/>
            <a:chOff x="1514900" y="4745033"/>
            <a:chExt cx="9471548" cy="171764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DEFC43C-0F37-C0C3-8BC1-B8E3EACF3DB9}"/>
                </a:ext>
              </a:extLst>
            </p:cNvPr>
            <p:cNvSpPr/>
            <p:nvPr/>
          </p:nvSpPr>
          <p:spPr>
            <a:xfrm>
              <a:off x="1514900" y="4745033"/>
              <a:ext cx="9471548" cy="1263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INSERT INTO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와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SELECT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로 다른 테이블에 결과 입력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7993965-4751-7435-9509-61B2682865E4}"/>
                </a:ext>
              </a:extLst>
            </p:cNvPr>
            <p:cNvSpPr/>
            <p:nvPr/>
          </p:nvSpPr>
          <p:spPr>
            <a:xfrm>
              <a:off x="1514900" y="4878879"/>
              <a:ext cx="9471548" cy="158379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doit_insert_select_from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col_1 INT,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col_2 VARCHAR(10)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);</a:t>
              </a:r>
            </a:p>
            <a:p>
              <a:pPr algn="just"/>
              <a:endParaRPr lang="en-US" altLang="ko-KR" sz="14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doit_insert_select_to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col_1 INT,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col_2 VARCHAR(10)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);</a:t>
              </a:r>
            </a:p>
            <a:p>
              <a:pPr algn="just"/>
              <a:endParaRPr lang="en-US" altLang="ko-KR" sz="14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doit_insert_select_from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(1, 'Do');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doit_insert_select_from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(2, 'It');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doit_insert_select_from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(3, 'MySQL’);</a:t>
              </a:r>
            </a:p>
            <a:p>
              <a:pPr algn="just"/>
              <a:endParaRPr lang="en-US" altLang="ko-KR" sz="140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doit_insert_select_to</a:t>
              </a:r>
              <a:endParaRPr lang="en-US" altLang="ko-KR" sz="14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doit_insert_select_from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</a:p>
            <a:p>
              <a:pPr algn="just"/>
              <a:endParaRPr lang="en-US" altLang="ko-KR" sz="14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doit_insert_select_to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1DF0BEF-2EDE-97DE-66D9-F4648326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786" y="4100287"/>
            <a:ext cx="16383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3166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새 테이블에 조회 결과 입력하기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조회한 결과를 아예 새로운 테이블을 생성해 저장할 수도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CREATE TABLE </a:t>
            </a:r>
            <a:r>
              <a:rPr kumimoji="1" lang="ko-KR" altLang="en-US" dirty="0"/>
              <a:t>문을 사용할 때 열 이름을 입력하는 것 대신 </a:t>
            </a:r>
            <a:br>
              <a:rPr kumimoji="1" lang="en-US" altLang="ko-KR" dirty="0"/>
            </a:br>
            <a:r>
              <a:rPr kumimoji="1" lang="en-US" altLang="ko-KR" dirty="0"/>
              <a:t>SELECT </a:t>
            </a:r>
            <a:r>
              <a:rPr kumimoji="1" lang="ko-KR" altLang="en-US" dirty="0"/>
              <a:t>문을 사용하여 테이블을 생성하는 쿼리를 </a:t>
            </a:r>
            <a:br>
              <a:rPr kumimoji="1" lang="en-US" altLang="ko-KR" dirty="0"/>
            </a:br>
            <a:r>
              <a:rPr kumimoji="1" lang="ko-KR" altLang="en-US" dirty="0"/>
              <a:t>다음과 같이 넣어 데이터 조회 결과를 바로 새 테이블에 입력할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30350990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새 테이블에 조회 결과 입력하기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결과를 살펴보면 </a:t>
            </a:r>
            <a:r>
              <a:rPr kumimoji="1" lang="en-US" altLang="ko-KR" dirty="0" err="1"/>
              <a:t>doit_select_new</a:t>
            </a:r>
            <a:r>
              <a:rPr kumimoji="1" lang="ko-KR" altLang="en-US" dirty="0"/>
              <a:t>라는 새로운 테이블이 생성되어 </a:t>
            </a:r>
            <a:br>
              <a:rPr kumimoji="1" lang="en-US" altLang="ko-KR" dirty="0"/>
            </a:br>
            <a:r>
              <a:rPr kumimoji="1" lang="ko-KR" altLang="en-US" dirty="0"/>
              <a:t>해당 테이블에 </a:t>
            </a:r>
            <a:r>
              <a:rPr kumimoji="1" lang="en-US" altLang="ko-KR" dirty="0" err="1"/>
              <a:t>doit_insert_select_from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테이블을 조회한 결과가 저장된 것을 확인할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D4AD5BB-1EAD-6FBC-D5B6-64D7D67762CF}"/>
              </a:ext>
            </a:extLst>
          </p:cNvPr>
          <p:cNvGrpSpPr/>
          <p:nvPr/>
        </p:nvGrpSpPr>
        <p:grpSpPr>
          <a:xfrm>
            <a:off x="1912030" y="2870165"/>
            <a:ext cx="6549799" cy="1222867"/>
            <a:chOff x="1514900" y="4745033"/>
            <a:chExt cx="9471548" cy="62897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C468E5D-ECE9-3DCA-DAD1-28C67EF40155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INSERT INTO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와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SELECT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로 다른 테이블에 결과 입력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0160F83-26A9-C327-9157-3FDE3E39DC58}"/>
                </a:ext>
              </a:extLst>
            </p:cNvPr>
            <p:cNvSpPr/>
            <p:nvPr/>
          </p:nvSpPr>
          <p:spPr>
            <a:xfrm>
              <a:off x="1514900" y="4923669"/>
              <a:ext cx="9471548" cy="45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doit_select_new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AS (SELECT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doit_insert_select_from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doit_select_new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DE8DFA1-E4E3-3786-EA25-88A55B17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972" y="3034627"/>
            <a:ext cx="1456557" cy="10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9113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조작하기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관계형 데이터베이스는 데이터의 무결성을 유지해야 하므로 </a:t>
            </a:r>
            <a:br>
              <a:rPr kumimoji="1" lang="en-US" altLang="ko-KR" dirty="0"/>
            </a:br>
            <a:r>
              <a:rPr kumimoji="1" lang="ko-KR" altLang="en-US" dirty="0"/>
              <a:t>부모 테이블에 없는 데이터가 자식 테이블에 있으면 안 되는 것이 원칙임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 원칙을 유지하면 데이터가 잘못 입력되거나 삭제되는 것을 방지할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여기서는 테이블의 종속 관계가 있을 때 외래키를 가진 하위 테이블로 인해 </a:t>
            </a:r>
            <a:br>
              <a:rPr kumimoji="1" lang="en-US" altLang="ko-KR" dirty="0"/>
            </a:br>
            <a:r>
              <a:rPr kumimoji="1" lang="ko-KR" altLang="en-US" dirty="0"/>
              <a:t>데이터 또는 테이블 삭제에 실패하는 실습을 진행해 볼 것임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이를 통해 데이터 무결성에 대해 이해해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104424651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조작하기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외래키는 테이블 간에 관계를 구성할 때 참조하는 열을 의미함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 두 테이블을 살펴보면 ‘회원’ 테이블의 ‘회원 번호’ 열은 </a:t>
            </a:r>
            <a:r>
              <a:rPr kumimoji="1" lang="ko-KR" altLang="en-US" dirty="0" err="1"/>
              <a:t>기본키이고</a:t>
            </a:r>
            <a:br>
              <a:rPr kumimoji="1" lang="en-US" altLang="ko-KR" dirty="0"/>
            </a:br>
            <a:r>
              <a:rPr kumimoji="1" lang="ko-KR" altLang="en-US" dirty="0"/>
              <a:t>‘주문’ 테이블의 ‘회원 번호’ 열은 </a:t>
            </a:r>
            <a:r>
              <a:rPr kumimoji="1" lang="ko-KR" altLang="en-US" dirty="0" err="1"/>
              <a:t>외래키임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E9E383-DB7D-8B7A-1090-04AADCA42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663" y="2784318"/>
            <a:ext cx="5906862" cy="213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9509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먼저 실습을 위해 다음과 같이 테이블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개를 생성하는데 </a:t>
            </a:r>
            <a:br>
              <a:rPr kumimoji="1" lang="en-US" altLang="ko-KR" dirty="0"/>
            </a:br>
            <a:r>
              <a:rPr kumimoji="1" lang="ko-KR" altLang="en-US" dirty="0"/>
              <a:t>하나는 부모 역할을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다른 하나는 자식 역할을 하도록 구성해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REFERENCES</a:t>
            </a:r>
            <a:r>
              <a:rPr kumimoji="1" lang="ko-KR" altLang="en-US" dirty="0"/>
              <a:t>는 참조 관계를 생성하는 명령문으로 </a:t>
            </a:r>
            <a:br>
              <a:rPr kumimoji="1" lang="en-US" altLang="ko-KR" dirty="0"/>
            </a:br>
            <a:r>
              <a:rPr kumimoji="1" lang="ko-KR" altLang="en-US" dirty="0"/>
              <a:t>여기서는 </a:t>
            </a:r>
            <a:r>
              <a:rPr kumimoji="1" lang="en-US" altLang="ko-KR" dirty="0" err="1"/>
              <a:t>doit_child</a:t>
            </a:r>
            <a:r>
              <a:rPr kumimoji="1" lang="ko-KR" altLang="en-US" dirty="0"/>
              <a:t>가 </a:t>
            </a:r>
            <a:r>
              <a:rPr kumimoji="1" lang="en-US" altLang="ko-KR" dirty="0" err="1"/>
              <a:t>doit_parent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테이블을 참조함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FD7847-FB8F-F11F-D939-16CBE7D3CB65}"/>
              </a:ext>
            </a:extLst>
          </p:cNvPr>
          <p:cNvGrpSpPr/>
          <p:nvPr/>
        </p:nvGrpSpPr>
        <p:grpSpPr>
          <a:xfrm>
            <a:off x="2133255" y="3787060"/>
            <a:ext cx="6549799" cy="1669144"/>
            <a:chOff x="1514900" y="4745033"/>
            <a:chExt cx="9471548" cy="85851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1B03D2E-630D-6E4C-23C5-3371E25BAF5D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부모 테이블과 자식 테이블 생성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F2F3A33-E808-39B5-A1FA-07174E1AFAAB}"/>
                </a:ext>
              </a:extLst>
            </p:cNvPr>
            <p:cNvSpPr/>
            <p:nvPr/>
          </p:nvSpPr>
          <p:spPr>
            <a:xfrm>
              <a:off x="1514900" y="4923669"/>
              <a:ext cx="9471548" cy="67988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 INT PRIMARY KEY);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 INT);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ALTER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ADD FOREIGN KEY (col_1) REFERENCES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(col_1);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788228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하위 테이블</a:t>
            </a:r>
            <a:r>
              <a:rPr kumimoji="1" lang="en-US" altLang="ko-KR" dirty="0"/>
              <a:t>(</a:t>
            </a:r>
            <a:r>
              <a:rPr kumimoji="1" lang="ko-KR" altLang="en-US" dirty="0"/>
              <a:t>자식 테이블</a:t>
            </a:r>
            <a:r>
              <a:rPr kumimoji="1" lang="en-US" altLang="ko-KR" dirty="0"/>
              <a:t>)</a:t>
            </a:r>
            <a:r>
              <a:rPr kumimoji="1" lang="ko-KR" altLang="en-US" dirty="0"/>
              <a:t>에 데이터를 입력할 때 </a:t>
            </a:r>
            <a:br>
              <a:rPr kumimoji="1" lang="en-US" altLang="ko-KR" dirty="0"/>
            </a:br>
            <a:r>
              <a:rPr kumimoji="1" lang="ko-KR" altLang="en-US" dirty="0"/>
              <a:t>상위 테이블</a:t>
            </a:r>
            <a:r>
              <a:rPr kumimoji="1" lang="en-US" altLang="ko-KR" dirty="0"/>
              <a:t>(</a:t>
            </a:r>
            <a:r>
              <a:rPr kumimoji="1" lang="ko-KR" altLang="en-US" dirty="0"/>
              <a:t>부모 테이블</a:t>
            </a:r>
            <a:r>
              <a:rPr kumimoji="1" lang="en-US" altLang="ko-KR" dirty="0"/>
              <a:t>)</a:t>
            </a:r>
            <a:r>
              <a:rPr kumimoji="1" lang="ko-KR" altLang="en-US" dirty="0"/>
              <a:t>에 해당 데이터가 없어 데이터 입력에 실패하는 쿼리임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FD7847-FB8F-F11F-D939-16CBE7D3CB65}"/>
              </a:ext>
            </a:extLst>
          </p:cNvPr>
          <p:cNvGrpSpPr/>
          <p:nvPr/>
        </p:nvGrpSpPr>
        <p:grpSpPr>
          <a:xfrm>
            <a:off x="2086201" y="3947891"/>
            <a:ext cx="6549799" cy="694616"/>
            <a:chOff x="1514900" y="4745033"/>
            <a:chExt cx="9471548" cy="35727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1B03D2E-630D-6E4C-23C5-3371E25BAF5D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자식 테이블에 데이터 입력 시 부모 테이블에 해당 데이터가 없는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F2F3A33-E808-39B5-A1FA-07174E1AFAAB}"/>
                </a:ext>
              </a:extLst>
            </p:cNvPr>
            <p:cNvSpPr/>
            <p:nvPr/>
          </p:nvSpPr>
          <p:spPr>
            <a:xfrm>
              <a:off x="1514900" y="4923669"/>
              <a:ext cx="9471548" cy="1786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(1);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803289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오류를 살펴보면 다음과 같은 메시지가 출력됨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내용은 </a:t>
            </a:r>
            <a:r>
              <a:rPr kumimoji="1" lang="en-US" altLang="ko-KR" dirty="0" err="1"/>
              <a:t>doit_child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테이블이 </a:t>
            </a:r>
            <a:r>
              <a:rPr kumimoji="1" lang="en-US" altLang="ko-KR" dirty="0" err="1"/>
              <a:t>doit_parent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테이블의 </a:t>
            </a:r>
            <a:r>
              <a:rPr kumimoji="1" lang="en-US" altLang="ko-KR" dirty="0"/>
              <a:t>col_1</a:t>
            </a:r>
            <a:r>
              <a:rPr kumimoji="1" lang="ko-KR" altLang="en-US" dirty="0"/>
              <a:t>에 대해서 </a:t>
            </a:r>
            <a:br>
              <a:rPr kumimoji="1" lang="en-US" altLang="ko-KR" dirty="0"/>
            </a:br>
            <a:r>
              <a:rPr kumimoji="1" lang="ko-KR" altLang="en-US" dirty="0"/>
              <a:t>외래키가 설정되어 있어 참조 오류가 발생한 것임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 오류는 부모 테이블에 데이터를 먼저 입력해야 해결할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2394C7-426A-F92E-204C-BDA401D3EDD1}"/>
              </a:ext>
            </a:extLst>
          </p:cNvPr>
          <p:cNvSpPr/>
          <p:nvPr/>
        </p:nvSpPr>
        <p:spPr>
          <a:xfrm>
            <a:off x="2080872" y="3583995"/>
            <a:ext cx="7972199" cy="104606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Error Code: 1452. Cannot add or update a child row: a foreign key constraint fails (`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doitsql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`.`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doit_child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`, CONSTRAINT `doit_child_ibfk_1` FOREIGN KEY (`col_1`) REFERENCES 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doit_parent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 (`col_1`))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51628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부모 테이블에 데이터를 입력한 뒤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같은 데이터를 자식 테이블에 입력하면 오류 없이 결과가 출력됨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8988BEC-9D84-BF8F-5E31-9B13E10200C5}"/>
              </a:ext>
            </a:extLst>
          </p:cNvPr>
          <p:cNvGrpSpPr/>
          <p:nvPr/>
        </p:nvGrpSpPr>
        <p:grpSpPr>
          <a:xfrm>
            <a:off x="2086201" y="3853544"/>
            <a:ext cx="6549799" cy="1603826"/>
            <a:chOff x="1514900" y="4745033"/>
            <a:chExt cx="9471548" cy="82492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848244E-2F03-E82B-0091-43E7A4CA4BC4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부모 테이블에 데이터 입력 후 자식 테이블에도 데이터 입력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9ED232E-ADE3-55C1-87B8-B8CFFCEE2E9A}"/>
                </a:ext>
              </a:extLst>
            </p:cNvPr>
            <p:cNvSpPr/>
            <p:nvPr/>
          </p:nvSpPr>
          <p:spPr>
            <a:xfrm>
              <a:off x="1514900" y="4923669"/>
              <a:ext cx="9471548" cy="64628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(1);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(1);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5892447-6DB2-B64B-14C4-1A98D178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315" y="4546638"/>
            <a:ext cx="1078731" cy="91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7047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이번에는 부모 테이블의 데이터만 삭제해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ko-KR" altLang="en-US" dirty="0"/>
              <a:t>이 역시도 </a:t>
            </a:r>
            <a:r>
              <a:rPr kumimoji="1" lang="ko-KR" altLang="en-US" dirty="0" err="1"/>
              <a:t>외래키</a:t>
            </a:r>
            <a:r>
              <a:rPr kumimoji="1" lang="ko-KR" altLang="en-US" dirty="0"/>
              <a:t> 때문에 오류가 발생하며 데이터 삭제에 실패함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573102A-E510-106D-E923-68D3EC54F3E1}"/>
              </a:ext>
            </a:extLst>
          </p:cNvPr>
          <p:cNvGrpSpPr/>
          <p:nvPr/>
        </p:nvGrpSpPr>
        <p:grpSpPr>
          <a:xfrm>
            <a:off x="2103759" y="3927947"/>
            <a:ext cx="5270435" cy="694620"/>
            <a:chOff x="1514900" y="4745033"/>
            <a:chExt cx="9471548" cy="35727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FD934FF-A60C-46B5-B87E-740F86A555EB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부모 테이블에서만 데이터를 삭제한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8C99164-1272-10BA-9C59-3BD3CA9B4F8F}"/>
                </a:ext>
              </a:extLst>
            </p:cNvPr>
            <p:cNvSpPr/>
            <p:nvPr/>
          </p:nvSpPr>
          <p:spPr>
            <a:xfrm>
              <a:off x="1514900" y="4923671"/>
              <a:ext cx="9471548" cy="1786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DELETE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WHERE col_1 = 1;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62419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오류를 살펴보면 다음과 같은 메시지가 출력됨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내용은 </a:t>
            </a:r>
            <a:r>
              <a:rPr kumimoji="1" lang="en-US" altLang="ko-KR" dirty="0" err="1"/>
              <a:t>doit_child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테이블이 </a:t>
            </a:r>
            <a:r>
              <a:rPr kumimoji="1" lang="en-US" altLang="ko-KR" dirty="0" err="1"/>
              <a:t>doit_parent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테이블의 </a:t>
            </a:r>
            <a:r>
              <a:rPr kumimoji="1" lang="en-US" altLang="ko-KR" dirty="0"/>
              <a:t>col_1</a:t>
            </a:r>
            <a:r>
              <a:rPr kumimoji="1" lang="ko-KR" altLang="en-US" dirty="0"/>
              <a:t>에 대해서 </a:t>
            </a:r>
            <a:br>
              <a:rPr kumimoji="1" lang="en-US" altLang="ko-KR" dirty="0"/>
            </a:br>
            <a:r>
              <a:rPr kumimoji="1" lang="ko-KR" altLang="en-US" dirty="0"/>
              <a:t>외래키가 설정되어 있어 참조 오류가 발생한 것임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 오류는 자식 테이블의 데이터를 먼저 삭제하고 </a:t>
            </a:r>
            <a:br>
              <a:rPr kumimoji="1" lang="en-US" altLang="ko-KR" dirty="0"/>
            </a:br>
            <a:r>
              <a:rPr kumimoji="1" lang="ko-KR" altLang="en-US" dirty="0"/>
              <a:t>부모 테이블의 데이터를 삭제해야 정상적으로 데이터를 삭제할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AC88AB-EABD-2867-9AF3-3CD6166F473C}"/>
              </a:ext>
            </a:extLst>
          </p:cNvPr>
          <p:cNvSpPr/>
          <p:nvPr/>
        </p:nvSpPr>
        <p:spPr>
          <a:xfrm>
            <a:off x="2063994" y="3577256"/>
            <a:ext cx="7972199" cy="9221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Error Code: 1451. Cannot delete or update a parent row: a foreign key constraint fails (`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doitsql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`.`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doit_child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`, CONSTRAINT `doit_child_ibfk_1` FOREIGN KEY (`col_1`) REFERENCES 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doit_parent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 (`col_1`))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71497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테이블에 데이터 입력 및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다음과 같이 쿼리를 입력해 자식 테이블 → 부모 테이블 순으로 데이터를 삭제해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없이 원하는 데이터가 삭제되었음을 알 수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A54738E-8431-5384-D1DF-F07F8EA6661C}"/>
              </a:ext>
            </a:extLst>
          </p:cNvPr>
          <p:cNvGrpSpPr/>
          <p:nvPr/>
        </p:nvGrpSpPr>
        <p:grpSpPr>
          <a:xfrm>
            <a:off x="2089011" y="3604969"/>
            <a:ext cx="6549799" cy="990636"/>
            <a:chOff x="1514900" y="4745033"/>
            <a:chExt cx="9471548" cy="50953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8DCA43B-0B96-4CDA-BAEB-D7AA807B7A0E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자식 테이블의 데이터 삭제 후 부모 테이블의 데이터 삭제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A1DA1B-A467-7628-53E7-CE58319C1EBF}"/>
                </a:ext>
              </a:extLst>
            </p:cNvPr>
            <p:cNvSpPr/>
            <p:nvPr/>
          </p:nvSpPr>
          <p:spPr>
            <a:xfrm>
              <a:off x="1514900" y="4923669"/>
              <a:ext cx="9471548" cy="33089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DELETE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WHERE col_1 = 1;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DELETE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WHERE col_1 = 1;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1775FA6-12F5-D228-9534-83C407B4B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71" y="4631340"/>
            <a:ext cx="7767273" cy="82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2892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065484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r>
              <a:rPr kumimoji="1" lang="ko-KR" altLang="en-US" dirty="0"/>
              <a:t>이번에는 데이터가 아니라 테이블을 삭제해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앞에서는 데이터가 부모 테이블에 있는지 여부에 따라 입력과 삭제에 영향을 받았음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하지만 테이블을 삭제할 경우에는</a:t>
            </a:r>
            <a:br>
              <a:rPr kumimoji="1" lang="en-US" altLang="ko-KR" dirty="0"/>
            </a:br>
            <a:r>
              <a:rPr kumimoji="1" lang="ko-KR" altLang="en-US" dirty="0"/>
              <a:t>테이블에 데이터 없이 </a:t>
            </a:r>
            <a:r>
              <a:rPr kumimoji="1" lang="ko-KR" altLang="en-US" dirty="0" err="1"/>
              <a:t>외래키</a:t>
            </a:r>
            <a:r>
              <a:rPr kumimoji="1" lang="ko-KR" altLang="en-US" dirty="0"/>
              <a:t> 설정만 되어 있어도 오류가 발생함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여기까지 실습을 잘 따라 했다면 </a:t>
            </a:r>
            <a:r>
              <a:rPr kumimoji="1" lang="ko-KR" altLang="en-US" dirty="0" err="1"/>
              <a:t>외래키</a:t>
            </a:r>
            <a:r>
              <a:rPr kumimoji="1" lang="ko-KR" altLang="en-US" dirty="0"/>
              <a:t> 설정만 되어 있고 </a:t>
            </a:r>
            <a:br>
              <a:rPr kumimoji="1" lang="en-US" altLang="ko-KR" dirty="0"/>
            </a:br>
            <a:r>
              <a:rPr kumimoji="1" lang="ko-KR" altLang="en-US" dirty="0"/>
              <a:t>실제 데이터는 입력된 상태가 아닐 것임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일단 부모 테이블을 삭제하는 쿼리를 입력해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381779625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/>
            </a:pP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이와 같이 오류가 발생함</a:t>
            </a:r>
            <a:r>
              <a:rPr kumimoji="1" lang="en-US" altLang="ko-KR" dirty="0"/>
              <a:t>. </a:t>
            </a:r>
            <a:r>
              <a:rPr kumimoji="1" lang="ko-KR" altLang="en-US" dirty="0"/>
              <a:t>오류를 살펴보면 다음과 같은 메시지가 출력됨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내용은 </a:t>
            </a:r>
            <a:r>
              <a:rPr kumimoji="1" lang="en-US" altLang="ko-KR" dirty="0" err="1"/>
              <a:t>doit_parent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테이블과 </a:t>
            </a:r>
            <a:r>
              <a:rPr kumimoji="1" lang="en-US" altLang="ko-KR" dirty="0" err="1"/>
              <a:t>doit_child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테이블이 외래키로 참조되어 있어 </a:t>
            </a:r>
            <a:br>
              <a:rPr kumimoji="1" lang="en-US" altLang="ko-KR" dirty="0"/>
            </a:br>
            <a:r>
              <a:rPr kumimoji="1" lang="en-US" altLang="ko-KR" dirty="0" err="1"/>
              <a:t>doit_parent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 삭제에 실패했다는 내용임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079C70E-8C0C-D3F5-44C3-AFAEE37CAA08}"/>
              </a:ext>
            </a:extLst>
          </p:cNvPr>
          <p:cNvGrpSpPr/>
          <p:nvPr/>
        </p:nvGrpSpPr>
        <p:grpSpPr>
          <a:xfrm>
            <a:off x="2148005" y="3122781"/>
            <a:ext cx="5270435" cy="885744"/>
            <a:chOff x="1514900" y="4745033"/>
            <a:chExt cx="9471548" cy="45557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C342A90-E85A-C944-385D-30BE5259838B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부모 테이블을 삭제할 경우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9C7E0DE-6A9B-C866-030E-DB99E521D11B}"/>
                </a:ext>
              </a:extLst>
            </p:cNvPr>
            <p:cNvSpPr/>
            <p:nvPr/>
          </p:nvSpPr>
          <p:spPr>
            <a:xfrm>
              <a:off x="1514900" y="4923671"/>
              <a:ext cx="9471548" cy="2769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DROP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2B53E8-004D-33B8-6966-2839F40920F1}"/>
              </a:ext>
            </a:extLst>
          </p:cNvPr>
          <p:cNvSpPr/>
          <p:nvPr/>
        </p:nvSpPr>
        <p:spPr>
          <a:xfrm>
            <a:off x="2148005" y="4667563"/>
            <a:ext cx="7972199" cy="74509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Error Code: 3730. Cannot drop table '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doit_parent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' referenced by a foreign key constraint 'doit_child_ibfk_1' on table '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doit_child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'.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26704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외래키가 설정되어 있는 테이블을 삭제하려면 </a:t>
            </a:r>
            <a:br>
              <a:rPr kumimoji="1" lang="en-US" altLang="ko-KR" dirty="0"/>
            </a:br>
            <a:r>
              <a:rPr kumimoji="1" lang="ko-KR" altLang="en-US" dirty="0"/>
              <a:t>자식 테이블 → 부모 테이블 순서로 삭제해야 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그런데 자식 테이블의 데이터는 유지하면서 부모 테이블을 삭제하고 싶다면 </a:t>
            </a:r>
            <a:br>
              <a:rPr kumimoji="1" lang="en-US" altLang="ko-KR" dirty="0"/>
            </a:br>
            <a:r>
              <a:rPr kumimoji="1" lang="ko-KR" altLang="en-US" dirty="0"/>
              <a:t>제약 조건을 제거하여 부모 테이블 삭제를 진행하는 방법도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여기서는 그 두 가지 방법을 모두 실습해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317784950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2"/>
            </a:pPr>
            <a:r>
              <a:rPr kumimoji="1" lang="ko-KR" altLang="en-US" dirty="0"/>
              <a:t>먼저</a:t>
            </a:r>
            <a:r>
              <a:rPr kumimoji="1" lang="en-US" altLang="ko-KR" dirty="0"/>
              <a:t>, </a:t>
            </a:r>
            <a:r>
              <a:rPr kumimoji="1" lang="ko-KR" altLang="en-US" dirty="0"/>
              <a:t>자식 테이블을 삭제하고 부모 테이블을 삭제하는 쿼리를 입력해 보자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오류 없이 테이블이 삭제됨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079C70E-8C0C-D3F5-44C3-AFAEE37CAA08}"/>
              </a:ext>
            </a:extLst>
          </p:cNvPr>
          <p:cNvGrpSpPr/>
          <p:nvPr/>
        </p:nvGrpSpPr>
        <p:grpSpPr>
          <a:xfrm>
            <a:off x="2103760" y="3602820"/>
            <a:ext cx="5270435" cy="1057669"/>
            <a:chOff x="1514900" y="4745033"/>
            <a:chExt cx="9471548" cy="54400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C342A90-E85A-C944-385D-30BE5259838B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하위 테이블 삭제 후 상위 테이블 삭제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9C7E0DE-6A9B-C866-030E-DB99E521D11B}"/>
                </a:ext>
              </a:extLst>
            </p:cNvPr>
            <p:cNvSpPr/>
            <p:nvPr/>
          </p:nvSpPr>
          <p:spPr>
            <a:xfrm>
              <a:off x="1514900" y="4923671"/>
              <a:ext cx="9471548" cy="36537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fr-FR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DROP TABLE doit_child;</a:t>
              </a:r>
            </a:p>
            <a:p>
              <a:pPr algn="just"/>
              <a:r>
                <a:rPr lang="fr-FR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DROP TABLE doit_parent;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608227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이번에는 제약 조건을 제거하여 부모 테이블을 삭제해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먼저</a:t>
            </a:r>
            <a:r>
              <a:rPr kumimoji="1" lang="en-US" altLang="ko-KR" dirty="0"/>
              <a:t>, </a:t>
            </a:r>
            <a:r>
              <a:rPr kumimoji="1" lang="ko-KR" altLang="en-US" dirty="0"/>
              <a:t>제약 조건을 확인해 보자</a:t>
            </a:r>
            <a:r>
              <a:rPr kumimoji="1" lang="en-US" altLang="ko-KR" dirty="0"/>
              <a:t>. </a:t>
            </a:r>
            <a:r>
              <a:rPr kumimoji="1" lang="ko-KR" altLang="en-US" dirty="0"/>
              <a:t>제약 조건을 확인하고 싶다면 </a:t>
            </a:r>
            <a:br>
              <a:rPr kumimoji="1" lang="en-US" altLang="ko-KR" dirty="0"/>
            </a:br>
            <a:r>
              <a:rPr kumimoji="1" lang="en-US" altLang="ko-KR" dirty="0"/>
              <a:t>SHOW CREATE TABLE</a:t>
            </a:r>
            <a:r>
              <a:rPr kumimoji="1" lang="ko-KR" altLang="en-US" dirty="0"/>
              <a:t>을 실행하면 확인할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다시 참조 관계의 </a:t>
            </a:r>
            <a:r>
              <a:rPr kumimoji="1" lang="en-US" altLang="ko-KR" dirty="0" err="1"/>
              <a:t>doit_parent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doit_child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테이블을 생성함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 err="1"/>
              <a:t>그다음</a:t>
            </a:r>
            <a:r>
              <a:rPr kumimoji="1" lang="en-US" altLang="ko-KR" dirty="0"/>
              <a:t>, SHOW CREATE TABLE</a:t>
            </a:r>
            <a:r>
              <a:rPr kumimoji="1" lang="ko-KR" altLang="en-US" dirty="0"/>
              <a:t>을 입력하여 해당 테이블의 제약 조건을 확인한 것임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312805141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en-US" altLang="ko-KR" dirty="0"/>
              <a:t>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E61CDC2-F890-D8E6-51C8-91401D96C648}"/>
              </a:ext>
            </a:extLst>
          </p:cNvPr>
          <p:cNvGrpSpPr/>
          <p:nvPr/>
        </p:nvGrpSpPr>
        <p:grpSpPr>
          <a:xfrm>
            <a:off x="2089011" y="3103524"/>
            <a:ext cx="6549799" cy="1526530"/>
            <a:chOff x="1514900" y="4745033"/>
            <a:chExt cx="9471548" cy="78516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D7545F-EC31-3805-65DC-A5AE259916A8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부모 테이블 생성 후 제약 조건 확인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6524A0C-5377-BA3A-2966-11C3FD919A9E}"/>
                </a:ext>
              </a:extLst>
            </p:cNvPr>
            <p:cNvSpPr/>
            <p:nvPr/>
          </p:nvSpPr>
          <p:spPr>
            <a:xfrm>
              <a:off x="1514900" y="4923669"/>
              <a:ext cx="9471548" cy="60652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doit_parent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 INT PRIMARY KEY);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 INT);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SHOW 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doit_child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E71409F-E0FC-EDD9-2C0E-171D470E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19" y="4782709"/>
            <a:ext cx="8652495" cy="71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6511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3"/>
            </a:pPr>
            <a:r>
              <a:rPr kumimoji="1" lang="ko-KR" altLang="en-US" dirty="0"/>
              <a:t>제약 조건을 자세히 살펴보면 다음과 같음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출력 결과에서 </a:t>
            </a:r>
            <a:r>
              <a:rPr kumimoji="1" lang="en-US" altLang="ko-KR" dirty="0"/>
              <a:t>CONSTRAINT `doit_child_ibfk_1` FOREIGN KEY (`col_1`) REFERENCES `</a:t>
            </a:r>
            <a:r>
              <a:rPr kumimoji="1" lang="en-US" altLang="ko-KR" dirty="0" err="1"/>
              <a:t>doit_parent</a:t>
            </a:r>
            <a:r>
              <a:rPr kumimoji="1" lang="en-US" altLang="ko-KR" dirty="0"/>
              <a:t>` (`col_1`) </a:t>
            </a:r>
            <a:r>
              <a:rPr kumimoji="1" lang="ko-KR" altLang="en-US" dirty="0"/>
              <a:t>부분이 바로 제약 조건을 나타내고 있으며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여기서는 </a:t>
            </a:r>
            <a:r>
              <a:rPr kumimoji="1" lang="ko-KR" altLang="en-US" dirty="0" err="1"/>
              <a:t>외래키</a:t>
            </a:r>
            <a:r>
              <a:rPr kumimoji="1" lang="ko-KR" altLang="en-US" dirty="0"/>
              <a:t> 제약 조건이 있다는 의미임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F68A85-7F5A-7812-3D40-DD06C60D3ED9}"/>
              </a:ext>
            </a:extLst>
          </p:cNvPr>
          <p:cNvSpPr/>
          <p:nvPr/>
        </p:nvSpPr>
        <p:spPr>
          <a:xfrm>
            <a:off x="2109899" y="3620427"/>
            <a:ext cx="7972199" cy="15267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CREATE TABLE 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doit_child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 (</a:t>
            </a:r>
          </a:p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	`col_1` int DEFAULT NULL,</a:t>
            </a:r>
          </a:p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	KEY `col_1` (`col_1`),</a:t>
            </a:r>
          </a:p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	CONSTRAINT `doit_child_ibfk_1` FOREIGN KEY (`col_1`) REFERENCES `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doit_parent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` (`col_1`)</a:t>
            </a:r>
          </a:p>
          <a:p>
            <a:pPr algn="just"/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) ENGINE=</a:t>
            </a:r>
            <a:r>
              <a:rPr lang="en-US" altLang="ko-KR" sz="1600" b="0" i="0" u="none" strike="noStrike" baseline="0" dirty="0" err="1">
                <a:solidFill>
                  <a:schemeClr val="tx1"/>
                </a:solidFill>
                <a:latin typeface="TDc_SSiGothic 120"/>
              </a:rPr>
              <a:t>InnoDB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rPr>
              <a:t> DEFAULT CHARSET=utf8mb4 COLLATE=utf8mb4_0900_ai_ci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4167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4"/>
            </a:pPr>
            <a:r>
              <a:rPr kumimoji="1" lang="ko-KR" altLang="en-US" dirty="0"/>
              <a:t>제약 조건을 확인했으니 제약 조건을 제거한 뒤</a:t>
            </a:r>
            <a:r>
              <a:rPr kumimoji="1" lang="en-US" altLang="ko-KR" dirty="0"/>
              <a:t>, </a:t>
            </a:r>
            <a:r>
              <a:rPr kumimoji="1" lang="ko-KR" altLang="en-US" dirty="0"/>
              <a:t>부모 테이블을 삭제해 보자</a:t>
            </a:r>
            <a:r>
              <a:rPr kumimoji="1" lang="en-US" altLang="ko-KR" dirty="0"/>
              <a:t>. </a:t>
            </a:r>
            <a:br>
              <a:rPr kumimoji="1" lang="en-US" altLang="ko-KR" dirty="0"/>
            </a:br>
            <a:r>
              <a:rPr kumimoji="1" lang="en-US" altLang="ko-KR" dirty="0"/>
              <a:t>DROP CONSTRANINT </a:t>
            </a:r>
            <a:r>
              <a:rPr kumimoji="1" lang="ko-KR" altLang="en-US" dirty="0"/>
              <a:t>외래키를 입력하여 제약 조건을 제거한 뒤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부모 테이블인 </a:t>
            </a:r>
            <a:r>
              <a:rPr kumimoji="1" lang="en-US" altLang="ko-KR" dirty="0" err="1"/>
              <a:t>doit_parent</a:t>
            </a:r>
            <a:r>
              <a:rPr kumimoji="1" lang="ko-KR" altLang="en-US" dirty="0"/>
              <a:t>를 삭제하면 오류 없이 테이블이 제거됨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16D1E3-F816-E10A-2551-51DF2BEEF65C}"/>
              </a:ext>
            </a:extLst>
          </p:cNvPr>
          <p:cNvGrpSpPr/>
          <p:nvPr/>
        </p:nvGrpSpPr>
        <p:grpSpPr>
          <a:xfrm>
            <a:off x="2103760" y="4212770"/>
            <a:ext cx="5270435" cy="1447801"/>
            <a:chOff x="1514900" y="4745033"/>
            <a:chExt cx="9471548" cy="74467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5481EB-E1C3-D4AD-E659-30C46B487958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제약 조건 제거 후 상위 테이블 삭제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0A10DF8-BFCB-528B-CA22-64EC176B772F}"/>
                </a:ext>
              </a:extLst>
            </p:cNvPr>
            <p:cNvSpPr/>
            <p:nvPr/>
          </p:nvSpPr>
          <p:spPr>
            <a:xfrm>
              <a:off x="1514900" y="4923671"/>
              <a:ext cx="9471548" cy="56603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fr-FR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ALTER TABLE doit_child</a:t>
              </a:r>
            </a:p>
            <a:p>
              <a:pPr algn="just"/>
              <a:r>
                <a:rPr lang="fr-FR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DROP CONSTRAINT doit_child_ibfk_1;</a:t>
              </a:r>
            </a:p>
            <a:p>
              <a:pPr algn="just"/>
              <a:endParaRPr lang="fr-FR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fr-FR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DROP TABLE doit_parent;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364642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ko-KR" altLang="en-US" dirty="0"/>
              <a:t>일시적으로 </a:t>
            </a:r>
            <a:r>
              <a:rPr kumimoji="1" lang="ko-KR" altLang="en-US" dirty="0" err="1"/>
              <a:t>외래키</a:t>
            </a:r>
            <a:r>
              <a:rPr kumimoji="1" lang="ko-KR" altLang="en-US" dirty="0"/>
              <a:t> 설정을 </a:t>
            </a:r>
            <a:r>
              <a:rPr kumimoji="1" lang="en-US" altLang="ko-KR" dirty="0"/>
              <a:t>OFF</a:t>
            </a:r>
            <a:r>
              <a:rPr kumimoji="1" lang="ko-KR" altLang="en-US" dirty="0"/>
              <a:t>하고 데이터를 입력이나 수정할 수도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SET </a:t>
            </a:r>
            <a:r>
              <a:rPr kumimoji="1" lang="ko-KR" altLang="en-US" dirty="0"/>
              <a:t>문으로 설정하면 되는데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 err="1"/>
              <a:t>외래키</a:t>
            </a:r>
            <a:r>
              <a:rPr kumimoji="1" lang="ko-KR" altLang="en-US" dirty="0"/>
              <a:t> 설정을 </a:t>
            </a:r>
            <a:r>
              <a:rPr kumimoji="1" lang="en-US" altLang="ko-KR" dirty="0"/>
              <a:t>OFF</a:t>
            </a:r>
            <a:r>
              <a:rPr kumimoji="1" lang="ko-KR" altLang="en-US" dirty="0"/>
              <a:t>한 상태에서 데이터를 변경한 후 </a:t>
            </a:r>
            <a:br>
              <a:rPr kumimoji="1" lang="en-US" altLang="ko-KR" dirty="0"/>
            </a:br>
            <a:r>
              <a:rPr kumimoji="1" lang="ko-KR" altLang="en-US" dirty="0"/>
              <a:t>외래키를 다시 </a:t>
            </a:r>
            <a:r>
              <a:rPr kumimoji="1" lang="en-US" altLang="ko-KR" dirty="0"/>
              <a:t>ON</a:t>
            </a:r>
            <a:r>
              <a:rPr kumimoji="1" lang="ko-KR" altLang="en-US" dirty="0"/>
              <a:t>하면 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이미 입력된 데이터에 대해서는 </a:t>
            </a:r>
            <a:r>
              <a:rPr kumimoji="1" lang="ko-KR" altLang="en-US" dirty="0" err="1"/>
              <a:t>외래키</a:t>
            </a:r>
            <a:r>
              <a:rPr kumimoji="1" lang="ko-KR" altLang="en-US" dirty="0"/>
              <a:t> 체크를 하지 않음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즉 원래 외래키는 데이터의 무결성을 유지하기 위해 사용되는데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/>
              <a:t>OFF </a:t>
            </a:r>
            <a:r>
              <a:rPr kumimoji="1" lang="ko-KR" altLang="en-US" dirty="0"/>
              <a:t>상태에서는 무결성을 깨고 데이터를 입력해도 </a:t>
            </a:r>
            <a:br>
              <a:rPr kumimoji="1" lang="en-US" altLang="ko-KR" dirty="0"/>
            </a:br>
            <a:r>
              <a:rPr kumimoji="1" lang="ko-KR" altLang="en-US" dirty="0"/>
              <a:t>다시 </a:t>
            </a:r>
            <a:r>
              <a:rPr kumimoji="1" lang="en-US" altLang="ko-KR" dirty="0"/>
              <a:t>ON </a:t>
            </a:r>
            <a:r>
              <a:rPr kumimoji="1" lang="ko-KR" altLang="en-US" dirty="0"/>
              <a:t>상태로 되돌아갔을 때 입력된 데이터에 대한 무결성 검사를 하지 않음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</p:spTree>
    <p:extLst>
      <p:ext uri="{BB962C8B-B14F-4D97-AF65-F5344CB8AC3E}">
        <p14:creationId xmlns:p14="http://schemas.microsoft.com/office/powerpoint/2010/main" val="393541461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4"/>
            <a:ext cx="10726963" cy="5290455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조회 결과를 테이블에 입력하기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외래키로 연결되어 있는 테이블 삭제하기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marL="1257300" lvl="2" indent="-342900">
              <a:buClr>
                <a:srgbClr val="E47525"/>
              </a:buClr>
              <a:buFont typeface="+mj-lt"/>
              <a:buAutoNum type="arabicPeriod" startAt="5"/>
            </a:pPr>
            <a:r>
              <a:rPr kumimoji="1" lang="en-US" altLang="ko-KR" dirty="0"/>
              <a:t> 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04-6    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테이블 생성 및 조작하기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742A760-E7C5-0D41-F923-144DAFC76EBE}"/>
              </a:ext>
            </a:extLst>
          </p:cNvPr>
          <p:cNvGrpSpPr/>
          <p:nvPr/>
        </p:nvGrpSpPr>
        <p:grpSpPr>
          <a:xfrm>
            <a:off x="2272131" y="3277679"/>
            <a:ext cx="7845263" cy="774592"/>
            <a:chOff x="2272131" y="3041704"/>
            <a:chExt cx="9919869" cy="77459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9E2C3AA-A3D4-4668-383E-FC20319577D6}"/>
                </a:ext>
              </a:extLst>
            </p:cNvPr>
            <p:cNvSpPr/>
            <p:nvPr/>
          </p:nvSpPr>
          <p:spPr>
            <a:xfrm>
              <a:off x="2272131" y="3041704"/>
              <a:ext cx="4895585" cy="77459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ko-KR" altLang="en-US" sz="1600" b="1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외래키</a:t>
              </a:r>
              <a:r>
                <a:rPr lang="ko-KR" altLang="en-US" sz="1600" b="1" i="0" u="none" strike="noStrike" baseline="0" dirty="0">
                  <a:solidFill>
                    <a:schemeClr val="tx1"/>
                  </a:solidFill>
                  <a:latin typeface="TDc_SSiGothic 120"/>
                </a:rPr>
                <a:t> 비활성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SET FOREIGN_KEY_CHECKS=0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481DBA2-5D5F-4AC2-B0AC-75E6B4725241}"/>
                </a:ext>
              </a:extLst>
            </p:cNvPr>
            <p:cNvSpPr/>
            <p:nvPr/>
          </p:nvSpPr>
          <p:spPr>
            <a:xfrm>
              <a:off x="7296415" y="3041704"/>
              <a:ext cx="4895585" cy="77459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ko-KR" altLang="en-US" sz="1600" b="1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외래키</a:t>
              </a:r>
              <a:r>
                <a:rPr lang="ko-KR" altLang="en-US" sz="1600" b="1" i="0" u="none" strike="noStrike" baseline="0" dirty="0">
                  <a:solidFill>
                    <a:schemeClr val="tx1"/>
                  </a:solidFill>
                  <a:latin typeface="TDc_SSiGothic 120"/>
                </a:rPr>
                <a:t> 활성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SET FOREIGN_KEY_CHECKS=1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70723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 lvl="1">
              <a:buClr>
                <a:srgbClr val="E47525"/>
              </a:buClr>
            </a:pPr>
            <a:r>
              <a:rPr kumimoji="1" lang="ko-KR" altLang="en-US" dirty="0"/>
              <a:t>앞에서 조회한 결과를 다른 테이블에 입력할 때 </a:t>
            </a:r>
            <a:br>
              <a:rPr kumimoji="1" lang="en-US" altLang="ko-KR" dirty="0"/>
            </a:br>
            <a:r>
              <a:rPr kumimoji="1" lang="ko-KR" altLang="en-US" dirty="0"/>
              <a:t>입력하려는 테이블과 조회한 열의 데이터 유형이 동일해야 </a:t>
            </a:r>
            <a:br>
              <a:rPr kumimoji="1" lang="en-US" altLang="ko-KR" dirty="0"/>
            </a:br>
            <a:r>
              <a:rPr kumimoji="1" lang="ko-KR" altLang="en-US" dirty="0"/>
              <a:t>오류가 발생하지 않는다고 했음</a:t>
            </a:r>
            <a:endParaRPr kumimoji="1" lang="en-US" altLang="ko-KR" dirty="0"/>
          </a:p>
          <a:p>
            <a:pPr lvl="1">
              <a:buClr>
                <a:srgbClr val="E47525"/>
              </a:buClr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/>
              <a:t>MySQL</a:t>
            </a:r>
            <a:r>
              <a:rPr kumimoji="1" lang="ko-KR" altLang="en-US" dirty="0"/>
              <a:t>은 숫자형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문자형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날짜형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지리형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공간형 등 </a:t>
            </a:r>
            <a:br>
              <a:rPr kumimoji="1" lang="en-US" altLang="ko-KR" dirty="0"/>
            </a:br>
            <a:r>
              <a:rPr kumimoji="1" lang="ko-KR" altLang="en-US" dirty="0"/>
              <a:t>다양한 데이터 유형을 제공하는데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이번에는 데이터 유형인 숫자형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문자형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날짜형을 더 자세히 알아보자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300223471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57720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정수형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정수는 기본적으로 부호를 갖는 </a:t>
            </a:r>
            <a:r>
              <a:rPr kumimoji="1" lang="en-US" altLang="ko-KR" dirty="0"/>
              <a:t>SIGNED </a:t>
            </a:r>
            <a:r>
              <a:rPr kumimoji="1" lang="ko-KR" altLang="en-US" dirty="0"/>
              <a:t>형식으로 저장되어 </a:t>
            </a:r>
            <a:br>
              <a:rPr kumimoji="1" lang="en-US" altLang="ko-KR" dirty="0"/>
            </a:br>
            <a:r>
              <a:rPr kumimoji="1" lang="ko-KR" altLang="en-US" dirty="0"/>
              <a:t>음수와 양수를 동시에 저장할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부호를 갖지 않는 </a:t>
            </a:r>
            <a:r>
              <a:rPr kumimoji="1" lang="en-US" altLang="ko-KR" dirty="0"/>
              <a:t>UNSIGNED</a:t>
            </a:r>
            <a:r>
              <a:rPr kumimoji="1" lang="ko-KR" altLang="en-US" dirty="0"/>
              <a:t>라는 형식도 사용할 수 있는데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이 형식으로 설정되면 </a:t>
            </a:r>
            <a:r>
              <a:rPr kumimoji="1" lang="en-US" altLang="ko-KR" dirty="0"/>
              <a:t>0</a:t>
            </a:r>
            <a:r>
              <a:rPr kumimoji="1" lang="ko-KR" altLang="en-US" dirty="0"/>
              <a:t>보다 큰 양의 정수를 더 많이 저장할 수 있어 </a:t>
            </a:r>
            <a:br>
              <a:rPr kumimoji="1" lang="en-US" altLang="ko-KR" dirty="0"/>
            </a:br>
            <a:r>
              <a:rPr kumimoji="1" lang="ko-KR" altLang="en-US" dirty="0"/>
              <a:t>최댓값은 </a:t>
            </a:r>
            <a:r>
              <a:rPr kumimoji="1" lang="en-US" altLang="ko-KR" dirty="0"/>
              <a:t>SIGNED </a:t>
            </a:r>
            <a:r>
              <a:rPr kumimoji="1" lang="ko-KR" altLang="en-US" dirty="0"/>
              <a:t>형식보다 </a:t>
            </a:r>
            <a:r>
              <a:rPr kumimoji="1" lang="en-US" altLang="ko-KR" dirty="0"/>
              <a:t>2</a:t>
            </a:r>
            <a:r>
              <a:rPr kumimoji="1" lang="ko-KR" altLang="en-US" dirty="0"/>
              <a:t>배 커짐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AUTO_INCREMENT</a:t>
            </a:r>
            <a:r>
              <a:rPr kumimoji="1" lang="ko-KR" altLang="en-US" dirty="0"/>
              <a:t>가 적용되는 열에는 음수를 저장할 수 없으므로 </a:t>
            </a:r>
            <a:br>
              <a:rPr kumimoji="1" lang="en-US" altLang="ko-KR" dirty="0"/>
            </a:br>
            <a:r>
              <a:rPr kumimoji="1" lang="en-US" altLang="ko-KR" dirty="0"/>
              <a:t>UNSIGNED</a:t>
            </a:r>
            <a:r>
              <a:rPr kumimoji="1" lang="ko-KR" altLang="en-US" dirty="0"/>
              <a:t>을 명시하면 작은 데이터 공간에 더 많은 값을 저장할 수 있음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SINGNED</a:t>
            </a:r>
            <a:r>
              <a:rPr kumimoji="1" lang="ko-KR" altLang="en-US" dirty="0"/>
              <a:t>나 </a:t>
            </a:r>
            <a:r>
              <a:rPr kumimoji="1" lang="en-US" altLang="ko-KR" dirty="0"/>
              <a:t>UNSIGNED</a:t>
            </a:r>
            <a:r>
              <a:rPr kumimoji="1" lang="ko-KR" altLang="en-US" dirty="0"/>
              <a:t>에 따른 성능 문제는 없지만 </a:t>
            </a:r>
            <a:br>
              <a:rPr kumimoji="1" lang="en-US" altLang="ko-KR" dirty="0"/>
            </a:br>
            <a:r>
              <a:rPr kumimoji="1" lang="ko-KR" altLang="en-US" dirty="0"/>
              <a:t>최솟값과 최댓값의 범위가 다르므로 사용할 때 데이터 오류가 발생하지 않도록 주의하자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58746414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정수형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각 정수형의 데이터 크기와 범위</a:t>
            </a: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매우 큰 </a:t>
            </a:r>
            <a:r>
              <a:rPr kumimoji="1" lang="ko-KR" altLang="en-US" dirty="0" err="1"/>
              <a:t>숫잣값이나</a:t>
            </a:r>
            <a:r>
              <a:rPr kumimoji="1" lang="ko-KR" altLang="en-US" dirty="0"/>
              <a:t> 고정 소수점 숫자를 저장해야 하는 것이 아니라면 </a:t>
            </a:r>
            <a:br>
              <a:rPr kumimoji="1" lang="en-US" altLang="ko-KR" dirty="0"/>
            </a:br>
            <a:r>
              <a:rPr kumimoji="1" lang="ko-KR" altLang="en-US" dirty="0"/>
              <a:t>일반적으로 </a:t>
            </a:r>
            <a:r>
              <a:rPr kumimoji="1" lang="en-US" altLang="ko-KR" dirty="0"/>
              <a:t>INT</a:t>
            </a:r>
            <a:r>
              <a:rPr kumimoji="1" lang="ko-KR" altLang="en-US" dirty="0"/>
              <a:t>나 </a:t>
            </a:r>
            <a:r>
              <a:rPr kumimoji="1" lang="en-US" altLang="ko-KR" dirty="0"/>
              <a:t>BIGINT</a:t>
            </a:r>
            <a:r>
              <a:rPr kumimoji="1" lang="ko-KR" altLang="en-US" dirty="0"/>
              <a:t>을 자주 사용함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BF3452-3979-E2D2-7926-045A2815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416" y="3487992"/>
            <a:ext cx="5899355" cy="150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3316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실수형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MySQL</a:t>
            </a:r>
            <a:r>
              <a:rPr kumimoji="1" lang="ko-KR" altLang="en-US" dirty="0"/>
              <a:t>에서는 고정 소수점 형식과 부동 소수점 형식을 사용할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부동 소수점 숫자를 저장하기 위해 </a:t>
            </a:r>
            <a:r>
              <a:rPr kumimoji="1" lang="en-US" altLang="ko-KR" dirty="0"/>
              <a:t>FLOAT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DOUBLE</a:t>
            </a:r>
            <a:r>
              <a:rPr kumimoji="1" lang="ko-KR" altLang="en-US" dirty="0"/>
              <a:t>을 사용할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고정 소수점 숫자를 저장하기 위해서는 </a:t>
            </a:r>
            <a:r>
              <a:rPr kumimoji="1" lang="en-US" altLang="ko-KR" dirty="0"/>
              <a:t>DECIMAL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NUMBER</a:t>
            </a:r>
            <a:r>
              <a:rPr kumimoji="1" lang="ko-KR" altLang="en-US" dirty="0"/>
              <a:t>을 사용할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115244958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실수형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부동 소수점</a:t>
            </a:r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(floating point)</a:t>
            </a:r>
            <a:r>
              <a:rPr kumimoji="1" lang="ko-KR" altLang="en-US" dirty="0"/>
              <a:t>에서 ‘</a:t>
            </a:r>
            <a:r>
              <a:rPr kumimoji="1" lang="ko-KR" altLang="en-US" dirty="0" err="1"/>
              <a:t>부동’이란</a:t>
            </a:r>
            <a:r>
              <a:rPr kumimoji="1" lang="ko-KR" altLang="en-US" dirty="0"/>
              <a:t> 소수점의 위치가 고정적이지 않다는 뜻으로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숫자 값의 길이에 따라 유효 범위의 소수점 자리가 바뀜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이러한 이유로 부동 소수점을 사용하면 정확한 유효 소수점의 값을 식별하기 어렵고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부동 소수점으로 된 값끼리 비교하기가 쉽지 않음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또한 동등 비교를 사용할 수 없는 제약도 있음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287621628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실수형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실습을 위해 </a:t>
            </a:r>
            <a:r>
              <a:rPr kumimoji="1" lang="en-US" altLang="ko-KR" dirty="0" err="1"/>
              <a:t>doit_float</a:t>
            </a:r>
            <a:r>
              <a:rPr kumimoji="1" lang="en-US" altLang="ko-KR" dirty="0"/>
              <a:t> </a:t>
            </a:r>
            <a:r>
              <a:rPr kumimoji="1" lang="ko-KR" altLang="en-US" dirty="0"/>
              <a:t>테이블을 생성해 보자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col_1</a:t>
            </a:r>
            <a:r>
              <a:rPr kumimoji="1" lang="ko-KR" altLang="en-US" dirty="0"/>
              <a:t>열을 생성할 때 데이터 유형을 </a:t>
            </a:r>
            <a:r>
              <a:rPr kumimoji="1" lang="en-US" altLang="ko-KR" dirty="0"/>
              <a:t>FLOAT</a:t>
            </a:r>
            <a:r>
              <a:rPr kumimoji="1" lang="ko-KR" altLang="en-US" dirty="0"/>
              <a:t>로 지정함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그리고 </a:t>
            </a:r>
            <a:r>
              <a:rPr kumimoji="1" lang="en-US" altLang="ko-KR" dirty="0"/>
              <a:t>0.7</a:t>
            </a:r>
            <a:r>
              <a:rPr kumimoji="1" lang="ko-KR" altLang="en-US" dirty="0"/>
              <a:t>을 입력 후 조회해 보자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72EACF-9553-A5FD-9F8B-50236F967BF0}"/>
              </a:ext>
            </a:extLst>
          </p:cNvPr>
          <p:cNvGrpSpPr/>
          <p:nvPr/>
        </p:nvGrpSpPr>
        <p:grpSpPr>
          <a:xfrm>
            <a:off x="2089012" y="4283397"/>
            <a:ext cx="5432666" cy="1725515"/>
            <a:chOff x="1514900" y="4745033"/>
            <a:chExt cx="9471548" cy="88751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08D323E-9174-C5F9-E23A-A6F05E09E63E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실수형 데이터가 있는 테이블 생성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F664460-FF7B-7743-4994-A061A79C6ECA}"/>
                </a:ext>
              </a:extLst>
            </p:cNvPr>
            <p:cNvSpPr/>
            <p:nvPr/>
          </p:nvSpPr>
          <p:spPr>
            <a:xfrm>
              <a:off x="1514900" y="4923669"/>
              <a:ext cx="9471548" cy="70887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USE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doitsql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doit_float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(col_1 FLOAT);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doit_float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(0.7);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doit_float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WHERE col_1 = 0.7;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E306925-D0B7-9204-7E22-E292D988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497" y="5421588"/>
            <a:ext cx="1023276" cy="58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4082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실수형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FLOAT </a:t>
            </a:r>
            <a:r>
              <a:rPr kumimoji="1" lang="ko-KR" altLang="en-US" dirty="0"/>
              <a:t>타입은 부동 소수점 숫자를 저장하기 때문에 정확한 값이 아닌 근사치를 저장함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0.7</a:t>
            </a:r>
            <a:r>
              <a:rPr kumimoji="1" lang="ko-KR" altLang="en-US" dirty="0"/>
              <a:t>을 입력했을 때 </a:t>
            </a:r>
            <a:r>
              <a:rPr kumimoji="1" lang="en-US" altLang="ko-KR" dirty="0"/>
              <a:t>0.7</a:t>
            </a:r>
            <a:r>
              <a:rPr kumimoji="1" lang="ko-KR" altLang="en-US" dirty="0"/>
              <a:t>과 정확히 일치하는 값이 없기 때문에 </a:t>
            </a:r>
            <a:br>
              <a:rPr kumimoji="1" lang="en-US" altLang="ko-KR" dirty="0"/>
            </a:br>
            <a:r>
              <a:rPr kumimoji="1" lang="ko-KR" altLang="en-US" dirty="0"/>
              <a:t>이와 같이 빈 결과를 반환하게 된 것임</a:t>
            </a:r>
            <a:br>
              <a:rPr kumimoji="1" lang="en-US" altLang="ko-KR" dirty="0"/>
            </a:b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FLOAT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DOUBLE</a:t>
            </a:r>
            <a:r>
              <a:rPr kumimoji="1" lang="ko-KR" altLang="en-US" dirty="0"/>
              <a:t>은 부동 소수점을 갖는 숫자 데이터에 사용하는 데이터 유형으로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en-US" altLang="ko-KR" dirty="0"/>
              <a:t>FLOAT</a:t>
            </a:r>
            <a:r>
              <a:rPr kumimoji="1" lang="ko-KR" altLang="en-US" dirty="0"/>
              <a:t>는 기본적으로 </a:t>
            </a:r>
            <a:r>
              <a:rPr kumimoji="1" lang="en-US" altLang="ko-KR" dirty="0"/>
              <a:t>4</a:t>
            </a:r>
            <a:r>
              <a:rPr kumimoji="1" lang="ko-KR" altLang="en-US" dirty="0"/>
              <a:t>바이트를 사용하여 유효 자릿수 </a:t>
            </a:r>
            <a:r>
              <a:rPr kumimoji="1" lang="en-US" altLang="ko-KR" dirty="0"/>
              <a:t>8</a:t>
            </a:r>
            <a:r>
              <a:rPr kumimoji="1" lang="ko-KR" altLang="en-US" dirty="0"/>
              <a:t>개를 유지하며 </a:t>
            </a:r>
            <a:br>
              <a:rPr kumimoji="1" lang="en-US" altLang="ko-KR" dirty="0"/>
            </a:br>
            <a:r>
              <a:rPr kumimoji="1" lang="ko-KR" altLang="en-US" dirty="0"/>
              <a:t>정밀도가 명시된 경우에는 최대 </a:t>
            </a:r>
            <a:r>
              <a:rPr kumimoji="1" lang="en-US" altLang="ko-KR" dirty="0"/>
              <a:t>8</a:t>
            </a:r>
            <a:r>
              <a:rPr kumimoji="1" lang="ko-KR" altLang="en-US" dirty="0"/>
              <a:t>바이트까지 저장 공간을 사용함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DOUBLE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8</a:t>
            </a:r>
            <a:r>
              <a:rPr kumimoji="1" lang="ko-KR" altLang="en-US" dirty="0"/>
              <a:t>바이트 공간을 사용하여 최대 </a:t>
            </a:r>
            <a:r>
              <a:rPr kumimoji="1" lang="en-US" altLang="ko-KR" dirty="0"/>
              <a:t>16</a:t>
            </a:r>
            <a:r>
              <a:rPr kumimoji="1" lang="ko-KR" altLang="en-US" dirty="0"/>
              <a:t>개의 유효 자릿수를 유지함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930D8B-C29A-AD76-49AF-6D9772D35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676" y="5517185"/>
            <a:ext cx="4768645" cy="94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380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실수형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부동 소수점에서는 유효 범위 이외의 값은 가변적이므로 정확한 값을 보장할 수 없음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만약 금융 데이터나 소수점이 확실히 고정되어야 하는 숫자라면 </a:t>
            </a:r>
            <a:br>
              <a:rPr kumimoji="1" lang="en-US" altLang="ko-KR" dirty="0"/>
            </a:br>
            <a:r>
              <a:rPr kumimoji="1" lang="en-US" altLang="ko-KR" dirty="0"/>
              <a:t>FLOAT</a:t>
            </a:r>
            <a:r>
              <a:rPr kumimoji="1" lang="ko-KR" altLang="en-US" dirty="0"/>
              <a:t>나 </a:t>
            </a:r>
            <a:r>
              <a:rPr kumimoji="1" lang="en-US" altLang="ko-KR" dirty="0"/>
              <a:t>DOUBLE</a:t>
            </a:r>
            <a:r>
              <a:rPr kumimoji="1" lang="ko-KR" altLang="en-US" dirty="0"/>
              <a:t>을 사용할 수 없음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 경우 </a:t>
            </a:r>
            <a:r>
              <a:rPr kumimoji="1" lang="en-US" altLang="ko-KR" dirty="0"/>
              <a:t>DECIMAL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NUMERIC</a:t>
            </a:r>
            <a:r>
              <a:rPr kumimoji="1" lang="ko-KR" altLang="en-US" dirty="0"/>
              <a:t>을 사용함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전체 자릿수와 소수 자릿수가 고정된 데이터 유형으로 </a:t>
            </a:r>
            <a:br>
              <a:rPr kumimoji="1" lang="en-US" altLang="ko-KR" dirty="0"/>
            </a:br>
            <a:r>
              <a:rPr kumimoji="1" lang="ko-KR" altLang="en-US" dirty="0"/>
              <a:t>최대 </a:t>
            </a:r>
            <a:r>
              <a:rPr kumimoji="1" lang="en-US" altLang="ko-KR" dirty="0"/>
              <a:t>38</a:t>
            </a:r>
            <a:r>
              <a:rPr kumimoji="1" lang="ko-KR" altLang="en-US" dirty="0"/>
              <a:t>자리 숫자를 사용할 수 있도록 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예를 들어 </a:t>
            </a:r>
            <a:r>
              <a:rPr kumimoji="1" lang="en-US" altLang="ko-KR" dirty="0"/>
              <a:t>DECIMAL(20, 5)</a:t>
            </a:r>
            <a:r>
              <a:rPr kumimoji="1" lang="ko-KR" altLang="en-US" dirty="0"/>
              <a:t>라고 하면 정수 </a:t>
            </a:r>
            <a:r>
              <a:rPr kumimoji="1" lang="en-US" altLang="ko-KR" dirty="0"/>
              <a:t>15</a:t>
            </a:r>
            <a:r>
              <a:rPr kumimoji="1" lang="ko-KR" altLang="en-US" dirty="0"/>
              <a:t>자리</a:t>
            </a:r>
            <a:r>
              <a:rPr kumimoji="1" lang="en-US" altLang="ko-KR" dirty="0"/>
              <a:t>, </a:t>
            </a:r>
            <a:r>
              <a:rPr kumimoji="1" lang="ko-KR" altLang="en-US" dirty="0"/>
              <a:t>소수 </a:t>
            </a:r>
            <a:r>
              <a:rPr kumimoji="1" lang="en-US" altLang="ko-KR" dirty="0"/>
              <a:t>5</a:t>
            </a:r>
            <a:r>
              <a:rPr kumimoji="1" lang="ko-KR" altLang="en-US" dirty="0"/>
              <a:t>자리를 표현함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5641831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실수형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하지만 </a:t>
            </a:r>
            <a:r>
              <a:rPr kumimoji="1" lang="en-US" altLang="ko-KR" dirty="0"/>
              <a:t>DECIMAL(20)</a:t>
            </a:r>
            <a:r>
              <a:rPr kumimoji="1" lang="ko-KR" altLang="en-US" dirty="0"/>
              <a:t>이라고 표현하면 정수 </a:t>
            </a:r>
            <a:r>
              <a:rPr kumimoji="1" lang="en-US" altLang="ko-KR" dirty="0"/>
              <a:t>20</a:t>
            </a:r>
            <a:r>
              <a:rPr kumimoji="1" lang="ko-KR" altLang="en-US" dirty="0" err="1"/>
              <a:t>자리까지만</a:t>
            </a:r>
            <a:r>
              <a:rPr kumimoji="1" lang="ko-KR" altLang="en-US" dirty="0"/>
              <a:t> 저장할 수 있음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DECIMAL </a:t>
            </a:r>
            <a:r>
              <a:rPr kumimoji="1" lang="ko-KR" altLang="en-US" dirty="0"/>
              <a:t>형식의 숫자 데이터 하나를 저장하는 데 </a:t>
            </a:r>
            <a:r>
              <a:rPr kumimoji="1" lang="en-US" altLang="ko-KR" dirty="0"/>
              <a:t>1/2</a:t>
            </a:r>
            <a:r>
              <a:rPr kumimoji="1" lang="ko-KR" altLang="en-US" dirty="0"/>
              <a:t>바이트가 필요함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그래서 자릿수를 계산할 때 </a:t>
            </a:r>
            <a:r>
              <a:rPr kumimoji="1" lang="en-US" altLang="ko-KR" dirty="0"/>
              <a:t>(</a:t>
            </a:r>
            <a:r>
              <a:rPr kumimoji="1" lang="ko-KR" altLang="en-US" dirty="0"/>
              <a:t>전체 자릿수</a:t>
            </a:r>
            <a:r>
              <a:rPr kumimoji="1" lang="en-US" altLang="ko-KR" dirty="0"/>
              <a:t>)/2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결괏값을</a:t>
            </a:r>
            <a:r>
              <a:rPr kumimoji="1" lang="ko-KR" altLang="en-US" dirty="0"/>
              <a:t> 올림 처리한 만큼의 바이트 수가 필요함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EFB7C7-729B-7D90-F8C7-77C54F6EB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422" y="4244309"/>
            <a:ext cx="4951156" cy="100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2148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숫자형 변환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숫자형 데이터를 사용할 때는 형 변환에 주의해야 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형 변환</a:t>
            </a:r>
            <a:r>
              <a:rPr kumimoji="1" lang="en-US" altLang="ko-KR" dirty="0"/>
              <a:t>type casting</a:t>
            </a:r>
            <a:r>
              <a:rPr kumimoji="1" lang="ko-KR" altLang="en-US" dirty="0"/>
              <a:t>이란 암시적</a:t>
            </a:r>
            <a:r>
              <a:rPr kumimoji="1" lang="en-US" altLang="ko-KR" dirty="0"/>
              <a:t>, </a:t>
            </a:r>
            <a:r>
              <a:rPr kumimoji="1" lang="ko-KR" altLang="en-US" dirty="0"/>
              <a:t>명시적으로 자료형을 변경하는 것임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암시적 형 변환이란 자료형을 직접 변경하지 않아도 </a:t>
            </a:r>
            <a:br>
              <a:rPr kumimoji="1" lang="en-US" altLang="ko-KR" dirty="0"/>
            </a:br>
            <a:r>
              <a:rPr kumimoji="1" lang="ko-KR" altLang="en-US" dirty="0"/>
              <a:t>실행 환경에서 자동으로 자료형을 변경하는 것을 말하고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명시적 형 변환이란 </a:t>
            </a:r>
            <a:r>
              <a:rPr kumimoji="1" lang="en-US" altLang="ko-KR" dirty="0"/>
              <a:t>CAST, CONVERT </a:t>
            </a:r>
            <a:r>
              <a:rPr kumimoji="1" lang="ko-KR" altLang="en-US" dirty="0"/>
              <a:t>등의 함수를 사용하여 </a:t>
            </a:r>
            <a:br>
              <a:rPr kumimoji="1" lang="en-US" altLang="ko-KR" dirty="0"/>
            </a:br>
            <a:r>
              <a:rPr kumimoji="1" lang="ko-KR" altLang="en-US" dirty="0"/>
              <a:t>사용자가 자료형을 직접 변경하는 것을 말함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206562451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숫자형 변환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다음과 같이 </a:t>
            </a:r>
            <a:r>
              <a:rPr kumimoji="1" lang="en-US" altLang="ko-KR" dirty="0"/>
              <a:t>10/3</a:t>
            </a:r>
            <a:r>
              <a:rPr kumimoji="1" lang="ko-KR" altLang="en-US" dirty="0"/>
              <a:t>을 계산하면 </a:t>
            </a:r>
            <a:r>
              <a:rPr kumimoji="1" lang="en-US" altLang="ko-KR" dirty="0"/>
              <a:t>10</a:t>
            </a:r>
            <a:r>
              <a:rPr kumimoji="1" lang="ko-KR" altLang="en-US" dirty="0"/>
              <a:t>은 정수</a:t>
            </a:r>
            <a:r>
              <a:rPr kumimoji="1" lang="en-US" altLang="ko-KR" dirty="0"/>
              <a:t>, 3</a:t>
            </a:r>
            <a:r>
              <a:rPr kumimoji="1" lang="ko-KR" altLang="en-US" dirty="0"/>
              <a:t>은 정수이므로 </a:t>
            </a:r>
            <a:br>
              <a:rPr kumimoji="1" lang="en-US" altLang="ko-KR" dirty="0"/>
            </a:br>
            <a:r>
              <a:rPr kumimoji="1" lang="ko-KR" altLang="en-US" dirty="0" err="1"/>
              <a:t>결괏값은</a:t>
            </a:r>
            <a:r>
              <a:rPr kumimoji="1" lang="ko-KR" altLang="en-US" dirty="0"/>
              <a:t> 정수인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이 출력되어야 하지만 실수 </a:t>
            </a:r>
            <a:r>
              <a:rPr kumimoji="1" lang="en-US" altLang="ko-KR" dirty="0"/>
              <a:t>3.3333</a:t>
            </a:r>
            <a:r>
              <a:rPr kumimoji="1" lang="ko-KR" altLang="en-US" dirty="0"/>
              <a:t>이 출력됨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 경우는 계산 결과가 </a:t>
            </a:r>
            <a:r>
              <a:rPr kumimoji="1" lang="en-US" altLang="ko-KR" dirty="0"/>
              <a:t>10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3</a:t>
            </a:r>
            <a:r>
              <a:rPr kumimoji="1" lang="ko-KR" altLang="en-US" dirty="0"/>
              <a:t>과 같은 정수가 아닌 </a:t>
            </a:r>
            <a:r>
              <a:rPr kumimoji="1" lang="en-US" altLang="ko-KR" dirty="0"/>
              <a:t>3.33333</a:t>
            </a:r>
            <a:r>
              <a:rPr kumimoji="1" lang="ko-KR" altLang="en-US" dirty="0"/>
              <a:t>인 실수로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즉 우선순위 형 변환 정책에 따라 암시적 형 변환이 발생한 것임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D44D682-DAEA-21C6-421A-8DD6E34BC340}"/>
              </a:ext>
            </a:extLst>
          </p:cNvPr>
          <p:cNvGrpSpPr/>
          <p:nvPr/>
        </p:nvGrpSpPr>
        <p:grpSpPr>
          <a:xfrm>
            <a:off x="1972898" y="4820427"/>
            <a:ext cx="4224702" cy="694616"/>
            <a:chOff x="1514900" y="4745033"/>
            <a:chExt cx="9471548" cy="35727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9C607BF-C67D-D986-D7B5-F0B34A43B990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암시적 형 변환으로 계산 결과가 출력된 예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AA1697-55CC-D51C-0287-2250CF3B3CA8}"/>
                </a:ext>
              </a:extLst>
            </p:cNvPr>
            <p:cNvSpPr/>
            <p:nvPr/>
          </p:nvSpPr>
          <p:spPr>
            <a:xfrm>
              <a:off x="1514900" y="4923669"/>
              <a:ext cx="9471548" cy="1786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10/3;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20F27BD4-2724-7C00-1260-0111A838B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42" y="4773831"/>
            <a:ext cx="1240380" cy="78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0141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4815242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숫자형 변환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이와 같이 일치하지 않는 데이터 유형은 </a:t>
            </a:r>
            <a:br>
              <a:rPr kumimoji="1" lang="en-US" altLang="ko-KR" dirty="0"/>
            </a:br>
            <a:r>
              <a:rPr kumimoji="1" lang="en-US" altLang="ko-KR" dirty="0"/>
              <a:t>MySQL</a:t>
            </a:r>
            <a:r>
              <a:rPr kumimoji="1" lang="ko-KR" altLang="en-US" dirty="0"/>
              <a:t>에서 호환 가능한 형식으로 암시적으로 변환되는데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우선순위가 정의된 프로세스에 따라 수행됨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우선순위가 낮은 데이터 유형은 우선순위가 높은 데이터 유형으로 변환됨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273074894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숫자형 변환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마이크로소프트 공식 문서에서 제공하는 데이터 우선순위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en-US" altLang="ko-KR" dirty="0"/>
              <a:t>MySQL</a:t>
            </a:r>
            <a:r>
              <a:rPr kumimoji="1" lang="ko-KR" altLang="en-US" dirty="0"/>
              <a:t>은 공식 문서를 확인할 수 없는데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관계형 데이터베이스는 국제 표준에 따라 </a:t>
            </a:r>
            <a:br>
              <a:rPr kumimoji="1" lang="en-US" altLang="ko-KR" dirty="0"/>
            </a:br>
            <a:r>
              <a:rPr kumimoji="1" lang="ko-KR" altLang="en-US" dirty="0"/>
              <a:t>비슷하게 동작하는 부분이 많아서 이 내용을 참고하도록 하자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CE112B-20C1-38D7-90EC-02773B487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972" y="4071234"/>
            <a:ext cx="5162243" cy="231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542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숫자형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/>
              <a:t>숫자형 변환</a:t>
            </a:r>
            <a:endParaRPr kumimoji="1" lang="en-US" altLang="ko-KR" b="1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숫자형 데이터는 합</a:t>
            </a:r>
            <a:r>
              <a:rPr kumimoji="1" lang="en-US" altLang="ko-KR" dirty="0"/>
              <a:t>, </a:t>
            </a:r>
            <a:r>
              <a:rPr kumimoji="1" lang="ko-KR" altLang="en-US" dirty="0"/>
              <a:t>평균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나누기 등 다양한 집계 함수에서 자주 사용함</a:t>
            </a:r>
            <a:endParaRPr kumimoji="1" lang="en-US" altLang="ko-KR" dirty="0"/>
          </a:p>
          <a:p>
            <a:pPr lvl="2">
              <a:buClr>
                <a:srgbClr val="E47525"/>
              </a:buClr>
            </a:pPr>
            <a:endParaRPr kumimoji="1" lang="en-US" altLang="ko-KR" dirty="0"/>
          </a:p>
          <a:p>
            <a:pPr lvl="2">
              <a:buClr>
                <a:srgbClr val="E47525"/>
              </a:buClr>
            </a:pPr>
            <a:r>
              <a:rPr kumimoji="1" lang="ko-KR" altLang="en-US" dirty="0"/>
              <a:t>실무에서는 여러 보고서에 숫자형 데이터를 많이 사용하므로 </a:t>
            </a:r>
            <a:br>
              <a:rPr kumimoji="1" lang="en-US" altLang="ko-KR" dirty="0"/>
            </a:br>
            <a:r>
              <a:rPr kumimoji="1" lang="ko-KR" altLang="en-US" dirty="0"/>
              <a:t>데이터 처리 시 발생할 수 있는 오류를 예방하려면</a:t>
            </a:r>
            <a:br>
              <a:rPr kumimoji="1" lang="en-US" altLang="ko-KR" dirty="0"/>
            </a:br>
            <a:r>
              <a:rPr kumimoji="1" lang="ko-KR" altLang="en-US" dirty="0"/>
              <a:t>자료형과 형 변환을 이해하는 것은 무척 중요함</a:t>
            </a: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21840650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문자형은 다양한 문자를 저장할 수 있는 데이터 유형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문자형은 크게 고정 길이와 가변 길이로 구분할 수 있음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고정 길이는 실제 값을 입력하지 않아도 지정한 만큼 저장 공간을 사용하며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가변 길이는 실제 입력한 값의 크기만큼만 저장 공간을 사용함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42048485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다음 예를 살펴보자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열에 저장되는 데이터 유형이 잘못 정해지거나 저장 길이가 너무 짧은 경우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불가피하게 열의 길이를 변경하는 작업이 필요할 수도 있음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이러한 스키마 변경 작업은 현재 운영중인 시스템을 중단해야 하는 등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부담스런 일이 될 수도 있으므로 실제로 저장되는 데이터의 성격을 파악하고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최적의 데이터 유형과 길이를 선정하는 것이 매우 중요함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A137AD-9145-F526-DD1B-56B1333A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384" y="2780028"/>
            <a:ext cx="5309419" cy="100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0332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문자열 데이터의 길이가 항상 고정이라면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(</a:t>
            </a:r>
            <a:r>
              <a:rPr kumimoji="1" lang="ko-KR" altLang="en-US" dirty="0">
                <a:latin typeface="+mn-ea"/>
              </a:rPr>
              <a:t>예를 들어 주민등록번호나 전화번호 같이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변화가 없는 자릿수를 가진 데이터인 경우</a:t>
            </a:r>
            <a:r>
              <a:rPr kumimoji="1" lang="en-US" altLang="ko-KR" dirty="0">
                <a:latin typeface="+mn-ea"/>
              </a:rPr>
              <a:t>) CHAR</a:t>
            </a:r>
            <a:r>
              <a:rPr kumimoji="1" lang="ko-KR" altLang="en-US" dirty="0">
                <a:latin typeface="+mn-ea"/>
              </a:rPr>
              <a:t>를 사용하고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글자 길이를 예측할 수 없지만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최대 글자 수를 예측할 수 있을 때에는 </a:t>
            </a:r>
            <a:r>
              <a:rPr kumimoji="1" lang="en-US" altLang="ko-KR" dirty="0">
                <a:latin typeface="+mn-ea"/>
              </a:rPr>
              <a:t>VARCHAR</a:t>
            </a:r>
            <a:r>
              <a:rPr kumimoji="1" lang="ko-KR" altLang="en-US" dirty="0">
                <a:latin typeface="+mn-ea"/>
              </a:rPr>
              <a:t>를 사용함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하지만 입력되는 문자열이 </a:t>
            </a:r>
            <a:r>
              <a:rPr kumimoji="1" lang="en-US" altLang="ko-KR" dirty="0">
                <a:latin typeface="+mn-ea"/>
              </a:rPr>
              <a:t>2~3</a:t>
            </a:r>
            <a:r>
              <a:rPr kumimoji="1" lang="ko-KR" altLang="en-US" dirty="0">
                <a:latin typeface="+mn-ea"/>
              </a:rPr>
              <a:t>바이트 정도의 범위 내에서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예측하기 어려운 경우에는 넉넉한 </a:t>
            </a:r>
            <a:r>
              <a:rPr kumimoji="1" lang="en-US" altLang="ko-KR" dirty="0">
                <a:latin typeface="+mn-ea"/>
              </a:rPr>
              <a:t>CHAR</a:t>
            </a:r>
            <a:r>
              <a:rPr kumimoji="1" lang="ko-KR" altLang="en-US" dirty="0">
                <a:latin typeface="+mn-ea"/>
              </a:rPr>
              <a:t>로 설정하는 것이 좋음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333782141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고정 길이 문자열은 미리 길이가 정해져 있기 때문에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실제 입력되는 값에 따라 저장 공간의 크기가 변하지 않음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하지만 가변 길이 문자열은 최대 저장할 수 있는 값의 길이는 제한하고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제한된 길이 이하 크기의 값이 저장되면 그만큼 저장 공간의 크기가 줄어듦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가변 길이에 저장된 값의 유효 크기가 얼마인지를 관리하기 위해서는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별도의 저장 공간이 필요하기 때문에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고정 길이 문자열에 비해 </a:t>
            </a:r>
            <a:r>
              <a:rPr kumimoji="1" lang="en-US" altLang="ko-KR" dirty="0">
                <a:latin typeface="+mn-ea"/>
              </a:rPr>
              <a:t>1~2</a:t>
            </a:r>
            <a:r>
              <a:rPr kumimoji="1" lang="ko-KR" altLang="en-US" dirty="0">
                <a:latin typeface="+mn-ea"/>
              </a:rPr>
              <a:t>바이트의 저장 공간이 추가로 더 필요함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145296290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5446844-E188-F5B1-57F1-68E4803F8E44}"/>
              </a:ext>
            </a:extLst>
          </p:cNvPr>
          <p:cNvGrpSpPr/>
          <p:nvPr/>
        </p:nvGrpSpPr>
        <p:grpSpPr>
          <a:xfrm>
            <a:off x="3446245" y="2312510"/>
            <a:ext cx="5299509" cy="3878547"/>
            <a:chOff x="0" y="1706014"/>
            <a:chExt cx="12280492" cy="898771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51A1D2F-2EC4-4822-C8A2-1A10EE0FE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06014"/>
              <a:ext cx="12192000" cy="344597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D742C07-989A-02D6-2717-E3249359F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92" y="5078246"/>
              <a:ext cx="12192000" cy="56154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956962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MySQL</a:t>
            </a:r>
            <a:r>
              <a:rPr kumimoji="1" lang="ko-KR" altLang="en-US" dirty="0">
                <a:latin typeface="+mn-ea"/>
              </a:rPr>
              <a:t>의 경우 문자열 데이터 유형을 사용할 때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CHAR </a:t>
            </a:r>
            <a:r>
              <a:rPr kumimoji="1" lang="ko-KR" altLang="en-US" dirty="0">
                <a:latin typeface="+mn-ea"/>
              </a:rPr>
              <a:t>또는 </a:t>
            </a:r>
            <a:r>
              <a:rPr kumimoji="1" lang="en-US" altLang="ko-KR" dirty="0">
                <a:latin typeface="+mn-ea"/>
              </a:rPr>
              <a:t>VARCHAR </a:t>
            </a:r>
            <a:r>
              <a:rPr kumimoji="1" lang="ko-KR" altLang="en-US" dirty="0">
                <a:latin typeface="+mn-ea"/>
              </a:rPr>
              <a:t>뒤에 인자</a:t>
            </a:r>
            <a:r>
              <a:rPr kumimoji="1" lang="en-US" altLang="ko-KR" dirty="0">
                <a:latin typeface="+mn-ea"/>
              </a:rPr>
              <a:t>(</a:t>
            </a:r>
            <a:r>
              <a:rPr kumimoji="1" lang="ko-KR" altLang="en-US" dirty="0">
                <a:latin typeface="+mn-ea"/>
              </a:rPr>
              <a:t>괄호 안의 숫자</a:t>
            </a:r>
            <a:r>
              <a:rPr kumimoji="1" lang="en-US" altLang="ko-KR" dirty="0">
                <a:latin typeface="+mn-ea"/>
              </a:rPr>
              <a:t>)</a:t>
            </a:r>
            <a:r>
              <a:rPr kumimoji="1" lang="ko-KR" altLang="en-US" dirty="0">
                <a:latin typeface="+mn-ea"/>
              </a:rPr>
              <a:t>로 사용하는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 err="1">
                <a:latin typeface="+mn-ea"/>
              </a:rPr>
              <a:t>숫잣값의</a:t>
            </a:r>
            <a:r>
              <a:rPr kumimoji="1" lang="ko-KR" altLang="en-US" dirty="0">
                <a:latin typeface="+mn-ea"/>
              </a:rPr>
              <a:t> 의미는 다른 </a:t>
            </a:r>
            <a:r>
              <a:rPr kumimoji="1" lang="en-US" altLang="ko-KR" dirty="0">
                <a:latin typeface="+mn-ea"/>
              </a:rPr>
              <a:t>DBMS</a:t>
            </a:r>
            <a:r>
              <a:rPr kumimoji="1" lang="ko-KR" altLang="en-US" dirty="0">
                <a:latin typeface="+mn-ea"/>
              </a:rPr>
              <a:t>과 달라서 정확히 알고 사용해야 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MySQL</a:t>
            </a:r>
            <a:r>
              <a:rPr kumimoji="1" lang="ko-KR" altLang="en-US" dirty="0">
                <a:latin typeface="+mn-ea"/>
              </a:rPr>
              <a:t>에서는 </a:t>
            </a:r>
            <a:r>
              <a:rPr kumimoji="1" lang="en-US" altLang="ko-KR" dirty="0">
                <a:latin typeface="+mn-ea"/>
              </a:rPr>
              <a:t>CHAR </a:t>
            </a:r>
            <a:r>
              <a:rPr kumimoji="1" lang="ko-KR" altLang="en-US" dirty="0">
                <a:latin typeface="+mn-ea"/>
              </a:rPr>
              <a:t>또는 </a:t>
            </a:r>
            <a:r>
              <a:rPr kumimoji="1" lang="en-US" altLang="ko-KR" dirty="0">
                <a:latin typeface="+mn-ea"/>
              </a:rPr>
              <a:t>VARCAHR </a:t>
            </a:r>
            <a:r>
              <a:rPr kumimoji="1" lang="ko-KR" altLang="en-US" dirty="0">
                <a:latin typeface="+mn-ea"/>
              </a:rPr>
              <a:t>뒤에 나오는 숫자는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바이트가 아닌 문자열의 문자 수임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즉</a:t>
            </a:r>
            <a:r>
              <a:rPr kumimoji="1" lang="en-US" altLang="ko-KR" dirty="0">
                <a:latin typeface="+mn-ea"/>
              </a:rPr>
              <a:t>, CHAR(5) </a:t>
            </a:r>
            <a:r>
              <a:rPr kumimoji="1" lang="ko-KR" altLang="en-US" dirty="0">
                <a:latin typeface="+mn-ea"/>
              </a:rPr>
              <a:t>또는 </a:t>
            </a:r>
            <a:r>
              <a:rPr kumimoji="1" lang="en-US" altLang="ko-KR" dirty="0">
                <a:latin typeface="+mn-ea"/>
              </a:rPr>
              <a:t>VARCHAR(5)</a:t>
            </a:r>
            <a:r>
              <a:rPr kumimoji="1" lang="ko-KR" altLang="en-US" dirty="0">
                <a:latin typeface="+mn-ea"/>
              </a:rPr>
              <a:t>이면 </a:t>
            </a:r>
            <a:r>
              <a:rPr kumimoji="1" lang="en-US" altLang="ko-KR" dirty="0">
                <a:latin typeface="+mn-ea"/>
              </a:rPr>
              <a:t>5byte</a:t>
            </a:r>
            <a:r>
              <a:rPr kumimoji="1" lang="ko-KR" altLang="en-US" dirty="0">
                <a:latin typeface="+mn-ea"/>
              </a:rPr>
              <a:t>를 저장할 수 있는 것이 아니라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문자 </a:t>
            </a:r>
            <a:r>
              <a:rPr kumimoji="1" lang="en-US" altLang="ko-KR" dirty="0">
                <a:latin typeface="+mn-ea"/>
              </a:rPr>
              <a:t>5</a:t>
            </a:r>
            <a:r>
              <a:rPr kumimoji="1" lang="ko-KR" altLang="en-US" dirty="0">
                <a:latin typeface="+mn-ea"/>
              </a:rPr>
              <a:t>개를 저장할 수 있다는 뜻임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그래서 </a:t>
            </a:r>
            <a:r>
              <a:rPr kumimoji="1" lang="en-US" altLang="ko-KR" dirty="0">
                <a:latin typeface="+mn-ea"/>
              </a:rPr>
              <a:t>CHAR(5)</a:t>
            </a:r>
            <a:r>
              <a:rPr kumimoji="1" lang="ko-KR" altLang="en-US" dirty="0">
                <a:latin typeface="+mn-ea"/>
              </a:rPr>
              <a:t>을 사용하더라도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실제 저장 공간은 입력되는 데이터에 따라 크기가 다른 공간을 사용함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27322561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sz="1000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sz="800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다음 예제를 작성하여 이 내용을 이해해 보자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040681E-7FBD-0023-3AF3-D8364EB9618B}"/>
              </a:ext>
            </a:extLst>
          </p:cNvPr>
          <p:cNvGrpSpPr/>
          <p:nvPr/>
        </p:nvGrpSpPr>
        <p:grpSpPr>
          <a:xfrm>
            <a:off x="1485936" y="2555745"/>
            <a:ext cx="5901835" cy="4019224"/>
            <a:chOff x="1514900" y="4745033"/>
            <a:chExt cx="9471548" cy="21582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6FBD2C2-5312-BB03-D918-87D71A4F22A8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문자열 데이터의 길이와 크기 확인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6A1FF40-2F03-90E9-9647-00D602686EA6}"/>
                </a:ext>
              </a:extLst>
            </p:cNvPr>
            <p:cNvSpPr/>
            <p:nvPr/>
          </p:nvSpPr>
          <p:spPr>
            <a:xfrm>
              <a:off x="1514900" y="4923669"/>
              <a:ext cx="9471548" cy="197961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USE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doitsql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doit_char_varchar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col_1 CHAR(5),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col_2 VARCHAR(5)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);</a:t>
              </a:r>
            </a:p>
            <a:p>
              <a:pPr algn="just"/>
              <a:endParaRPr lang="en-US" altLang="ko-KR" sz="12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doit_char_varchar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('12345', '12345');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doit_char_varchar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('ABCDE', 'ABCDE');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doit_char_varchar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</a:t>
              </a:r>
              <a:r>
                <a:rPr lang="ko-KR" altLang="en-US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가나다라마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', '</a:t>
              </a:r>
              <a:r>
                <a:rPr lang="ko-KR" altLang="en-US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가나다라마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');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doit_char_varchar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('hello', '</a:t>
              </a:r>
              <a:r>
                <a:rPr lang="ko-KR" altLang="en-US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안녕하세요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');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doit_char_varchar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</a:t>
              </a:r>
              <a:r>
                <a:rPr lang="ko-KR" altLang="en-US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安寧安寧安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', '</a:t>
              </a:r>
              <a:r>
                <a:rPr lang="ko-KR" altLang="en-US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安寧安寧安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’);</a:t>
              </a:r>
            </a:p>
            <a:p>
              <a:pPr algn="just"/>
              <a:endParaRPr lang="en-US" altLang="ko-KR" sz="12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</a:t>
              </a:r>
            </a:p>
            <a:p>
              <a:pPr algn="just"/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col_1, CHAR_LENGTH(col_1) as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char_length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 LENGTH(col_1) AS </a:t>
              </a:r>
              <a:r>
                <a:rPr lang="en-US" altLang="ko-KR" sz="14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char_byte</a:t>
              </a:r>
              <a:r>
                <a:rPr lang="en-US" altLang="ko-KR" sz="14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,</a:t>
              </a:r>
            </a:p>
            <a:p>
              <a:pPr algn="just"/>
              <a:r>
                <a:rPr lang="en-US" altLang="ko-KR" sz="1400" dirty="0">
                  <a:solidFill>
                    <a:schemeClr val="tx1"/>
                  </a:solidFill>
                </a:rPr>
                <a:t>col_2, CHAR_LENGTH(col_2) as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char_length</a:t>
              </a:r>
              <a:r>
                <a:rPr lang="en-US" altLang="ko-KR" sz="1400" dirty="0">
                  <a:solidFill>
                    <a:schemeClr val="tx1"/>
                  </a:solidFill>
                </a:rPr>
                <a:t>, LENGTH(col_2) AS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char_byte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pPr algn="just"/>
              <a:r>
                <a:rPr lang="en-US" altLang="ko-KR" sz="1400" dirty="0">
                  <a:solidFill>
                    <a:schemeClr val="tx1"/>
                  </a:solidFill>
                </a:rPr>
                <a:t>FROM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doit_char_varchar</a:t>
              </a:r>
              <a:r>
                <a:rPr lang="en-US" altLang="ko-KR" sz="1400" dirty="0">
                  <a:solidFill>
                    <a:schemeClr val="tx1"/>
                  </a:solidFill>
                </a:rPr>
                <a:t>;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DB435E2-A165-64B4-EBA9-CD3DFFFE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659" y="5100430"/>
            <a:ext cx="4285344" cy="128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650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결과를 살펴보면 숫자와 영어는 한 글자당 </a:t>
            </a:r>
            <a:r>
              <a:rPr kumimoji="1" lang="en-US" altLang="ko-KR" dirty="0">
                <a:latin typeface="+mn-ea"/>
              </a:rPr>
              <a:t>1</a:t>
            </a:r>
            <a:r>
              <a:rPr kumimoji="1" lang="ko-KR" altLang="en-US" dirty="0">
                <a:latin typeface="+mn-ea"/>
              </a:rPr>
              <a:t>바이트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그리고 한글과 한문은 한 글자당 </a:t>
            </a:r>
            <a:r>
              <a:rPr kumimoji="1" lang="en-US" altLang="ko-KR" dirty="0">
                <a:latin typeface="+mn-ea"/>
              </a:rPr>
              <a:t>3</a:t>
            </a:r>
            <a:r>
              <a:rPr kumimoji="1" lang="ko-KR" altLang="en-US" dirty="0">
                <a:latin typeface="+mn-ea"/>
              </a:rPr>
              <a:t>바이트를 사용한 것을 확인할 수 있음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그런데 다른 </a:t>
            </a:r>
            <a:r>
              <a:rPr kumimoji="1" lang="en-US" altLang="ko-KR" dirty="0">
                <a:latin typeface="+mn-ea"/>
              </a:rPr>
              <a:t>DBMS</a:t>
            </a:r>
            <a:r>
              <a:rPr kumimoji="1" lang="ko-KR" altLang="en-US" dirty="0">
                <a:latin typeface="+mn-ea"/>
              </a:rPr>
              <a:t>를 살펴보면 숫자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>
                <a:latin typeface="+mn-ea"/>
              </a:rPr>
              <a:t>영어 이외의 문자는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유니코드라고 하여 </a:t>
            </a:r>
            <a:r>
              <a:rPr kumimoji="1" lang="en-US" altLang="ko-KR" dirty="0">
                <a:latin typeface="+mn-ea"/>
              </a:rPr>
              <a:t>2</a:t>
            </a:r>
            <a:r>
              <a:rPr kumimoji="1" lang="ko-KR" altLang="en-US" dirty="0">
                <a:latin typeface="+mn-ea"/>
              </a:rPr>
              <a:t>바이트를 사용한다고 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MySQL</a:t>
            </a:r>
            <a:r>
              <a:rPr kumimoji="1" lang="ko-KR" altLang="en-US" dirty="0">
                <a:latin typeface="+mn-ea"/>
              </a:rPr>
              <a:t>에서 </a:t>
            </a:r>
            <a:r>
              <a:rPr kumimoji="1" lang="en-US" altLang="ko-KR" dirty="0">
                <a:latin typeface="+mn-ea"/>
              </a:rPr>
              <a:t>3</a:t>
            </a:r>
            <a:r>
              <a:rPr kumimoji="1" lang="ko-KR" altLang="en-US" dirty="0">
                <a:latin typeface="+mn-ea"/>
              </a:rPr>
              <a:t>바이트를 사용하는 이유는 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MySQL</a:t>
            </a:r>
            <a:r>
              <a:rPr kumimoji="1" lang="ko-KR" altLang="en-US" dirty="0">
                <a:latin typeface="+mn-ea"/>
              </a:rPr>
              <a:t>에서는 더 다양한 문자 집합을 사용하기 때문임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138281878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MySQL</a:t>
            </a:r>
            <a:r>
              <a:rPr kumimoji="1" lang="ko-KR" altLang="en-US" dirty="0">
                <a:latin typeface="+mn-ea"/>
              </a:rPr>
              <a:t>에서는 유니코드 </a:t>
            </a:r>
            <a:r>
              <a:rPr kumimoji="1" lang="en-US" altLang="ko-KR" dirty="0">
                <a:latin typeface="+mn-ea"/>
              </a:rPr>
              <a:t>UTF-8</a:t>
            </a:r>
            <a:r>
              <a:rPr kumimoji="1" lang="ko-KR" altLang="en-US" dirty="0">
                <a:latin typeface="+mn-ea"/>
              </a:rPr>
              <a:t>은 </a:t>
            </a:r>
            <a:r>
              <a:rPr kumimoji="1" lang="en-US" altLang="ko-KR" dirty="0">
                <a:latin typeface="+mn-ea"/>
              </a:rPr>
              <a:t>3</a:t>
            </a:r>
            <a:r>
              <a:rPr kumimoji="1" lang="ko-KR" altLang="en-US" dirty="0">
                <a:latin typeface="+mn-ea"/>
              </a:rPr>
              <a:t>바이트를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UTF-16</a:t>
            </a:r>
            <a:r>
              <a:rPr kumimoji="1" lang="ko-KR" altLang="en-US" dirty="0">
                <a:latin typeface="+mn-ea"/>
              </a:rPr>
              <a:t>은 </a:t>
            </a:r>
            <a:r>
              <a:rPr kumimoji="1" lang="en-US" altLang="ko-KR" dirty="0">
                <a:latin typeface="+mn-ea"/>
              </a:rPr>
              <a:t>2</a:t>
            </a:r>
            <a:r>
              <a:rPr kumimoji="1" lang="ko-KR" altLang="en-US" dirty="0">
                <a:latin typeface="+mn-ea"/>
              </a:rPr>
              <a:t>바이트를 사용함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최근에는 다양한 이모티콘 등을 표현하기 위해 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UTF-8MB4</a:t>
            </a:r>
            <a:r>
              <a:rPr kumimoji="1" lang="ko-KR" altLang="en-US" dirty="0">
                <a:latin typeface="+mn-ea"/>
              </a:rPr>
              <a:t>라는 형식을 기본으로 사용하기도 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따라서 이와 같이 문자 집합별로 사용하는 데이터 크기가 다양하기 때문에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실제 문자열의 개수와 사용되는 물리적 바이트 수가 달라질 수도 있음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291151644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문자 집합별로 사용하는 저장 공간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60F96C-AC99-1461-32CF-D476159DA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862" y="2835637"/>
            <a:ext cx="6264275" cy="175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1950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>
                <a:latin typeface="+mn-ea"/>
              </a:rPr>
              <a:t>문자 집합</a:t>
            </a:r>
            <a:endParaRPr kumimoji="1" lang="en-US" altLang="ko-KR" b="1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문자형을 배울 때 반드시 알아 두어야 할 개념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MySQL</a:t>
            </a:r>
            <a:r>
              <a:rPr kumimoji="1" lang="ko-KR" altLang="en-US" dirty="0">
                <a:latin typeface="+mn-ea"/>
              </a:rPr>
              <a:t>에서는 </a:t>
            </a:r>
            <a:r>
              <a:rPr kumimoji="1" lang="ko-KR" altLang="en-US" dirty="0" err="1">
                <a:latin typeface="+mn-ea"/>
              </a:rPr>
              <a:t>데이터베이스뿐만</a:t>
            </a:r>
            <a:r>
              <a:rPr kumimoji="1" lang="ko-KR" altLang="en-US" dirty="0">
                <a:latin typeface="+mn-ea"/>
              </a:rPr>
              <a:t> 아니라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테이블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>
                <a:latin typeface="+mn-ea"/>
              </a:rPr>
              <a:t>열까지 모두 서로 다른 문자 집합</a:t>
            </a:r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(character set, </a:t>
            </a:r>
            <a:r>
              <a:rPr kumimoji="1"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캐릭터셋</a:t>
            </a:r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r>
              <a:rPr kumimoji="1" lang="ko-KR" altLang="en-US" dirty="0">
                <a:latin typeface="+mn-ea"/>
              </a:rPr>
              <a:t>을 사용할 수 있지만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문자열을 저장하는 </a:t>
            </a:r>
            <a:r>
              <a:rPr kumimoji="1" lang="en-US" altLang="ko-KR" dirty="0">
                <a:latin typeface="+mn-ea"/>
              </a:rPr>
              <a:t>CHAR, VARCHAR, TEXT</a:t>
            </a:r>
            <a:r>
              <a:rPr kumimoji="1" lang="ko-KR" altLang="en-US" dirty="0">
                <a:latin typeface="+mn-ea"/>
              </a:rPr>
              <a:t>이 적용된 열에만 사용할 수 있음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일반적으로 한글은 </a:t>
            </a:r>
            <a:r>
              <a:rPr kumimoji="1" lang="en-US" altLang="ko-KR" dirty="0">
                <a:latin typeface="+mn-ea"/>
              </a:rPr>
              <a:t>EUC-KR </a:t>
            </a:r>
            <a:r>
              <a:rPr kumimoji="1" lang="ko-KR" altLang="en-US" dirty="0">
                <a:latin typeface="+mn-ea"/>
              </a:rPr>
              <a:t>또는 </a:t>
            </a:r>
            <a:r>
              <a:rPr kumimoji="1" lang="en-US" altLang="ko-KR" dirty="0">
                <a:latin typeface="+mn-ea"/>
              </a:rPr>
              <a:t>UTF8MB4 </a:t>
            </a:r>
            <a:r>
              <a:rPr kumimoji="1" lang="ko-KR" altLang="en-US" dirty="0">
                <a:latin typeface="+mn-ea"/>
              </a:rPr>
              <a:t>문자 집합을 사용하고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일본어는 </a:t>
            </a:r>
            <a:r>
              <a:rPr kumimoji="1" lang="en-US" altLang="ko-KR" dirty="0">
                <a:latin typeface="+mn-ea"/>
              </a:rPr>
              <a:t>CP932 </a:t>
            </a:r>
            <a:r>
              <a:rPr kumimoji="1" lang="ko-KR" altLang="en-US" dirty="0">
                <a:latin typeface="+mn-ea"/>
              </a:rPr>
              <a:t>또는 </a:t>
            </a:r>
            <a:r>
              <a:rPr kumimoji="1" lang="en-US" altLang="ko-KR" dirty="0">
                <a:latin typeface="+mn-ea"/>
              </a:rPr>
              <a:t>UTF8MB4 </a:t>
            </a:r>
            <a:r>
              <a:rPr kumimoji="1" lang="ko-KR" altLang="en-US" dirty="0">
                <a:latin typeface="+mn-ea"/>
              </a:rPr>
              <a:t>등을 사용함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327238329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>
                <a:latin typeface="+mn-ea"/>
              </a:rPr>
              <a:t>문자 집합</a:t>
            </a:r>
            <a:endParaRPr kumimoji="1" lang="en-US" altLang="ko-KR" b="1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MySQL </a:t>
            </a:r>
            <a:r>
              <a:rPr kumimoji="1" lang="ko-KR" altLang="en-US" dirty="0">
                <a:latin typeface="+mn-ea"/>
              </a:rPr>
              <a:t>서버에서 사용할 수 있는 문자 집합은 다음 쿼리로 확인할 수 있으며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여러 가지 문자 집합을 사용한 것을 확인할 수 있음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보통 </a:t>
            </a:r>
            <a:r>
              <a:rPr kumimoji="1" lang="en-US" altLang="ko-KR" dirty="0">
                <a:latin typeface="+mn-ea"/>
              </a:rPr>
              <a:t>UTF8MB4</a:t>
            </a:r>
            <a:r>
              <a:rPr kumimoji="1" lang="ko-KR" altLang="en-US" dirty="0">
                <a:latin typeface="+mn-ea"/>
              </a:rPr>
              <a:t>를 사용하면 문제없이 전 세계 문자 및 </a:t>
            </a:r>
            <a:r>
              <a:rPr kumimoji="1" lang="ko-KR" altLang="en-US" dirty="0" err="1">
                <a:latin typeface="+mn-ea"/>
              </a:rPr>
              <a:t>이모티콘을</a:t>
            </a:r>
            <a:r>
              <a:rPr kumimoji="1" lang="ko-KR" altLang="en-US" dirty="0">
                <a:latin typeface="+mn-ea"/>
              </a:rPr>
              <a:t> 저장할 수 있음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FBE191-97AB-8115-B3AC-64A010624C23}"/>
              </a:ext>
            </a:extLst>
          </p:cNvPr>
          <p:cNvGrpSpPr/>
          <p:nvPr/>
        </p:nvGrpSpPr>
        <p:grpSpPr>
          <a:xfrm>
            <a:off x="1949072" y="4135444"/>
            <a:ext cx="3087385" cy="665336"/>
            <a:chOff x="1514900" y="4745033"/>
            <a:chExt cx="9471548" cy="35727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90DDCE-1ADE-92CE-A4A9-C397ACCC5C87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en-US" altLang="ko-KR" sz="1400" b="1" dirty="0">
                  <a:solidFill>
                    <a:srgbClr val="211D1E"/>
                  </a:solidFill>
                  <a:latin typeface="TDc_SSiGothic 150"/>
                </a:rPr>
                <a:t>MySQL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의 문자 집합 확인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B4058E2-2A5D-8CDC-67F1-04CC4C0DCAD6}"/>
                </a:ext>
              </a:extLst>
            </p:cNvPr>
            <p:cNvSpPr/>
            <p:nvPr/>
          </p:nvSpPr>
          <p:spPr>
            <a:xfrm>
              <a:off x="1514900" y="4923669"/>
              <a:ext cx="9471548" cy="1786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SHOW CHARACTER SET;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B73E005-0E12-02D3-9C0D-AD6CE26E9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51" y="4015882"/>
            <a:ext cx="3808124" cy="216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717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 err="1">
                <a:latin typeface="+mn-ea"/>
              </a:rPr>
              <a:t>콜레이션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 err="1">
                <a:latin typeface="+mn-ea"/>
              </a:rPr>
              <a:t>콜레이션</a:t>
            </a:r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(collation)</a:t>
            </a:r>
            <a:r>
              <a:rPr kumimoji="1" lang="ko-KR" altLang="en-US" dirty="0">
                <a:latin typeface="+mn-ea"/>
              </a:rPr>
              <a:t>은 문자열 데이터가 담긴 열의 비교나 정렬 순서를 위한 규칙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즉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 err="1">
                <a:latin typeface="+mn-ea"/>
              </a:rPr>
              <a:t>콜레이션에</a:t>
            </a:r>
            <a:r>
              <a:rPr kumimoji="1" lang="ko-KR" altLang="en-US" dirty="0">
                <a:latin typeface="+mn-ea"/>
              </a:rPr>
              <a:t> 따라 우선순위를 한글로 할지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>
                <a:latin typeface="+mn-ea"/>
              </a:rPr>
              <a:t>영어로 할지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>
                <a:latin typeface="+mn-ea"/>
              </a:rPr>
              <a:t>대소 문자를 구분할지 등이 결정됨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앞서 </a:t>
            </a:r>
            <a:r>
              <a:rPr kumimoji="1" lang="en-US" altLang="ko-KR" dirty="0">
                <a:latin typeface="+mn-ea"/>
              </a:rPr>
              <a:t>ORDER BY </a:t>
            </a:r>
            <a:r>
              <a:rPr kumimoji="1" lang="ko-KR" altLang="en-US" dirty="0">
                <a:latin typeface="+mn-ea"/>
              </a:rPr>
              <a:t>문을 사용하면 데이터가 정렬되어 반환된다고 설명함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이때 </a:t>
            </a:r>
            <a:r>
              <a:rPr kumimoji="1" lang="en-US" altLang="ko-KR" dirty="0">
                <a:latin typeface="+mn-ea"/>
              </a:rPr>
              <a:t>ORDER BY</a:t>
            </a:r>
            <a:r>
              <a:rPr kumimoji="1" lang="ko-KR" altLang="en-US" dirty="0">
                <a:latin typeface="+mn-ea"/>
              </a:rPr>
              <a:t>에서는 정렬할 때 단순히 오름차순</a:t>
            </a:r>
            <a:r>
              <a:rPr kumimoji="1" lang="en-US" altLang="ko-KR" dirty="0">
                <a:latin typeface="+mn-ea"/>
              </a:rPr>
              <a:t>(ASC) </a:t>
            </a:r>
            <a:r>
              <a:rPr kumimoji="1" lang="ko-KR" altLang="en-US" dirty="0">
                <a:latin typeface="+mn-ea"/>
              </a:rPr>
              <a:t>또는 내림차순</a:t>
            </a:r>
            <a:r>
              <a:rPr kumimoji="1" lang="en-US" altLang="ko-KR" dirty="0">
                <a:latin typeface="+mn-ea"/>
              </a:rPr>
              <a:t>(DESC) </a:t>
            </a:r>
            <a:r>
              <a:rPr kumimoji="1" lang="ko-KR" altLang="en-US" dirty="0">
                <a:latin typeface="+mn-ea"/>
              </a:rPr>
              <a:t>정의만 할 수 있었음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그런데 오름차순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>
                <a:latin typeface="+mn-ea"/>
              </a:rPr>
              <a:t>내림차순 등 정렬 우선순위라고 하는 </a:t>
            </a:r>
            <a:r>
              <a:rPr kumimoji="1" lang="ko-KR" altLang="en-US" dirty="0" err="1">
                <a:latin typeface="+mn-ea"/>
              </a:rPr>
              <a:t>콜레이션이</a:t>
            </a:r>
            <a:r>
              <a:rPr kumimoji="1" lang="ko-KR" altLang="en-US" dirty="0">
                <a:latin typeface="+mn-ea"/>
              </a:rPr>
              <a:t> 이미 적용된 것임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한 데이터베이스 또는 테이블 안에서 혹은 열 안에서 </a:t>
            </a:r>
            <a:r>
              <a:rPr kumimoji="1" lang="ko-KR" altLang="en-US" dirty="0" err="1">
                <a:latin typeface="+mn-ea"/>
              </a:rPr>
              <a:t>콜레이션이</a:t>
            </a:r>
            <a:r>
              <a:rPr kumimoji="1" lang="ko-KR" altLang="en-US" dirty="0">
                <a:latin typeface="+mn-ea"/>
              </a:rPr>
              <a:t> 다를 경우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정렬 작업을 한 결과가 달라질 수 있으므로 매우 주의해야 함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588475741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 err="1">
                <a:latin typeface="+mn-ea"/>
              </a:rPr>
              <a:t>콜레이션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다음 쿼리를 통해 </a:t>
            </a:r>
            <a:r>
              <a:rPr kumimoji="1" lang="ko-KR" altLang="en-US" dirty="0" err="1">
                <a:latin typeface="+mn-ea"/>
              </a:rPr>
              <a:t>콜레이션에</a:t>
            </a:r>
            <a:r>
              <a:rPr kumimoji="1" lang="ko-KR" altLang="en-US" dirty="0">
                <a:latin typeface="+mn-ea"/>
              </a:rPr>
              <a:t> 따라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정렬 순서가 어떻게 달라지는지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확인해 보자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먼저 다음 내용을 입력해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테이블을 생성해 보자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604DF0-41B2-AE4A-B236-CAE826D89CDB}"/>
              </a:ext>
            </a:extLst>
          </p:cNvPr>
          <p:cNvGrpSpPr/>
          <p:nvPr/>
        </p:nvGrpSpPr>
        <p:grpSpPr>
          <a:xfrm>
            <a:off x="5718629" y="2080600"/>
            <a:ext cx="5399314" cy="4302185"/>
            <a:chOff x="1514900" y="4745033"/>
            <a:chExt cx="9471548" cy="231019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5DE9EBF-1491-35A4-7DED-DF64DE61F970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 err="1">
                  <a:solidFill>
                    <a:srgbClr val="211D1E"/>
                  </a:solidFill>
                  <a:latin typeface="TDc_SSiGothic 150"/>
                </a:rPr>
                <a:t>콜레이션에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 따른 정렬 순서 비교를 위한 테이블 생성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AE4272-2E6F-3B82-6D7D-3DA98296EB02}"/>
                </a:ext>
              </a:extLst>
            </p:cNvPr>
            <p:cNvSpPr/>
            <p:nvPr/>
          </p:nvSpPr>
          <p:spPr>
            <a:xfrm>
              <a:off x="1514900" y="4923669"/>
              <a:ext cx="9471548" cy="213155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(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col_latin1_general_ci VARCHAR(10) COLLATE latin1_general_ci,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col_latin1_general_cs VARCHAR(10) COLLATE latin1_general_cs,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col_latin1_bin VARCHAR(10) COLLATE latin1_bin,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col_latin7_general_ci VARCHAR(10) COLLATE latin7_general_ci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('a', 'a', 'a', 'a');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('b', 'b', 'b', 'b');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('A', 'A', 'A', 'A');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('B', 'B', 'B', 'B');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('*', '*', '*', '*');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('_', '_', '_', '_');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('!', '!', '!', '!');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('1', '1', '1', '1');</a:t>
              </a: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('2', '2', '2', '2');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087526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 err="1">
                <a:latin typeface="+mn-ea"/>
              </a:rPr>
              <a:t>콜레이션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다음 쿼리를 한 </a:t>
            </a:r>
            <a:r>
              <a:rPr kumimoji="1" lang="ko-KR" altLang="en-US" dirty="0" err="1">
                <a:latin typeface="+mn-ea"/>
              </a:rPr>
              <a:t>줄씩</a:t>
            </a:r>
            <a:r>
              <a:rPr kumimoji="1" lang="ko-KR" altLang="en-US" dirty="0">
                <a:latin typeface="+mn-ea"/>
              </a:rPr>
              <a:t> 실행하며 정렬한 결과를 비교해 보자</a:t>
            </a:r>
            <a:r>
              <a:rPr kumimoji="1" lang="en-US" altLang="ko-KR" dirty="0">
                <a:latin typeface="+mn-ea"/>
              </a:rPr>
              <a:t>.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그러면 </a:t>
            </a:r>
            <a:r>
              <a:rPr kumimoji="1" lang="ko-KR" altLang="en-US" dirty="0" err="1">
                <a:latin typeface="+mn-ea"/>
              </a:rPr>
              <a:t>콜레이션에</a:t>
            </a:r>
            <a:r>
              <a:rPr kumimoji="1" lang="ko-KR" altLang="en-US" dirty="0">
                <a:latin typeface="+mn-ea"/>
              </a:rPr>
              <a:t> 따라 정렬 순서가 다른 것을 확인할 수 있음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604DF0-41B2-AE4A-B236-CAE826D89CDB}"/>
              </a:ext>
            </a:extLst>
          </p:cNvPr>
          <p:cNvGrpSpPr/>
          <p:nvPr/>
        </p:nvGrpSpPr>
        <p:grpSpPr>
          <a:xfrm>
            <a:off x="2046513" y="3951481"/>
            <a:ext cx="7373258" cy="2289660"/>
            <a:chOff x="1514900" y="4745033"/>
            <a:chExt cx="9471548" cy="12295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5DE9EBF-1491-35A4-7DED-DF64DE61F970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 err="1">
                  <a:solidFill>
                    <a:srgbClr val="211D1E"/>
                  </a:solidFill>
                  <a:latin typeface="TDc_SSiGothic 150"/>
                </a:rPr>
                <a:t>콜레이션에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 따른 정렬 순서 확인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AE4272-2E6F-3B82-6D7D-3DA98296EB02}"/>
                </a:ext>
              </a:extLst>
            </p:cNvPr>
            <p:cNvSpPr/>
            <p:nvPr/>
          </p:nvSpPr>
          <p:spPr>
            <a:xfrm>
              <a:off x="1514900" y="4923669"/>
              <a:ext cx="9471548" cy="105087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col_latin1_general_ci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ORDER BY col_latin1_general_ci;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col_latin1_general_cs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ORDER BY col_latin1_general_cs;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col_latin1_bin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ORDER BY col_latin1_bin;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col_latin7_general_ci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doit_collation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ORDER BY col_latin7_general_ci;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22090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 err="1">
                <a:latin typeface="+mn-ea"/>
              </a:rPr>
              <a:t>콜레이션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한 </a:t>
            </a:r>
            <a:r>
              <a:rPr kumimoji="1" lang="ko-KR" altLang="en-US" dirty="0" err="1">
                <a:latin typeface="+mn-ea"/>
              </a:rPr>
              <a:t>줄씩</a:t>
            </a:r>
            <a:r>
              <a:rPr kumimoji="1" lang="ko-KR" altLang="en-US" dirty="0">
                <a:latin typeface="+mn-ea"/>
              </a:rPr>
              <a:t> 실행한 쿼리 결과와 함께 다음 내용을 살펴보자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1431B0-7DA0-5E36-9795-33018B15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08" y="3550415"/>
            <a:ext cx="6473371" cy="20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1908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문자형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 err="1">
                <a:latin typeface="+mn-ea"/>
              </a:rPr>
              <a:t>콜레이션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이처럼 </a:t>
            </a:r>
            <a:r>
              <a:rPr kumimoji="1" lang="ko-KR" altLang="en-US" dirty="0" err="1">
                <a:latin typeface="+mn-ea"/>
              </a:rPr>
              <a:t>콜레이션에</a:t>
            </a:r>
            <a:r>
              <a:rPr kumimoji="1" lang="ko-KR" altLang="en-US" dirty="0">
                <a:latin typeface="+mn-ea"/>
              </a:rPr>
              <a:t> 따라 정렬 우선순위가 달라져서 데이터를 비교할 때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크다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 err="1">
                <a:latin typeface="+mn-ea"/>
              </a:rPr>
              <a:t>작다를</a:t>
            </a:r>
            <a:r>
              <a:rPr kumimoji="1" lang="ko-KR" altLang="en-US" dirty="0">
                <a:latin typeface="+mn-ea"/>
              </a:rPr>
              <a:t> 판단하는 데 예상치 못한 결과를 반환할 수 있음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이는 정렬 순서에도 영향을 미침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데이터베이스 또는 테이블을 생성할 때 특별한 경우를 제외하고는 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MySQL </a:t>
            </a:r>
            <a:r>
              <a:rPr kumimoji="1" lang="ko-KR" altLang="en-US" dirty="0">
                <a:latin typeface="+mn-ea"/>
              </a:rPr>
              <a:t>기본 </a:t>
            </a:r>
            <a:r>
              <a:rPr kumimoji="1" lang="ko-KR" altLang="en-US" dirty="0" err="1">
                <a:latin typeface="+mn-ea"/>
              </a:rPr>
              <a:t>설정값을</a:t>
            </a:r>
            <a:r>
              <a:rPr kumimoji="1" lang="ko-KR" altLang="en-US" dirty="0">
                <a:latin typeface="+mn-ea"/>
              </a:rPr>
              <a:t> 사용하기 때문에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동일한 데이터베이스 내에서 정렬 순서로 인한 큰 문제는 없음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356550958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날짜형 및 시간형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날짜 또는 시간만 저장하거나 날짜와 시간을 함께 저장하는 데이터 유형도 있음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어떤 </a:t>
            </a:r>
            <a:r>
              <a:rPr kumimoji="1" lang="ko-KR" altLang="en-US" dirty="0" err="1">
                <a:latin typeface="+mn-ea"/>
              </a:rPr>
              <a:t>형태으로</a:t>
            </a:r>
            <a:r>
              <a:rPr kumimoji="1" lang="ko-KR" altLang="en-US" dirty="0">
                <a:latin typeface="+mn-ea"/>
              </a:rPr>
              <a:t> 데이터를 </a:t>
            </a:r>
            <a:r>
              <a:rPr kumimoji="1" lang="ko-KR" altLang="en-US" dirty="0" err="1">
                <a:latin typeface="+mn-ea"/>
              </a:rPr>
              <a:t>저장하느냐에</a:t>
            </a:r>
            <a:r>
              <a:rPr kumimoji="1" lang="ko-KR" altLang="en-US" dirty="0">
                <a:latin typeface="+mn-ea"/>
              </a:rPr>
              <a:t> 따라 그 크기와 형식이 조금씩 다름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5E76AE-ECF0-CCA5-7EBF-4AFF6AD5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808" y="3282072"/>
            <a:ext cx="7692571" cy="291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1115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날짜형 및 시간형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DATETIME</a:t>
            </a:r>
            <a:r>
              <a:rPr kumimoji="1" lang="ko-KR" altLang="en-US" dirty="0">
                <a:latin typeface="+mn-ea"/>
              </a:rPr>
              <a:t>과 </a:t>
            </a:r>
            <a:r>
              <a:rPr kumimoji="1" lang="en-US" altLang="ko-KR" dirty="0">
                <a:latin typeface="+mn-ea"/>
              </a:rPr>
              <a:t>TIMESTAMP</a:t>
            </a:r>
            <a:r>
              <a:rPr kumimoji="1" lang="ko-KR" altLang="en-US" dirty="0">
                <a:latin typeface="+mn-ea"/>
              </a:rPr>
              <a:t>는 언뜻 보기엔 유사한 거 같지만 큰 차이가 있음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en-US" altLang="ko-KR" dirty="0">
                <a:latin typeface="+mn-ea"/>
              </a:rPr>
              <a:t>DATETIME</a:t>
            </a:r>
            <a:r>
              <a:rPr kumimoji="1" lang="ko-KR" altLang="en-US" dirty="0">
                <a:latin typeface="+mn-ea"/>
              </a:rPr>
              <a:t>은 </a:t>
            </a:r>
            <a:r>
              <a:rPr kumimoji="1" lang="ko-KR" altLang="en-US" dirty="0" err="1">
                <a:latin typeface="+mn-ea"/>
              </a:rPr>
              <a:t>문자형이고</a:t>
            </a:r>
            <a:r>
              <a:rPr kumimoji="1" lang="en-US" altLang="ko-KR" dirty="0">
                <a:latin typeface="+mn-ea"/>
              </a:rPr>
              <a:t>, TIMESTAMP</a:t>
            </a:r>
            <a:r>
              <a:rPr kumimoji="1" lang="ko-KR" altLang="en-US" dirty="0">
                <a:latin typeface="+mn-ea"/>
              </a:rPr>
              <a:t>는 </a:t>
            </a:r>
            <a:r>
              <a:rPr kumimoji="1" lang="ko-KR" altLang="en-US" dirty="0" err="1">
                <a:latin typeface="+mn-ea"/>
              </a:rPr>
              <a:t>숫자형임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그래서 </a:t>
            </a:r>
            <a:r>
              <a:rPr kumimoji="1" lang="en-US" altLang="ko-KR" dirty="0">
                <a:latin typeface="+mn-ea"/>
              </a:rPr>
              <a:t>DATETIME</a:t>
            </a:r>
            <a:r>
              <a:rPr kumimoji="1" lang="ko-KR" altLang="en-US" dirty="0">
                <a:latin typeface="+mn-ea"/>
              </a:rPr>
              <a:t>은 </a:t>
            </a:r>
            <a:r>
              <a:rPr kumimoji="1" lang="en-US" altLang="ko-KR" dirty="0">
                <a:latin typeface="+mn-ea"/>
              </a:rPr>
              <a:t>8byte</a:t>
            </a:r>
            <a:r>
              <a:rPr kumimoji="1" lang="ko-KR" altLang="en-US" dirty="0">
                <a:latin typeface="+mn-ea"/>
              </a:rPr>
              <a:t>를 사용하고</a:t>
            </a:r>
            <a:r>
              <a:rPr kumimoji="1" lang="en-US" altLang="ko-KR" dirty="0">
                <a:latin typeface="+mn-ea"/>
              </a:rPr>
              <a:t>, TIMESTAMP</a:t>
            </a:r>
            <a:r>
              <a:rPr kumimoji="1" lang="ko-KR" altLang="en-US" dirty="0">
                <a:latin typeface="+mn-ea"/>
              </a:rPr>
              <a:t>는 </a:t>
            </a:r>
            <a:r>
              <a:rPr kumimoji="1" lang="en-US" altLang="ko-KR" dirty="0">
                <a:latin typeface="+mn-ea"/>
              </a:rPr>
              <a:t>4byte</a:t>
            </a:r>
            <a:r>
              <a:rPr kumimoji="1" lang="ko-KR" altLang="en-US" dirty="0">
                <a:latin typeface="+mn-ea"/>
              </a:rPr>
              <a:t>를 사용함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또한 </a:t>
            </a:r>
            <a:r>
              <a:rPr kumimoji="1" lang="en-US" altLang="ko-KR" dirty="0">
                <a:latin typeface="+mn-ea"/>
              </a:rPr>
              <a:t>DATETIME</a:t>
            </a:r>
            <a:r>
              <a:rPr kumimoji="1" lang="ko-KR" altLang="en-US" dirty="0">
                <a:latin typeface="+mn-ea"/>
              </a:rPr>
              <a:t>은 직접 날짜와 시간을 입력한 데이터의 형식이지만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en-US" altLang="ko-KR" dirty="0">
                <a:latin typeface="+mn-ea"/>
              </a:rPr>
              <a:t>TIMESTAMP</a:t>
            </a:r>
            <a:r>
              <a:rPr kumimoji="1" lang="ko-KR" altLang="en-US" dirty="0">
                <a:latin typeface="+mn-ea"/>
              </a:rPr>
              <a:t>는 데이터를 저장할 때 자동으로 입력된 현재의 </a:t>
            </a:r>
            <a:r>
              <a:rPr kumimoji="1" lang="en-US" altLang="ko-KR" dirty="0">
                <a:latin typeface="+mn-ea"/>
              </a:rPr>
              <a:t>UTC </a:t>
            </a:r>
            <a:r>
              <a:rPr kumimoji="1" lang="ko-KR" altLang="en-US" dirty="0">
                <a:latin typeface="+mn-ea"/>
              </a:rPr>
              <a:t>날짜 데이터의 형식임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12471576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날짜형 및 시간형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다음 쿼리는 날짜 형식의 테이블을 생성한 다음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현재 시간을 각 열에 동일하게 입력하여 데이터가 어떻게 저장되는지 확인함</a:t>
            </a: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1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정확도에 따라 초 단위에서 소수점 자릿수가 다름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839BF86-7E3B-98FA-2F8B-7DA4229DD23B}"/>
              </a:ext>
            </a:extLst>
          </p:cNvPr>
          <p:cNvGrpSpPr/>
          <p:nvPr/>
        </p:nvGrpSpPr>
        <p:grpSpPr>
          <a:xfrm>
            <a:off x="1611085" y="3787421"/>
            <a:ext cx="5460092" cy="2595365"/>
            <a:chOff x="1514900" y="4745033"/>
            <a:chExt cx="9471548" cy="139366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B06BB6A-50FE-61A9-C815-2D47CDA74D43}"/>
                </a:ext>
              </a:extLst>
            </p:cNvPr>
            <p:cNvSpPr/>
            <p:nvPr/>
          </p:nvSpPr>
          <p:spPr>
            <a:xfrm>
              <a:off x="1514900" y="4745033"/>
              <a:ext cx="9471548" cy="1786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b="1" i="0" u="none" strike="noStrike" baseline="0" dirty="0">
                  <a:solidFill>
                    <a:srgbClr val="E47525"/>
                  </a:solidFill>
                  <a:latin typeface="TDc_SSiGothic 150"/>
                </a:rPr>
                <a:t>Do it!  </a:t>
              </a:r>
              <a:r>
                <a:rPr lang="ko-KR" altLang="en-US" sz="1400" b="1" dirty="0">
                  <a:solidFill>
                    <a:srgbClr val="211D1E"/>
                  </a:solidFill>
                  <a:latin typeface="TDc_SSiGothic 150"/>
                </a:rPr>
                <a:t>데이터 유형에 따른 현재 시간 조회</a:t>
              </a:r>
              <a:endParaRPr lang="ko-KR" altLang="en-US" sz="12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TDc_SSiGothic 15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FD84078-49C6-13BE-8DA1-CB51F7A26AB3}"/>
                </a:ext>
              </a:extLst>
            </p:cNvPr>
            <p:cNvSpPr/>
            <p:nvPr/>
          </p:nvSpPr>
          <p:spPr>
            <a:xfrm>
              <a:off x="1514900" y="4923669"/>
              <a:ext cx="9471548" cy="12150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CREATE TABLE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date_table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(</a:t>
              </a:r>
            </a:p>
            <a:p>
              <a:pPr algn="just"/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justdate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DATE,</a:t>
              </a:r>
            </a:p>
            <a:p>
              <a:pPr algn="just"/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justtime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TIME,</a:t>
              </a:r>
            </a:p>
            <a:p>
              <a:pPr algn="just"/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justdatetime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DATETIME,</a:t>
              </a:r>
            </a:p>
            <a:p>
              <a:pPr algn="just"/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justtimestamp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TIMESTAMP);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INSERT INTO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date_table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 VALUES (now(), now(), now(), now());</a:t>
              </a:r>
            </a:p>
            <a:p>
              <a:pPr algn="just"/>
              <a:endParaRPr lang="en-US" altLang="ko-KR" sz="1600" b="0" i="0" u="none" strike="noStrike" baseline="0" dirty="0">
                <a:solidFill>
                  <a:schemeClr val="tx1"/>
                </a:solidFill>
                <a:latin typeface="TDc_SSiGothic 120"/>
              </a:endParaRPr>
            </a:p>
            <a:p>
              <a:pPr algn="just"/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SELECT * FROM </a:t>
              </a:r>
              <a:r>
                <a:rPr lang="en-US" altLang="ko-KR" sz="1600" b="0" i="0" u="none" strike="noStrike" baseline="0" dirty="0" err="1">
                  <a:solidFill>
                    <a:schemeClr val="tx1"/>
                  </a:solidFill>
                  <a:latin typeface="TDc_SSiGothic 120"/>
                </a:rPr>
                <a:t>date_table</a:t>
              </a:r>
              <a:r>
                <a:rPr lang="en-US" altLang="ko-KR" sz="1600" b="0" i="0" u="none" strike="noStrike" baseline="0" dirty="0">
                  <a:solidFill>
                    <a:schemeClr val="tx1"/>
                  </a:solidFill>
                  <a:latin typeface="TDc_SSiGothic 120"/>
                </a:rPr>
                <a:t>;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64A185E9-42DD-01D6-B595-8F1F8FE0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583" y="5526533"/>
            <a:ext cx="4388304" cy="85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0389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날짜형 및 시간형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>
                <a:latin typeface="+mn-ea"/>
              </a:rPr>
              <a:t>문자형과 날짜형 변환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문자 및 날짜 형식도 형 변환을 할 수 있음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r>
              <a:rPr kumimoji="1" lang="ko-KR" altLang="en-US" dirty="0">
                <a:latin typeface="+mn-ea"/>
              </a:rPr>
              <a:t>다음 표는 문자 형 변환을 할 수 있는 데이터 유형을 나타낸 것으로</a:t>
            </a:r>
            <a:r>
              <a:rPr kumimoji="1" lang="en-US" altLang="ko-KR" dirty="0">
                <a:latin typeface="+mn-ea"/>
              </a:rPr>
              <a:t>, </a:t>
            </a:r>
            <a:br>
              <a:rPr kumimoji="1" lang="en-US" altLang="ko-KR" dirty="0">
                <a:latin typeface="+mn-ea"/>
              </a:rPr>
            </a:br>
            <a:r>
              <a:rPr kumimoji="1" lang="ko-KR" altLang="en-US" dirty="0">
                <a:latin typeface="+mn-ea"/>
              </a:rPr>
              <a:t>행의 데이터 유형이 열의 데이터 유형으로 각각 변환할 수 있는지 여부를 나타냄</a:t>
            </a: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</p:spTree>
    <p:extLst>
      <p:ext uri="{BB962C8B-B14F-4D97-AF65-F5344CB8AC3E}">
        <p14:creationId xmlns:p14="http://schemas.microsoft.com/office/powerpoint/2010/main" val="399699380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79466-8226-B846-B32B-4B39A6E8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18" y="1567545"/>
            <a:ext cx="10726963" cy="5172468"/>
          </a:xfrm>
        </p:spPr>
        <p:txBody>
          <a:bodyPr>
            <a:normAutofit/>
          </a:bodyPr>
          <a:lstStyle/>
          <a:p>
            <a:pPr>
              <a:buClr>
                <a:srgbClr val="E47525"/>
              </a:buClr>
            </a:pPr>
            <a:r>
              <a:rPr kumimoji="1" lang="ko-KR" altLang="en-US" dirty="0">
                <a:solidFill>
                  <a:srgbClr val="E47525"/>
                </a:solidFill>
              </a:rPr>
              <a:t>날짜형 및 시간형 알아보기</a:t>
            </a:r>
            <a:endParaRPr kumimoji="1" lang="en-US" altLang="ko-KR" b="0" dirty="0">
              <a:solidFill>
                <a:schemeClr val="tx1"/>
              </a:solidFill>
            </a:endParaRPr>
          </a:p>
          <a:p>
            <a:pPr marL="914400" lvl="1" indent="-457200">
              <a:buClr>
                <a:srgbClr val="E47525"/>
              </a:buClr>
              <a:buFont typeface="+mj-lt"/>
              <a:buAutoNum type="arabicPeriod" startAt="3"/>
            </a:pPr>
            <a:endParaRPr kumimoji="1" lang="en-US" altLang="ko-KR" dirty="0"/>
          </a:p>
          <a:p>
            <a:pPr lvl="1">
              <a:buClr>
                <a:srgbClr val="E47525"/>
              </a:buClr>
            </a:pPr>
            <a:r>
              <a:rPr kumimoji="1" lang="ko-KR" altLang="en-US" b="1" dirty="0">
                <a:latin typeface="+mn-ea"/>
              </a:rPr>
              <a:t>문자형과 날짜형 변환</a:t>
            </a:r>
            <a:endParaRPr kumimoji="1" lang="en-US" altLang="ko-KR" dirty="0">
              <a:latin typeface="+mn-ea"/>
            </a:endParaRPr>
          </a:p>
          <a:p>
            <a:pPr lvl="2">
              <a:buClr>
                <a:srgbClr val="E47525"/>
              </a:buClr>
            </a:pPr>
            <a:endParaRPr kumimoji="1" lang="en-US" altLang="ko-KR" dirty="0">
              <a:latin typeface="+mn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AA8AFD7-E5DB-EA4A-BFC0-5030B25BC9DA}"/>
              </a:ext>
            </a:extLst>
          </p:cNvPr>
          <p:cNvSpPr txBox="1">
            <a:spLocks/>
          </p:cNvSpPr>
          <p:nvPr/>
        </p:nvSpPr>
        <p:spPr>
          <a:xfrm>
            <a:off x="640707" y="475213"/>
            <a:ext cx="10818774" cy="553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32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04-7    </a:t>
            </a:r>
            <a:r>
              <a:rPr kumimoji="1" lang="en-US" altLang="ko-KR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MySQL</a:t>
            </a:r>
            <a:r>
              <a:rPr kumimoji="1" lang="ko-KR" altLang="en-US" sz="3200" dirty="0">
                <a:solidFill>
                  <a:srgbClr val="E47525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데이터 유형 정리하기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C5931B-2871-6232-F682-A395FC72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42" y="3021467"/>
            <a:ext cx="7199313" cy="287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2274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0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23377</TotalTime>
  <Words>13434</Words>
  <Application>Microsoft Office PowerPoint</Application>
  <PresentationFormat>와이드스크린</PresentationFormat>
  <Paragraphs>1724</Paragraphs>
  <Slides>202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202</vt:i4>
      </vt:variant>
    </vt:vector>
  </HeadingPairs>
  <TitlesOfParts>
    <vt:vector size="213" baseType="lpstr">
      <vt:lpstr>D2Coding</vt:lpstr>
      <vt:lpstr>TDc_SSiGothic 120</vt:lpstr>
      <vt:lpstr>TDc_SSiGothic 150</vt:lpstr>
      <vt:lpstr>TDc_SSiGothic 160</vt:lpstr>
      <vt:lpstr>TDc_SSiMyungJo 120</vt:lpstr>
      <vt:lpstr>나눔스퀘어 ExtraBold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점프 투 파이썬</dc:title>
  <cp:lastModifiedBy>고영호</cp:lastModifiedBy>
  <cp:revision>912</cp:revision>
  <cp:lastPrinted>2020-07-23T17:41:23Z</cp:lastPrinted>
  <dcterms:created xsi:type="dcterms:W3CDTF">2020-07-22T11:00:58Z</dcterms:created>
  <dcterms:modified xsi:type="dcterms:W3CDTF">2024-05-07T15:58:49Z</dcterms:modified>
</cp:coreProperties>
</file>