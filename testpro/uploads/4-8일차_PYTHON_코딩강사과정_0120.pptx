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0"/>
  </p:notesMasterIdLst>
  <p:handoutMasterIdLst>
    <p:handoutMasterId r:id="rId191"/>
  </p:handoutMasterIdLst>
  <p:sldIdLst>
    <p:sldId id="256" r:id="rId2"/>
    <p:sldId id="538" r:id="rId3"/>
    <p:sldId id="545" r:id="rId4"/>
    <p:sldId id="544" r:id="rId5"/>
    <p:sldId id="546" r:id="rId6"/>
    <p:sldId id="542" r:id="rId7"/>
    <p:sldId id="543" r:id="rId8"/>
    <p:sldId id="471" r:id="rId9"/>
    <p:sldId id="547" r:id="rId10"/>
    <p:sldId id="548" r:id="rId11"/>
    <p:sldId id="602" r:id="rId12"/>
    <p:sldId id="613" r:id="rId13"/>
    <p:sldId id="612" r:id="rId14"/>
    <p:sldId id="258" r:id="rId15"/>
    <p:sldId id="259" r:id="rId16"/>
    <p:sldId id="260" r:id="rId17"/>
    <p:sldId id="261" r:id="rId18"/>
    <p:sldId id="651" r:id="rId19"/>
    <p:sldId id="262" r:id="rId20"/>
    <p:sldId id="263" r:id="rId21"/>
    <p:sldId id="264" r:id="rId22"/>
    <p:sldId id="265" r:id="rId23"/>
    <p:sldId id="652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654" r:id="rId33"/>
    <p:sldId id="274" r:id="rId34"/>
    <p:sldId id="275" r:id="rId35"/>
    <p:sldId id="276" r:id="rId36"/>
    <p:sldId id="277" r:id="rId37"/>
    <p:sldId id="278" r:id="rId38"/>
    <p:sldId id="257" r:id="rId39"/>
    <p:sldId id="655" r:id="rId40"/>
    <p:sldId id="656" r:id="rId41"/>
    <p:sldId id="657" r:id="rId42"/>
    <p:sldId id="658" r:id="rId43"/>
    <p:sldId id="659" r:id="rId44"/>
    <p:sldId id="660" r:id="rId45"/>
    <p:sldId id="661" r:id="rId46"/>
    <p:sldId id="662" r:id="rId47"/>
    <p:sldId id="663" r:id="rId48"/>
    <p:sldId id="664" r:id="rId49"/>
    <p:sldId id="665" r:id="rId50"/>
    <p:sldId id="666" r:id="rId51"/>
    <p:sldId id="667" r:id="rId52"/>
    <p:sldId id="668" r:id="rId53"/>
    <p:sldId id="669" r:id="rId54"/>
    <p:sldId id="670" r:id="rId55"/>
    <p:sldId id="671" r:id="rId56"/>
    <p:sldId id="603" r:id="rId57"/>
    <p:sldId id="604" r:id="rId58"/>
    <p:sldId id="605" r:id="rId59"/>
    <p:sldId id="606" r:id="rId60"/>
    <p:sldId id="607" r:id="rId61"/>
    <p:sldId id="608" r:id="rId62"/>
    <p:sldId id="609" r:id="rId63"/>
    <p:sldId id="610" r:id="rId64"/>
    <p:sldId id="611" r:id="rId65"/>
    <p:sldId id="517" r:id="rId66"/>
    <p:sldId id="614" r:id="rId67"/>
    <p:sldId id="616" r:id="rId68"/>
    <p:sldId id="617" r:id="rId69"/>
    <p:sldId id="618" r:id="rId70"/>
    <p:sldId id="619" r:id="rId71"/>
    <p:sldId id="620" r:id="rId72"/>
    <p:sldId id="621" r:id="rId73"/>
    <p:sldId id="622" r:id="rId74"/>
    <p:sldId id="623" r:id="rId75"/>
    <p:sldId id="624" r:id="rId76"/>
    <p:sldId id="625" r:id="rId77"/>
    <p:sldId id="626" r:id="rId78"/>
    <p:sldId id="627" r:id="rId79"/>
    <p:sldId id="628" r:id="rId80"/>
    <p:sldId id="629" r:id="rId81"/>
    <p:sldId id="630" r:id="rId82"/>
    <p:sldId id="631" r:id="rId83"/>
    <p:sldId id="632" r:id="rId84"/>
    <p:sldId id="633" r:id="rId85"/>
    <p:sldId id="634" r:id="rId86"/>
    <p:sldId id="635" r:id="rId87"/>
    <p:sldId id="636" r:id="rId88"/>
    <p:sldId id="637" r:id="rId89"/>
    <p:sldId id="638" r:id="rId90"/>
    <p:sldId id="639" r:id="rId91"/>
    <p:sldId id="640" r:id="rId92"/>
    <p:sldId id="641" r:id="rId93"/>
    <p:sldId id="642" r:id="rId94"/>
    <p:sldId id="643" r:id="rId95"/>
    <p:sldId id="644" r:id="rId96"/>
    <p:sldId id="645" r:id="rId97"/>
    <p:sldId id="646" r:id="rId98"/>
    <p:sldId id="647" r:id="rId99"/>
    <p:sldId id="648" r:id="rId100"/>
    <p:sldId id="649" r:id="rId101"/>
    <p:sldId id="650" r:id="rId102"/>
    <p:sldId id="672" r:id="rId103"/>
    <p:sldId id="675" r:id="rId104"/>
    <p:sldId id="673" r:id="rId105"/>
    <p:sldId id="676" r:id="rId106"/>
    <p:sldId id="674" r:id="rId107"/>
    <p:sldId id="677" r:id="rId108"/>
    <p:sldId id="678" r:id="rId109"/>
    <p:sldId id="679" r:id="rId110"/>
    <p:sldId id="680" r:id="rId111"/>
    <p:sldId id="681" r:id="rId112"/>
    <p:sldId id="682" r:id="rId113"/>
    <p:sldId id="683" r:id="rId114"/>
    <p:sldId id="684" r:id="rId115"/>
    <p:sldId id="685" r:id="rId116"/>
    <p:sldId id="686" r:id="rId117"/>
    <p:sldId id="687" r:id="rId118"/>
    <p:sldId id="688" r:id="rId119"/>
    <p:sldId id="689" r:id="rId120"/>
    <p:sldId id="690" r:id="rId121"/>
    <p:sldId id="691" r:id="rId122"/>
    <p:sldId id="692" r:id="rId123"/>
    <p:sldId id="693" r:id="rId124"/>
    <p:sldId id="694" r:id="rId125"/>
    <p:sldId id="695" r:id="rId126"/>
    <p:sldId id="696" r:id="rId127"/>
    <p:sldId id="697" r:id="rId128"/>
    <p:sldId id="698" r:id="rId129"/>
    <p:sldId id="699" r:id="rId130"/>
    <p:sldId id="700" r:id="rId131"/>
    <p:sldId id="701" r:id="rId132"/>
    <p:sldId id="702" r:id="rId133"/>
    <p:sldId id="703" r:id="rId134"/>
    <p:sldId id="704" r:id="rId135"/>
    <p:sldId id="705" r:id="rId136"/>
    <p:sldId id="706" r:id="rId137"/>
    <p:sldId id="707" r:id="rId138"/>
    <p:sldId id="708" r:id="rId139"/>
    <p:sldId id="709" r:id="rId140"/>
    <p:sldId id="712" r:id="rId141"/>
    <p:sldId id="710" r:id="rId142"/>
    <p:sldId id="711" r:id="rId143"/>
    <p:sldId id="518" r:id="rId144"/>
    <p:sldId id="615" r:id="rId145"/>
    <p:sldId id="713" r:id="rId146"/>
    <p:sldId id="714" r:id="rId147"/>
    <p:sldId id="715" r:id="rId148"/>
    <p:sldId id="716" r:id="rId149"/>
    <p:sldId id="717" r:id="rId150"/>
    <p:sldId id="718" r:id="rId151"/>
    <p:sldId id="719" r:id="rId152"/>
    <p:sldId id="720" r:id="rId153"/>
    <p:sldId id="721" r:id="rId154"/>
    <p:sldId id="722" r:id="rId155"/>
    <p:sldId id="723" r:id="rId156"/>
    <p:sldId id="724" r:id="rId157"/>
    <p:sldId id="725" r:id="rId158"/>
    <p:sldId id="726" r:id="rId159"/>
    <p:sldId id="727" r:id="rId160"/>
    <p:sldId id="728" r:id="rId161"/>
    <p:sldId id="729" r:id="rId162"/>
    <p:sldId id="730" r:id="rId163"/>
    <p:sldId id="731" r:id="rId164"/>
    <p:sldId id="732" r:id="rId165"/>
    <p:sldId id="733" r:id="rId166"/>
    <p:sldId id="734" r:id="rId167"/>
    <p:sldId id="735" r:id="rId168"/>
    <p:sldId id="736" r:id="rId169"/>
    <p:sldId id="737" r:id="rId170"/>
    <p:sldId id="738" r:id="rId171"/>
    <p:sldId id="739" r:id="rId172"/>
    <p:sldId id="740" r:id="rId173"/>
    <p:sldId id="741" r:id="rId174"/>
    <p:sldId id="742" r:id="rId175"/>
    <p:sldId id="891" r:id="rId176"/>
    <p:sldId id="892" r:id="rId177"/>
    <p:sldId id="893" r:id="rId178"/>
    <p:sldId id="894" r:id="rId179"/>
    <p:sldId id="743" r:id="rId180"/>
    <p:sldId id="881" r:id="rId181"/>
    <p:sldId id="745" r:id="rId182"/>
    <p:sldId id="746" r:id="rId183"/>
    <p:sldId id="747" r:id="rId184"/>
    <p:sldId id="748" r:id="rId185"/>
    <p:sldId id="749" r:id="rId186"/>
    <p:sldId id="750" r:id="rId187"/>
    <p:sldId id="882" r:id="rId188"/>
    <p:sldId id="385" r:id="rId189"/>
  </p:sldIdLst>
  <p:sldSz cx="9144000" cy="6858000" type="screen4x3"/>
  <p:notesSz cx="7104063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479D"/>
    <a:srgbClr val="7D5087"/>
    <a:srgbClr val="BB99C3"/>
    <a:srgbClr val="D5C0DA"/>
    <a:srgbClr val="F4AEA2"/>
    <a:srgbClr val="F5B4A9"/>
    <a:srgbClr val="F7C0B7"/>
    <a:srgbClr val="EE7D6A"/>
    <a:srgbClr val="DFDFE1"/>
    <a:srgbClr val="D1D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213" autoAdjust="0"/>
  </p:normalViewPr>
  <p:slideViewPr>
    <p:cSldViewPr>
      <p:cViewPr varScale="1">
        <p:scale>
          <a:sx n="110" d="100"/>
          <a:sy n="110" d="100"/>
        </p:scale>
        <p:origin x="1680" y="114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958" y="-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handoutMaster" Target="handoutMasters/handout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ableStyles" Target="tableStyles.xml"/><Relationship Id="rId190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6C39FFA-0F1A-413B-9BFE-941741C2D487}" type="datetimeFigureOut">
              <a:rPr lang="ko-KR" altLang="en-US" smtClean="0"/>
              <a:pPr/>
              <a:t>2025-01-20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1F54C1B5-EB92-45E6-AFCD-6AAB73579DF8}" type="datetimeFigureOut">
              <a:rPr lang="ko-KR" altLang="en-US" smtClean="0"/>
              <a:pPr/>
              <a:t>2025-01-20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C1137B9-5383-4519-A69D-AA54E0B9CE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055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B0FBE-52C3-452C-A250-E629E18A4265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&gt; &gt; </a:t>
            </a:r>
            <a:r>
              <a:rPr lang="ko-KR" altLang="en-US"/>
              <a:t>파이썬 웹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1243687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&gt; &gt; </a:t>
            </a:r>
            <a:r>
              <a:rPr lang="ko-KR" altLang="en-US"/>
              <a:t>파이썬 웹 프로그래밍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B0FBE-52C3-452C-A250-E629E18A426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630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567C37-EF3D-6F8A-7BF4-352DF17C1F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8184" y="332656"/>
            <a:ext cx="2226640" cy="694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E019C-D310-87C4-3C47-19CE7F11BD6A}"/>
              </a:ext>
            </a:extLst>
          </p:cNvPr>
          <p:cNvSpPr txBox="1"/>
          <p:nvPr userDrawn="1"/>
        </p:nvSpPr>
        <p:spPr>
          <a:xfrm>
            <a:off x="4697760" y="5631512"/>
            <a:ext cx="4010744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r"/>
            <a:r>
              <a:rPr lang="ko-KR" altLang="en-US" sz="2800" b="1" dirty="0">
                <a:latin typeface="Broadway" panose="04040905080B02020502" pitchFamily="82" charset="0"/>
                <a:cs typeface="Aharoni" panose="02010803020104030203" pitchFamily="2" charset="-79"/>
              </a:rPr>
              <a:t>겸임교수 박세영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4035F-6D7F-1D31-BC25-6EE9C35E6EE8}"/>
              </a:ext>
            </a:extLst>
          </p:cNvPr>
          <p:cNvSpPr txBox="1"/>
          <p:nvPr userDrawn="1"/>
        </p:nvSpPr>
        <p:spPr>
          <a:xfrm>
            <a:off x="2411760" y="2105561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lt"/>
                <a:cs typeface="Aharoni" panose="02010803020104030203" pitchFamily="2" charset="-79"/>
              </a:rPr>
              <a:t>PYTHON</a:t>
            </a:r>
          </a:p>
          <a:p>
            <a:pPr algn="ctr"/>
            <a:r>
              <a:rPr lang="ko-KR" altLang="en-US" sz="4000" b="1" dirty="0">
                <a:latin typeface="+mj-lt"/>
                <a:cs typeface="Aharoni" panose="02010803020104030203" pitchFamily="2" charset="-79"/>
              </a:rPr>
              <a:t>코딩강사과정</a:t>
            </a:r>
            <a:endParaRPr lang="en-US" altLang="ko-KR" sz="4000" b="1" dirty="0">
              <a:latin typeface="+mj-lt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9381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5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7BC064-240C-F929-455B-3D820B2A5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2240" y="5229200"/>
            <a:ext cx="2226640" cy="6947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8687AE-7FEF-FF7D-E92A-1B77D1ADFB9C}"/>
              </a:ext>
            </a:extLst>
          </p:cNvPr>
          <p:cNvSpPr txBox="1"/>
          <p:nvPr userDrawn="1"/>
        </p:nvSpPr>
        <p:spPr>
          <a:xfrm>
            <a:off x="2195736" y="2636912"/>
            <a:ext cx="5112568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en-US" altLang="ko-KR" sz="60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Thank You!</a:t>
            </a:r>
            <a:endParaRPr lang="ko-KR" altLang="en-US" sz="60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5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4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8344" y="485909"/>
            <a:ext cx="12160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직선 연결선 15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2">
              <a:lumMod val="75000"/>
              <a:alpha val="84706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FF9999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95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이 장에서 만들 프로그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/65</a:t>
            </a:r>
            <a:endParaRPr lang="en-US" altLang="ko-KR" sz="1200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0" y="51786"/>
            <a:ext cx="7785100" cy="474662"/>
          </a:xfrm>
        </p:spPr>
        <p:txBody>
          <a:bodyPr>
            <a:noAutofit/>
          </a:bodyPr>
          <a:lstStyle>
            <a:lvl1pPr algn="l">
              <a:defRPr sz="2400" b="1" spc="-100" baseline="0">
                <a:solidFill>
                  <a:srgbClr val="8B333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355600" indent="-261938">
              <a:lnSpc>
                <a:spcPct val="120000"/>
              </a:lnSpc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534988" indent="-177800">
              <a:lnSpc>
                <a:spcPct val="120000"/>
              </a:lnSpc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720725" indent="-185738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898525" indent="-177800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077913" indent="-179388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4135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78" b="1" i="0">
                <a:solidFill>
                  <a:schemeClr val="tx1"/>
                </a:solidFill>
                <a:latin typeface="Noto Sans CJK HK"/>
                <a:cs typeface="Noto Sans CJK H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97" b="1" i="0">
                <a:solidFill>
                  <a:schemeClr val="tx1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3795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78" b="1" i="0">
                <a:solidFill>
                  <a:schemeClr val="tx1"/>
                </a:solidFill>
                <a:latin typeface="Noto Sans CJK HK"/>
                <a:cs typeface="Noto Sans CJK H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89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78" b="1" i="0">
                <a:solidFill>
                  <a:schemeClr val="tx1"/>
                </a:solidFill>
                <a:latin typeface="Noto Sans CJK HK"/>
                <a:cs typeface="Noto Sans CJK H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644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714" y="6214696"/>
            <a:ext cx="7819097" cy="32199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7016" y="1723310"/>
            <a:ext cx="2902188" cy="93559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9327" y="1463501"/>
            <a:ext cx="3149792" cy="176062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416101" y="2839938"/>
            <a:ext cx="1539385" cy="0"/>
          </a:xfrm>
          <a:custGeom>
            <a:avLst/>
            <a:gdLst/>
            <a:ahLst/>
            <a:cxnLst/>
            <a:rect l="l" t="t" r="r" b="b"/>
            <a:pathLst>
              <a:path w="1800225">
                <a:moveTo>
                  <a:pt x="0" y="0"/>
                </a:moveTo>
                <a:lnTo>
                  <a:pt x="502919" y="0"/>
                </a:lnTo>
              </a:path>
              <a:path w="1800225">
                <a:moveTo>
                  <a:pt x="1295400" y="0"/>
                </a:moveTo>
                <a:lnTo>
                  <a:pt x="1799844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432969" y="2513794"/>
            <a:ext cx="553853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799695" y="2864813"/>
            <a:ext cx="246519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8035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800925" y="2513794"/>
            <a:ext cx="370321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2815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291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3474244" y="3242853"/>
            <a:ext cx="5669756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342900" indent="0">
              <a:buNone/>
              <a:defRPr sz="2700"/>
            </a:lvl2pPr>
            <a:lvl3pPr marL="685800" indent="0">
              <a:buNone/>
              <a:defRPr sz="27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3474244" y="4074122"/>
            <a:ext cx="5669756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342900" indent="0">
              <a:buNone/>
              <a:defRPr sz="2700"/>
            </a:lvl2pPr>
            <a:lvl3pPr marL="685800" indent="0">
              <a:buNone/>
              <a:defRPr sz="27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ko-KR" altLang="en-US"/>
              <a:t>목차 내용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3474243" y="4910800"/>
            <a:ext cx="5669756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342900" indent="0">
              <a:buNone/>
              <a:defRPr sz="2700"/>
            </a:lvl2pPr>
            <a:lvl3pPr marL="685800" indent="0">
              <a:buNone/>
              <a:defRPr sz="27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제목 24">
            <a:extLst>
              <a:ext uri="{FF2B5EF4-FFF2-40B4-BE49-F238E27FC236}">
                <a16:creationId xmlns:a16="http://schemas.microsoft.com/office/drawing/2014/main" id="{3A2259E1-D3D4-A445-8D39-5015AB03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61" y="107958"/>
            <a:ext cx="8460789" cy="671349"/>
          </a:xfrm>
        </p:spPr>
        <p:txBody>
          <a:bodyPr>
            <a:normAutofit/>
          </a:bodyPr>
          <a:lstStyle>
            <a:lvl1pPr>
              <a:defRPr sz="225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24" name="바닥글 개체 틀 36">
            <a:extLst>
              <a:ext uri="{FF2B5EF4-FFF2-40B4-BE49-F238E27FC236}">
                <a16:creationId xmlns:a16="http://schemas.microsoft.com/office/drawing/2014/main" id="{55CC57BC-A88F-F246-9E0B-72F85C1B17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8135" y="6616868"/>
            <a:ext cx="3086100" cy="141497"/>
          </a:xfrm>
        </p:spPr>
        <p:txBody>
          <a:bodyPr/>
          <a:lstStyle>
            <a:lvl1pPr marL="0" marR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&gt; &gt; </a:t>
            </a:r>
            <a:r>
              <a:rPr lang="ko-KR" altLang="en-US" dirty="0" err="1"/>
              <a:t>파이썬</a:t>
            </a:r>
            <a:r>
              <a:rPr lang="ko-KR" altLang="en-US" dirty="0"/>
              <a:t> 웹 프로그래밍</a:t>
            </a:r>
          </a:p>
        </p:txBody>
      </p:sp>
      <p:sp>
        <p:nvSpPr>
          <p:cNvPr id="25" name="슬라이드 번호 개체 틀 20">
            <a:extLst>
              <a:ext uri="{FF2B5EF4-FFF2-40B4-BE49-F238E27FC236}">
                <a16:creationId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768798" y="6483195"/>
            <a:ext cx="30065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2818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4">
            <a:extLst>
              <a:ext uri="{FF2B5EF4-FFF2-40B4-BE49-F238E27FC236}">
                <a16:creationId xmlns:a16="http://schemas.microsoft.com/office/drawing/2014/main" id="{3923B71C-5B27-18AB-871D-B538202545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261" y="107958"/>
            <a:ext cx="8460789" cy="671349"/>
          </a:xfrm>
        </p:spPr>
        <p:txBody>
          <a:bodyPr>
            <a:normAutofit/>
          </a:bodyPr>
          <a:lstStyle>
            <a:lvl1pPr>
              <a:defRPr lang="x-none" sz="1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5204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2025-01-20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79" r:id="rId3"/>
    <p:sldLayoutId id="2147483680" r:id="rId4"/>
    <p:sldLayoutId id="2147483686" r:id="rId5"/>
    <p:sldLayoutId id="2147483685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emf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hyperlink" Target="http://127.0.0.1:8000/admin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127.0.0.1:8000/admin/" TargetMode="External"/><Relationship Id="rId4" Type="http://schemas.openxmlformats.org/officeDocument/2006/relationships/image" Target="../media/image134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hyperlink" Target="https://127.0.0.1:8000/blog/1/" TargetMode="External"/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ver.com/" TargetMode="External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5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5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5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hyperlink" Target="http://127.0.0.1:8000/blog/?page=3" TargetMode="External"/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5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3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5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5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FE69-6443-40D7-86A1-B0C1E8DA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코딩강사과정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4C0EF62D-7461-46B2-8E03-04563D48D78B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632327128"/>
              </p:ext>
            </p:extLst>
          </p:nvPr>
        </p:nvGraphicFramePr>
        <p:xfrm>
          <a:off x="971599" y="1406024"/>
          <a:ext cx="7200801" cy="4932002"/>
        </p:xfrm>
        <a:graphic>
          <a:graphicData uri="http://schemas.openxmlformats.org/drawingml/2006/table">
            <a:tbl>
              <a:tblPr/>
              <a:tblGrid>
                <a:gridCol w="506662">
                  <a:extLst>
                    <a:ext uri="{9D8B030D-6E8A-4147-A177-3AD203B41FA5}">
                      <a16:colId xmlns:a16="http://schemas.microsoft.com/office/drawing/2014/main" val="3899775079"/>
                    </a:ext>
                  </a:extLst>
                </a:gridCol>
                <a:gridCol w="1737616">
                  <a:extLst>
                    <a:ext uri="{9D8B030D-6E8A-4147-A177-3AD203B41FA5}">
                      <a16:colId xmlns:a16="http://schemas.microsoft.com/office/drawing/2014/main" val="4074553725"/>
                    </a:ext>
                  </a:extLst>
                </a:gridCol>
                <a:gridCol w="3372347">
                  <a:extLst>
                    <a:ext uri="{9D8B030D-6E8A-4147-A177-3AD203B41FA5}">
                      <a16:colId xmlns:a16="http://schemas.microsoft.com/office/drawing/2014/main" val="17924719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5704252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03853790"/>
                    </a:ext>
                  </a:extLst>
                </a:gridCol>
              </a:tblGrid>
              <a:tr h="5047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차시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주 제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주요 내용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교수명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추진일정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692476"/>
                  </a:ext>
                </a:extLst>
              </a:tr>
              <a:tr h="7378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시스템"/>
                          <a:ea typeface="시스템"/>
                        </a:rPr>
                        <a:t>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파이썬 언어 리뷰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윈도우 프로그래밍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Django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웹 개념 및 개발환경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변수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문법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함수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클래스 등</a:t>
                      </a: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en-US" altLang="ko-KR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tkinter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를 이용한 윈도우 프로그래밍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Django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웹 개발 준비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3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222184"/>
                  </a:ext>
                </a:extLst>
              </a:tr>
              <a:tr h="7378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2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Pyburger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프로젝트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Pylog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프로젝트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Django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디자인 패턴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View, Template, Model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등 구성 및 사용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데이터베이스 및 글과 댓글 모델 구현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4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174586"/>
                  </a:ext>
                </a:extLst>
              </a:tr>
              <a:tr h="7378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3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Pystargram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프로젝트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사이트 온라인 업로드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인증 시스템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피드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페이지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글과 댓글 구현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동적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URL, </a:t>
                      </a:r>
                      <a:r>
                        <a:rPr lang="ko-KR" alt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해쉬태그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좋아요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팔로우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/</a:t>
                      </a:r>
                      <a:r>
                        <a:rPr lang="ko-KR" alt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팔로잉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기능 구현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5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763965"/>
                  </a:ext>
                </a:extLst>
              </a:tr>
              <a:tr h="7378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4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블로그 어플리케이션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기본 및 고급 구현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블로그 데이터 모델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모델용 관리 사이트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en-US" altLang="ko-KR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QuerySet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과 관리자로 작업하기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검색엔진최적화에 부합하는 게시물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URL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만들기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8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414775"/>
                  </a:ext>
                </a:extLst>
              </a:tr>
              <a:tr h="7378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5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블로그 어플리케이션 확장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소셜 웹사이트 구축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커스텀 템플릿 태그 및 필터 생성하기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블로그 게시물용 </a:t>
                      </a:r>
                      <a:r>
                        <a:rPr lang="ko-KR" alt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피드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소셜 웹사이트 프로젝트 만들기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9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337795"/>
                  </a:ext>
                </a:extLst>
              </a:tr>
              <a:tr h="7378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6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웹사이트 콘텐츠 공유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사용자 활동 추적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이미지 북마크 웹사이트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다른 웹사이트의 콘텐츠 게시하기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팔로우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시스템 구축하기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10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6980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716B52FE-7EA2-4B92-A608-7E6F53BF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1969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3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FE69-6443-40D7-86A1-B0C1E8DA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코딩강사과정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4C0EF62D-7461-46B2-8E03-04563D48D78B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00684310"/>
              </p:ext>
            </p:extLst>
          </p:nvPr>
        </p:nvGraphicFramePr>
        <p:xfrm>
          <a:off x="971599" y="1406024"/>
          <a:ext cx="7200801" cy="4931999"/>
        </p:xfrm>
        <a:graphic>
          <a:graphicData uri="http://schemas.openxmlformats.org/drawingml/2006/table">
            <a:tbl>
              <a:tblPr/>
              <a:tblGrid>
                <a:gridCol w="506662">
                  <a:extLst>
                    <a:ext uri="{9D8B030D-6E8A-4147-A177-3AD203B41FA5}">
                      <a16:colId xmlns:a16="http://schemas.microsoft.com/office/drawing/2014/main" val="3899775079"/>
                    </a:ext>
                  </a:extLst>
                </a:gridCol>
                <a:gridCol w="1737616">
                  <a:extLst>
                    <a:ext uri="{9D8B030D-6E8A-4147-A177-3AD203B41FA5}">
                      <a16:colId xmlns:a16="http://schemas.microsoft.com/office/drawing/2014/main" val="4074553725"/>
                    </a:ext>
                  </a:extLst>
                </a:gridCol>
                <a:gridCol w="3372347">
                  <a:extLst>
                    <a:ext uri="{9D8B030D-6E8A-4147-A177-3AD203B41FA5}">
                      <a16:colId xmlns:a16="http://schemas.microsoft.com/office/drawing/2014/main" val="17924719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5704252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03853790"/>
                    </a:ext>
                  </a:extLst>
                </a:gridCol>
              </a:tblGrid>
              <a:tr h="5935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차시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주 제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주요 내용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교수명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시스템"/>
                          <a:ea typeface="시스템"/>
                          <a:cs typeface="+mn-cs"/>
                        </a:rPr>
                        <a:t>추진일정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시스템"/>
                        <a:cs typeface="+mn-cs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692476"/>
                  </a:ext>
                </a:extLst>
              </a:tr>
              <a:tr h="8676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시스템"/>
                        </a:rPr>
                        <a:t>7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온라인 상점 구축하기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결제 및 주문관리하기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온라인 상점 프로젝트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쇼핑 카트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전자결제 게이트웨이 통합하기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222184"/>
                  </a:ext>
                </a:extLst>
              </a:tr>
              <a:tr h="8676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8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온라인 상점 확장 및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국제화 추가하기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쿠폰 시스템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추천 엔진 구축하기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장고로 국제화하기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12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174586"/>
                  </a:ext>
                </a:extLst>
              </a:tr>
              <a:tr h="8676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9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E-learning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플랫폼 구축하기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콘텐츠 관리시스템 만들기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강좌 모델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CMS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생성하기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15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763965"/>
                  </a:ext>
                </a:extLst>
              </a:tr>
              <a:tr h="8676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10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콘텐츠 렌더링과 캐시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API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구축하기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강좌 콘텐츠 표현하기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캐시 프레임워크 사용하기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RESTful API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구현하기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16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414775"/>
                  </a:ext>
                </a:extLst>
              </a:tr>
              <a:tr h="8676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11</a:t>
                      </a:r>
                    </a:p>
                  </a:txBody>
                  <a:tcPr marL="13130" marR="13130" marT="13130" marB="1313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채팅서버 구축하기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실서비스화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채팅 어플리케이션 만들기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채널을 이용한 실시간 장고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-. 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실서비스화 살펴보기</a:t>
                      </a: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박세영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17</a:t>
                      </a: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일</a:t>
                      </a:r>
                      <a:endParaRPr lang="en-US" altLang="ko-KR" sz="105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3130" marR="13130" marT="13130" marB="131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33779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716B52FE-7EA2-4B92-A608-7E6F53BF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1969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6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도서 추천</a:t>
            </a:r>
          </a:p>
        </p:txBody>
      </p:sp>
      <p:sp>
        <p:nvSpPr>
          <p:cNvPr id="6" name="내용 개체 틀 6"/>
          <p:cNvSpPr txBox="1">
            <a:spLocks/>
          </p:cNvSpPr>
          <p:nvPr/>
        </p:nvSpPr>
        <p:spPr bwMode="auto">
          <a:xfrm>
            <a:off x="4211960" y="2410058"/>
            <a:ext cx="5256658" cy="26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179388" indent="-179388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도서명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쉽게 배우는 파이썬 </a:t>
            </a:r>
            <a:endParaRPr lang="en-US" altLang="ko-KR" sz="2000" dirty="0">
              <a:solidFill>
                <a:srgbClr val="000000"/>
              </a:solidFill>
              <a:highlight>
                <a:srgbClr val="FFFFFF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1" indent="0" latinLnBrk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000" dirty="0">
                <a:solidFill>
                  <a:srgbClr val="000000"/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with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컴퓨팅 사고력</a:t>
            </a:r>
            <a:endParaRPr lang="en-US" altLang="ko-KR" sz="2000" dirty="0">
              <a:solidFill>
                <a:srgbClr val="000000"/>
              </a:solidFill>
              <a:highlight>
                <a:srgbClr val="FFFFFF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ko-KR" sz="2000" b="1" dirty="0">
                <a:latin typeface="+mn-lt"/>
                <a:ea typeface="맑은 고딕" pitchFamily="50" charset="-127"/>
              </a:rPr>
              <a:t>ISBN: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9788955027389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저자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황혜정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, </a:t>
            </a:r>
            <a:r>
              <a:rPr kumimoji="0" lang="ko-KR" altLang="en-US" sz="2000" dirty="0" err="1">
                <a:latin typeface="+mn-lt"/>
                <a:ea typeface="맑은 고딕" pitchFamily="50" charset="-127"/>
              </a:rPr>
              <a:t>유현수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,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박진영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출판사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lang="ko-KR" altLang="en-US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글로벌</a:t>
            </a:r>
            <a:endParaRPr lang="en-US" altLang="ko-KR" sz="2000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페이지 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/ </a:t>
            </a: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정가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409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p / 18,000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원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</p:txBody>
      </p:sp>
      <p:pic>
        <p:nvPicPr>
          <p:cNvPr id="3076" name="Picture 4" descr="쉽게 배우는 파이썬 with 컴퓨팅 사고력">
            <a:extLst>
              <a:ext uri="{FF2B5EF4-FFF2-40B4-BE49-F238E27FC236}">
                <a16:creationId xmlns:a16="http://schemas.microsoft.com/office/drawing/2014/main" id="{D0251FCC-3FE4-F4CD-8D2D-A9646502D32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16832"/>
            <a:ext cx="2930400" cy="406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80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도서 추천</a:t>
            </a:r>
          </a:p>
        </p:txBody>
      </p:sp>
      <p:sp>
        <p:nvSpPr>
          <p:cNvPr id="6" name="내용 개체 틀 6"/>
          <p:cNvSpPr txBox="1">
            <a:spLocks/>
          </p:cNvSpPr>
          <p:nvPr/>
        </p:nvSpPr>
        <p:spPr bwMode="auto">
          <a:xfrm>
            <a:off x="4211960" y="2410058"/>
            <a:ext cx="5256658" cy="26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179388" indent="-179388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도서명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파이썬 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for Beginner </a:t>
            </a: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ko-KR" sz="2000" b="1" dirty="0">
                <a:latin typeface="+mn-lt"/>
                <a:ea typeface="맑은 고딕" pitchFamily="50" charset="-127"/>
              </a:rPr>
              <a:t>ISBN: 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9791156645740</a:t>
            </a: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저자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 err="1">
                <a:latin typeface="+mn-lt"/>
                <a:ea typeface="맑은 고딕" pitchFamily="50" charset="-127"/>
              </a:rPr>
              <a:t>우재남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출판사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 err="1">
                <a:solidFill>
                  <a:srgbClr val="222222"/>
                </a:solidFill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한빛아카데미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페이지 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/ </a:t>
            </a: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정가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524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p / 25,000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원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</p:txBody>
      </p:sp>
      <p:pic>
        <p:nvPicPr>
          <p:cNvPr id="3074" name="Picture 2" descr="IT CookBook, 파이썬 for Beginner(3판)">
            <a:extLst>
              <a:ext uri="{FF2B5EF4-FFF2-40B4-BE49-F238E27FC236}">
                <a16:creationId xmlns:a16="http://schemas.microsoft.com/office/drawing/2014/main" id="{DDF04BCD-0D14-DFD2-FD56-7837129D7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2930018" cy="400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34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도서 추천</a:t>
            </a:r>
          </a:p>
        </p:txBody>
      </p:sp>
      <p:sp>
        <p:nvSpPr>
          <p:cNvPr id="6" name="내용 개체 틀 6"/>
          <p:cNvSpPr txBox="1">
            <a:spLocks/>
          </p:cNvSpPr>
          <p:nvPr/>
        </p:nvSpPr>
        <p:spPr bwMode="auto">
          <a:xfrm>
            <a:off x="4211960" y="2410058"/>
            <a:ext cx="5256658" cy="26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179388" indent="-179388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도서명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예제로 배우는 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Django 4</a:t>
            </a: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ko-KR" sz="2000" b="1" dirty="0">
                <a:latin typeface="+mn-lt"/>
                <a:ea typeface="맑은 고딕" pitchFamily="50" charset="-127"/>
              </a:rPr>
              <a:t>ISBN: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9788931474435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저자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 err="1">
                <a:latin typeface="+mn-lt"/>
                <a:ea typeface="맑은 고딕" pitchFamily="50" charset="-127"/>
              </a:rPr>
              <a:t>안토니오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 </a:t>
            </a:r>
            <a:r>
              <a:rPr kumimoji="0" lang="ko-KR" altLang="en-US" sz="2000" dirty="0" err="1">
                <a:latin typeface="+mn-lt"/>
                <a:ea typeface="맑은 고딕" pitchFamily="50" charset="-127"/>
              </a:rPr>
              <a:t>멜레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출판사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lang="ko-KR" altLang="en-US" sz="20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영진닷컴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페이지 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/ </a:t>
            </a: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정가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856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p / 34,200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원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</p:txBody>
      </p:sp>
      <p:pic>
        <p:nvPicPr>
          <p:cNvPr id="2050" name="Picture 2" descr="예제로 배우는 Django 4">
            <a:extLst>
              <a:ext uri="{FF2B5EF4-FFF2-40B4-BE49-F238E27FC236}">
                <a16:creationId xmlns:a16="http://schemas.microsoft.com/office/drawing/2014/main" id="{AE63FFC1-BF89-13FE-22F0-66386FF7E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38893"/>
            <a:ext cx="2928117" cy="400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45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도서 추천</a:t>
            </a:r>
          </a:p>
        </p:txBody>
      </p:sp>
      <p:sp>
        <p:nvSpPr>
          <p:cNvPr id="6" name="내용 개체 틀 6"/>
          <p:cNvSpPr txBox="1">
            <a:spLocks/>
          </p:cNvSpPr>
          <p:nvPr/>
        </p:nvSpPr>
        <p:spPr bwMode="auto">
          <a:xfrm>
            <a:off x="4139952" y="2410058"/>
            <a:ext cx="5256658" cy="26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179388" indent="-179388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도서명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이한영의 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Django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입문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ko-KR" sz="2000" b="1" dirty="0">
                <a:latin typeface="+mn-lt"/>
                <a:ea typeface="맑은 고딕" pitchFamily="50" charset="-127"/>
              </a:rPr>
              <a:t>ISBN: </a:t>
            </a:r>
            <a:r>
              <a:rPr lang="en-US" altLang="ko-KR" sz="2000" i="0" dirty="0">
                <a:effectLst/>
                <a:highlight>
                  <a:srgbClr val="FFFFFF"/>
                </a:highlight>
                <a:latin typeface="Malgun Gothic" panose="020B0503020000020004" pitchFamily="50" charset="-127"/>
                <a:ea typeface="Malgun Gothic" panose="020B0503020000020004" pitchFamily="50" charset="-127"/>
              </a:rPr>
              <a:t>9788960884229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저자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이한영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출판사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2000" dirty="0" err="1">
                <a:latin typeface="+mn-lt"/>
                <a:ea typeface="맑은 고딕" pitchFamily="50" charset="-127"/>
              </a:rPr>
              <a:t>디지털북스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  <a:p>
            <a:pPr marL="342900" lvl="1" indent="-342900" latinLnBrk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ko-KR" altLang="en-US" sz="2000" b="1" dirty="0">
                <a:latin typeface="+mn-lt"/>
                <a:ea typeface="맑은 고딕" pitchFamily="50" charset="-127"/>
              </a:rPr>
              <a:t>페이지 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/ </a:t>
            </a:r>
            <a:r>
              <a:rPr kumimoji="0" lang="ko-KR" altLang="en-US" sz="2000" b="1" dirty="0">
                <a:latin typeface="+mn-lt"/>
                <a:ea typeface="맑은 고딕" pitchFamily="50" charset="-127"/>
              </a:rPr>
              <a:t>정가</a:t>
            </a:r>
            <a:r>
              <a:rPr kumimoji="0" lang="en-US" altLang="ko-KR" sz="2000" b="1" dirty="0">
                <a:latin typeface="+mn-lt"/>
                <a:ea typeface="맑은 고딕" pitchFamily="50" charset="-127"/>
              </a:rPr>
              <a:t>: </a:t>
            </a:r>
            <a:r>
              <a:rPr kumimoji="0" lang="en-US" altLang="ko-KR" sz="2000" dirty="0">
                <a:latin typeface="+mn-lt"/>
                <a:ea typeface="맑은 고딕" pitchFamily="50" charset="-127"/>
              </a:rPr>
              <a:t>384p / 22,500</a:t>
            </a:r>
            <a:r>
              <a:rPr kumimoji="0" lang="ko-KR" altLang="en-US" sz="2000" dirty="0">
                <a:latin typeface="+mn-lt"/>
                <a:ea typeface="맑은 고딕" pitchFamily="50" charset="-127"/>
              </a:rPr>
              <a:t>원</a:t>
            </a:r>
            <a:endParaRPr kumimoji="0" lang="en-US" altLang="ko-KR" sz="2000" dirty="0">
              <a:latin typeface="+mn-lt"/>
              <a:ea typeface="맑은 고딕" pitchFamily="50" charset="-127"/>
            </a:endParaRPr>
          </a:p>
        </p:txBody>
      </p:sp>
      <p:pic>
        <p:nvPicPr>
          <p:cNvPr id="1026" name="Picture 2" descr="이한영의 Django(장고) 입문">
            <a:extLst>
              <a:ext uri="{FF2B5EF4-FFF2-40B4-BE49-F238E27FC236}">
                <a16:creationId xmlns:a16="http://schemas.microsoft.com/office/drawing/2014/main" id="{939F1BC1-18C5-E45A-3C4A-25630425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2924068" cy="4005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29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5292" y="2852936"/>
            <a:ext cx="2664296" cy="216024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+mj-ea"/>
                <a:ea typeface="+mj-ea"/>
              </a:rPr>
              <a:t>Django </a:t>
            </a:r>
            <a:r>
              <a:rPr lang="ko-KR" altLang="en-US" sz="2000" b="1" dirty="0">
                <a:latin typeface="+mj-ea"/>
                <a:ea typeface="+mj-ea"/>
              </a:rPr>
              <a:t>웹 개념 및 개발환경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>
                <a:latin typeface="+mj-ea"/>
                <a:ea typeface="+mj-ea"/>
              </a:rPr>
              <a:t>블로그 어플리케이션 만들기</a:t>
            </a:r>
            <a:endParaRPr lang="en-US" altLang="ko-KR" sz="2000" b="1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>
                <a:latin typeface="+mj-ea"/>
                <a:ea typeface="+mj-ea"/>
              </a:rPr>
              <a:t>고급 기능으로 블로그 향상시키기</a:t>
            </a:r>
          </a:p>
        </p:txBody>
      </p:sp>
    </p:spTree>
    <p:extLst>
      <p:ext uri="{BB962C8B-B14F-4D97-AF65-F5344CB8AC3E}">
        <p14:creationId xmlns:p14="http://schemas.microsoft.com/office/powerpoint/2010/main" val="244263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4400" b="1" dirty="0">
                <a:latin typeface="+mj-ea"/>
                <a:ea typeface="+mj-ea"/>
              </a:rPr>
              <a:t>Django </a:t>
            </a:r>
            <a:r>
              <a:rPr lang="ko-KR" altLang="en-US" sz="4400" b="1" dirty="0">
                <a:latin typeface="+mj-ea"/>
                <a:ea typeface="+mj-ea"/>
              </a:rPr>
              <a:t>웹 개념 및 개발환경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284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란</a:t>
            </a:r>
            <a:r>
              <a:rPr lang="en-US" altLang="ko-KR" sz="2400" dirty="0"/>
              <a:t>? 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 err="1"/>
              <a:t>파이썬으로</a:t>
            </a:r>
            <a:r>
              <a:rPr lang="ko-KR" altLang="en-US" sz="1600" dirty="0"/>
              <a:t> 작성된 웹 프레임워크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프레임워크란 반복적으로 사용되는 특정 기술을 모아놓은 도구 상자와 같은 기능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웹 사이트를 만들기 위해 일반적으로 필요로 하는 기능들을 제공</a:t>
            </a:r>
            <a:endParaRPr lang="en-US" altLang="ko-KR" sz="1600" dirty="0"/>
          </a:p>
        </p:txBody>
      </p:sp>
      <p:pic>
        <p:nvPicPr>
          <p:cNvPr id="1026" name="Picture 2" descr="Why Django?">
            <a:extLst>
              <a:ext uri="{FF2B5EF4-FFF2-40B4-BE49-F238E27FC236}">
                <a16:creationId xmlns:a16="http://schemas.microsoft.com/office/drawing/2014/main" id="{47FA0F7F-D08F-5749-5EEC-62E49D7FB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441" y="3284984"/>
            <a:ext cx="4741118" cy="265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268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의 핵심기능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데이터베이스 관리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강력한 관리자 기능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보안 기능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다양한 내장 기능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파이썬 확장 기능</a:t>
            </a:r>
            <a:endParaRPr lang="en-US" altLang="ko-KR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2A09E2-2A1E-7CFA-8F13-B59A5480B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408" y="4097101"/>
            <a:ext cx="6555184" cy="180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648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의 주요 프레임워크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</a:t>
            </a:r>
            <a:r>
              <a:rPr lang="ko-KR" altLang="en-US" sz="1600" dirty="0"/>
              <a:t>는 </a:t>
            </a:r>
            <a:r>
              <a:rPr lang="en-US" altLang="ko-KR" sz="1600" dirty="0"/>
              <a:t>MVC(Model-View-Controller)</a:t>
            </a:r>
            <a:r>
              <a:rPr lang="ko-KR" altLang="en-US" sz="1600" dirty="0"/>
              <a:t>패턴과 유사한 패턴인 </a:t>
            </a:r>
            <a:r>
              <a:rPr lang="en-US" altLang="ko-KR" sz="1600" dirty="0"/>
              <a:t>MTV(Model-Template-View) </a:t>
            </a:r>
            <a:r>
              <a:rPr lang="ko-KR" altLang="en-US" sz="1600" dirty="0"/>
              <a:t>패턴이다</a:t>
            </a:r>
            <a:r>
              <a:rPr lang="en-US" altLang="ko-KR" sz="1600" dirty="0"/>
              <a:t>.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</a:t>
            </a:r>
            <a:r>
              <a:rPr lang="en-US" altLang="ko-KR" sz="1600" dirty="0"/>
              <a:t>: </a:t>
            </a:r>
            <a:r>
              <a:rPr lang="ko-KR" altLang="en-US" sz="1600" dirty="0"/>
              <a:t>논리적 데이터 구조를 정의하는 데이터베이스와 뷰 사이의 데이터 </a:t>
            </a:r>
            <a:r>
              <a:rPr lang="ko-KR" altLang="en-US" sz="1600" dirty="0" err="1"/>
              <a:t>핸들러를</a:t>
            </a:r>
            <a:r>
              <a:rPr lang="ko-KR" altLang="en-US" sz="1600" dirty="0"/>
              <a:t> 의미한다</a:t>
            </a:r>
            <a:r>
              <a:rPr lang="en-US" altLang="ko-KR" sz="1600" dirty="0"/>
              <a:t>.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템플릿 </a:t>
            </a:r>
            <a:r>
              <a:rPr lang="en-US" altLang="ko-KR" sz="1600" dirty="0"/>
              <a:t>: </a:t>
            </a:r>
            <a:r>
              <a:rPr lang="ko-KR" altLang="en-US" sz="1600" dirty="0"/>
              <a:t>프레젠테이션 계층으로 브라우저가 렌더링하는 모든 것을 가진 일반 텍스트 템플릿 시스템을 사용한다</a:t>
            </a:r>
            <a:r>
              <a:rPr lang="en-US" altLang="ko-KR" sz="1600" dirty="0"/>
              <a:t>.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뷰 </a:t>
            </a:r>
            <a:r>
              <a:rPr lang="en-US" altLang="ko-KR" sz="1600" dirty="0"/>
              <a:t>: </a:t>
            </a:r>
            <a:r>
              <a:rPr lang="ko-KR" altLang="en-US" sz="1600" dirty="0"/>
              <a:t>모델을 통해 데이터베이스와 통신하고 뷰를 위해 데이터를 템플릿으로 전송한다</a:t>
            </a:r>
            <a:r>
              <a:rPr lang="en-US" altLang="ko-KR" sz="1600" dirty="0"/>
              <a:t>.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프로젝트를 </a:t>
            </a:r>
            <a:r>
              <a:rPr lang="ko-KR" altLang="en-US" sz="1600" dirty="0" err="1"/>
              <a:t>개발할때는</a:t>
            </a:r>
            <a:r>
              <a:rPr lang="ko-KR" altLang="en-US" sz="1600" dirty="0"/>
              <a:t> 항상 모델</a:t>
            </a:r>
            <a:r>
              <a:rPr lang="en-US" altLang="ko-KR" sz="1600" dirty="0"/>
              <a:t>, </a:t>
            </a:r>
            <a:r>
              <a:rPr lang="ko-KR" altLang="en-US" sz="1600" dirty="0"/>
              <a:t>뷰</a:t>
            </a:r>
            <a:r>
              <a:rPr lang="en-US" altLang="ko-KR" sz="1600" dirty="0"/>
              <a:t>, </a:t>
            </a:r>
            <a:r>
              <a:rPr lang="ko-KR" altLang="en-US" sz="1600" dirty="0"/>
              <a:t>템플릿 및 </a:t>
            </a:r>
            <a:r>
              <a:rPr lang="en-US" altLang="ko-KR" sz="1600" dirty="0"/>
              <a:t>URL</a:t>
            </a:r>
            <a:r>
              <a:rPr lang="ko-KR" altLang="en-US" sz="1600" dirty="0"/>
              <a:t>의 구성으로 작업이 이루어진다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807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2400" dirty="0"/>
              <a:t>웹사이트가 화면에 실행되는 과정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URL, </a:t>
            </a:r>
            <a:r>
              <a:rPr lang="ko-KR" altLang="en-US" sz="1600" dirty="0"/>
              <a:t>뷰</a:t>
            </a:r>
            <a:r>
              <a:rPr lang="en-US" altLang="ko-KR" sz="1600" dirty="0"/>
              <a:t>, </a:t>
            </a:r>
            <a:r>
              <a:rPr lang="ko-KR" altLang="en-US" sz="1600" dirty="0"/>
              <a:t>모델 그리고 템플릿과 같은 </a:t>
            </a:r>
            <a:r>
              <a:rPr lang="en-US" altLang="ko-KR" sz="1600" dirty="0"/>
              <a:t>Django</a:t>
            </a:r>
            <a:r>
              <a:rPr lang="ko-KR" altLang="en-US" sz="1600" dirty="0"/>
              <a:t>의 주요 컴포넌트들을 사용해서 요청</a:t>
            </a:r>
            <a:r>
              <a:rPr lang="en-US" altLang="ko-KR" sz="1600" dirty="0"/>
              <a:t>/</a:t>
            </a:r>
            <a:r>
              <a:rPr lang="ko-KR" altLang="en-US" sz="1600" dirty="0"/>
              <a:t>응답 사이클을 관리하는 방법은 다음과 같다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44B957-02F7-8EF0-075C-33752DC18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564904"/>
            <a:ext cx="3147615" cy="3816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1C831-6ABD-5D8F-51CA-98DCA72985BA}"/>
              </a:ext>
            </a:extLst>
          </p:cNvPr>
          <p:cNvSpPr txBox="1"/>
          <p:nvPr/>
        </p:nvSpPr>
        <p:spPr>
          <a:xfrm>
            <a:off x="4474966" y="2852936"/>
            <a:ext cx="4417513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endParaRPr lang="ko-KR" altLang="en-US" sz="1400" dirty="0">
              <a:latin typeface="맑은 고딕 (본문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ECBE9-5E4B-4463-5855-17D913BDBFD8}"/>
              </a:ext>
            </a:extLst>
          </p:cNvPr>
          <p:cNvSpPr txBox="1"/>
          <p:nvPr/>
        </p:nvSpPr>
        <p:spPr>
          <a:xfrm>
            <a:off x="4474966" y="2924944"/>
            <a:ext cx="4503771" cy="28931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>
                <a:latin typeface="맑은 고딕 (본문)"/>
              </a:rPr>
              <a:t>웹 브라우저가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로 페이지를 요청하고 웹 서버가 </a:t>
            </a:r>
            <a:r>
              <a:rPr lang="en-US" altLang="ko-KR" sz="1400" dirty="0">
                <a:latin typeface="맑은 고딕 (본문)"/>
              </a:rPr>
              <a:t>HTTP </a:t>
            </a:r>
            <a:r>
              <a:rPr lang="ko-KR" altLang="en-US" sz="1400" dirty="0">
                <a:latin typeface="맑은 고딕 (본문)"/>
              </a:rPr>
              <a:t>요청을 장고에 전달한다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 (본문)"/>
              </a:rPr>
              <a:t>Django</a:t>
            </a:r>
            <a:r>
              <a:rPr lang="ko-KR" altLang="en-US" sz="1400" dirty="0">
                <a:latin typeface="맑은 고딕 (본문)"/>
              </a:rPr>
              <a:t>는 설정된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살펴보고 처음에 매치되는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발견한다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 (본문)"/>
              </a:rPr>
              <a:t>Django</a:t>
            </a:r>
            <a:r>
              <a:rPr lang="ko-KR" altLang="en-US" sz="1400" dirty="0">
                <a:latin typeface="맑은 고딕 (본문)"/>
              </a:rPr>
              <a:t>는 일치하는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패턴에 해당하는 뷰를 실행한다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맑은 고딕 (본문)"/>
              </a:rPr>
              <a:t>뷰는 가능한 데이터 모델을 사용해서 데이터베이스로부터 정보를 검색한다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맑은 고딕 (본문)"/>
              </a:rPr>
              <a:t>데이터 모델은 데이터 정의 및 동작을 제공한다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데이터베이스에 질의하는데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맑은 고딕 (본문)"/>
              </a:rPr>
              <a:t>뷰는 템플릿을 렌더링하여 데이터를 표시하고 </a:t>
            </a:r>
            <a:r>
              <a:rPr lang="en-US" altLang="ko-KR" sz="1400" dirty="0">
                <a:latin typeface="맑은 고딕 (본문)"/>
              </a:rPr>
              <a:t>HTTP </a:t>
            </a:r>
            <a:r>
              <a:rPr lang="ko-KR" altLang="en-US" sz="1400" dirty="0">
                <a:latin typeface="맑은 고딕 (본문)"/>
              </a:rPr>
              <a:t>응답과 함께 반환한다</a:t>
            </a:r>
            <a:r>
              <a:rPr lang="en-US" altLang="ko-KR" sz="1400" dirty="0">
                <a:latin typeface="맑은 고딕 (본문)"/>
              </a:rPr>
              <a:t>.</a:t>
            </a:r>
            <a:endParaRPr lang="ko-KR" altLang="en-US" sz="1400" dirty="0">
              <a:latin typeface="맑은 고딕 (본문)"/>
            </a:endParaRPr>
          </a:p>
          <a:p>
            <a:endParaRPr lang="ko-KR" altLang="en-US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345183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B4EE0A-28D4-06EE-12BA-5F76641C2CF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프로그래밍의 이해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789040"/>
            <a:ext cx="7558008" cy="223224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47564" y="1831896"/>
            <a:ext cx="79928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HTTP(S) </a:t>
            </a:r>
            <a:r>
              <a:rPr lang="ko-KR" altLang="en-US" sz="1600" dirty="0">
                <a:latin typeface="+mn-lt"/>
                <a:ea typeface="+mn-ea"/>
              </a:rPr>
              <a:t>프로토콜로 통신하는</a:t>
            </a:r>
            <a:r>
              <a:rPr lang="en-US" altLang="ko-KR" sz="1600" dirty="0">
                <a:latin typeface="+mn-lt"/>
                <a:ea typeface="+mn-ea"/>
              </a:rPr>
              <a:t>, </a:t>
            </a:r>
            <a:r>
              <a:rPr lang="ko-KR" altLang="en-US" sz="1600" dirty="0">
                <a:latin typeface="+mn-lt"/>
                <a:ea typeface="+mn-ea"/>
              </a:rPr>
              <a:t>클라이언트와 서버를 개발</a:t>
            </a:r>
            <a:endParaRPr lang="en-US" altLang="ko-KR" sz="1600" dirty="0">
              <a:latin typeface="+mn-lt"/>
              <a:ea typeface="+mn-ea"/>
            </a:endParaRPr>
          </a:p>
          <a:p>
            <a:endParaRPr lang="en-US" altLang="ko-KR" sz="1600" dirty="0">
              <a:latin typeface="+mn-lt"/>
              <a:ea typeface="+mn-ea"/>
            </a:endParaRPr>
          </a:p>
          <a:p>
            <a:r>
              <a:rPr lang="ko-KR" altLang="en-US" sz="1600" dirty="0">
                <a:latin typeface="+mn-lt"/>
                <a:ea typeface="+mn-ea"/>
              </a:rPr>
              <a:t>웹 클라이언트와 웹 서버를 같이 개발 및 웹 클라이언트 또는 웹 서버 하나만 개발</a:t>
            </a:r>
            <a:endParaRPr lang="en-US" altLang="ko-KR" sz="1600" dirty="0">
              <a:latin typeface="+mn-lt"/>
              <a:ea typeface="+mn-ea"/>
            </a:endParaRPr>
          </a:p>
          <a:p>
            <a:endParaRPr lang="en-US" altLang="ko-KR" sz="1600" dirty="0">
              <a:latin typeface="+mn-lt"/>
              <a:ea typeface="+mn-ea"/>
            </a:endParaRPr>
          </a:p>
          <a:p>
            <a:r>
              <a:rPr lang="ko-KR" altLang="en-US" sz="1600" dirty="0">
                <a:latin typeface="+mn-lt"/>
                <a:ea typeface="+mn-ea"/>
              </a:rPr>
              <a:t>웹 서버를 개발하는 경우가 많아서 파이썬 웹 프로그래밍이라고 하면 우선적으로 장고 </a:t>
            </a:r>
            <a:r>
              <a:rPr lang="en-US" altLang="ko-KR" sz="1600" dirty="0">
                <a:latin typeface="+mn-lt"/>
                <a:ea typeface="+mn-ea"/>
              </a:rPr>
              <a:t>Django</a:t>
            </a:r>
            <a:r>
              <a:rPr lang="ko-KR" altLang="en-US" sz="1600" dirty="0">
                <a:latin typeface="+mn-lt"/>
                <a:ea typeface="+mn-ea"/>
              </a:rPr>
              <a:t>와 같은 웹 프레임워크를 사용하여 웹 서버를 개발</a:t>
            </a:r>
          </a:p>
        </p:txBody>
      </p:sp>
    </p:spTree>
    <p:extLst>
      <p:ext uri="{BB962C8B-B14F-4D97-AF65-F5344CB8AC3E}">
        <p14:creationId xmlns:p14="http://schemas.microsoft.com/office/powerpoint/2010/main" val="3310870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3C479D"/>
                </a:solidFill>
              </a:rPr>
              <a:t>01.</a:t>
            </a:r>
            <a:r>
              <a:rPr lang="en-US" altLang="ko-KR" sz="1800" dirty="0">
                <a:solidFill>
                  <a:srgbClr val="3C479D"/>
                </a:solidFill>
              </a:rPr>
              <a:t>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2D59720-F4E0-6AD0-587C-59FCA31A036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다양한 웹 클라이언트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32063"/>
            <a:ext cx="4648856" cy="88498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4848" y="1777260"/>
            <a:ext cx="34387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1.2.1 </a:t>
            </a:r>
            <a:r>
              <a:rPr lang="ko-KR" altLang="en-US" sz="1600" dirty="0">
                <a:latin typeface="+mn-lt"/>
                <a:ea typeface="+mn-ea"/>
              </a:rPr>
              <a:t>웹 브라우저를 사용하여 요청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79" y="4053895"/>
            <a:ext cx="3152901" cy="194471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57779" y="6120787"/>
            <a:ext cx="48397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1-3 </a:t>
            </a:r>
            <a:r>
              <a:rPr lang="ko-KR" altLang="en-US" sz="1600" dirty="0">
                <a:latin typeface="+mn-lt"/>
                <a:ea typeface="+mn-ea"/>
              </a:rPr>
              <a:t>웹 브라우저 요청에 대한 웹 서버의 응답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27584" y="3310994"/>
            <a:ext cx="77768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브라우저는 주소창에 입력된 문장을 해석하여 웹 서버에게 </a:t>
            </a:r>
            <a:r>
              <a:rPr lang="en-US" altLang="ko-KR" sz="1600" dirty="0">
                <a:latin typeface="+mn-lt"/>
                <a:ea typeface="+mn-ea"/>
              </a:rPr>
              <a:t>HTTP </a:t>
            </a:r>
            <a:r>
              <a:rPr lang="ko-KR" altLang="en-US" sz="1600" dirty="0">
                <a:latin typeface="+mn-lt"/>
                <a:ea typeface="+mn-ea"/>
              </a:rPr>
              <a:t>요청을 보내는 웹 클라이언트의 역할을 수행한다</a:t>
            </a:r>
            <a:r>
              <a:rPr lang="en-US" altLang="ko-KR" sz="1600" dirty="0">
                <a:latin typeface="+mn-lt"/>
                <a:ea typeface="+mn-ea"/>
              </a:rPr>
              <a:t>.</a:t>
            </a:r>
            <a:r>
              <a:rPr lang="ko-KR" altLang="en-US" sz="1600" dirty="0">
                <a:latin typeface="+mn-lt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5610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166F817-FD1E-ED84-0A10-37FCE15D60E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kumimoji="1" lang="ko-KR" altLang="en-US" dirty="0">
                <a:latin typeface="+mn-lt"/>
              </a:rPr>
              <a:t>다양한 웹 </a:t>
            </a:r>
            <a:r>
              <a:rPr lang="ko-KR" altLang="en-US" dirty="0"/>
              <a:t>클라이언트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71600" y="1700808"/>
            <a:ext cx="3850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1.2.2 </a:t>
            </a:r>
            <a:r>
              <a:rPr lang="ko-KR" altLang="en-US" sz="1600" dirty="0">
                <a:latin typeface="+mn-lt"/>
                <a:ea typeface="+mn-ea"/>
              </a:rPr>
              <a:t>리눅스 </a:t>
            </a:r>
            <a:r>
              <a:rPr lang="en-US" altLang="ko-KR" sz="1600" dirty="0">
                <a:latin typeface="+mn-lt"/>
                <a:ea typeface="+mn-ea"/>
              </a:rPr>
              <a:t>curl </a:t>
            </a:r>
            <a:r>
              <a:rPr lang="ko-KR" altLang="en-US" sz="1600" dirty="0">
                <a:latin typeface="+mn-lt"/>
                <a:ea typeface="+mn-ea"/>
              </a:rPr>
              <a:t>명령을 사용하여 요청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71598" y="2184861"/>
            <a:ext cx="7848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리눅스 </a:t>
            </a:r>
            <a:r>
              <a:rPr lang="en-US" altLang="ko-KR" sz="1600" dirty="0">
                <a:latin typeface="+mn-lt"/>
                <a:ea typeface="+mn-ea"/>
              </a:rPr>
              <a:t>curl </a:t>
            </a:r>
            <a:r>
              <a:rPr lang="ko-KR" altLang="en-US" sz="1600" dirty="0">
                <a:latin typeface="+mn-lt"/>
                <a:ea typeface="+mn-ea"/>
              </a:rPr>
              <a:t>명령은 </a:t>
            </a:r>
            <a:r>
              <a:rPr lang="en-US" altLang="ko-KR" sz="1600" dirty="0">
                <a:latin typeface="+mn-lt"/>
                <a:ea typeface="+mn-ea"/>
              </a:rPr>
              <a:t>HTTP/HTTPS/FTP </a:t>
            </a:r>
            <a:r>
              <a:rPr lang="ko-KR" altLang="en-US" sz="1600" dirty="0">
                <a:latin typeface="+mn-lt"/>
                <a:ea typeface="+mn-ea"/>
              </a:rPr>
              <a:t>등 여러 가지의 프로토콜을 사용하여 데이터를 송수신할 수 있는 명령 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8" y="2730353"/>
            <a:ext cx="4539934" cy="7803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8" y="3503977"/>
            <a:ext cx="2644791" cy="183905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899594" y="5661248"/>
            <a:ext cx="44919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1-4 curl </a:t>
            </a:r>
            <a:r>
              <a:rPr lang="ko-KR" altLang="en-US" sz="1600" dirty="0">
                <a:latin typeface="+mn-lt"/>
                <a:ea typeface="+mn-ea"/>
              </a:rPr>
              <a:t>명령 요청에 대한 웹 서버의 응답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899592" y="6088885"/>
            <a:ext cx="80648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[</a:t>
            </a:r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1-3]</a:t>
            </a:r>
            <a:r>
              <a:rPr lang="ko-KR" altLang="en-US" sz="1600" dirty="0">
                <a:latin typeface="+mn-lt"/>
                <a:ea typeface="+mn-ea"/>
              </a:rPr>
              <a:t>과 비교해서 </a:t>
            </a:r>
            <a:r>
              <a:rPr lang="en-US" altLang="ko-KR" sz="1600" dirty="0">
                <a:latin typeface="+mn-lt"/>
                <a:ea typeface="+mn-ea"/>
              </a:rPr>
              <a:t>HTML </a:t>
            </a:r>
            <a:r>
              <a:rPr lang="ko-KR" altLang="en-US" sz="1600" dirty="0">
                <a:latin typeface="+mn-lt"/>
                <a:ea typeface="+mn-ea"/>
              </a:rPr>
              <a:t>태그들과 </a:t>
            </a:r>
            <a:r>
              <a:rPr lang="en-US" altLang="ko-KR" sz="1600" dirty="0">
                <a:latin typeface="+mn-lt"/>
                <a:ea typeface="+mn-ea"/>
              </a:rPr>
              <a:t>&lt;head&gt; </a:t>
            </a:r>
            <a:r>
              <a:rPr lang="ko-KR" altLang="en-US" sz="1600" dirty="0">
                <a:latin typeface="+mn-lt"/>
                <a:ea typeface="+mn-ea"/>
              </a:rPr>
              <a:t>부분이 더 보이지만 이는 동일한 응답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9DDEE21-B81D-5B77-C16B-7DF8FA9C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87284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7B06EDFB-EC7D-D902-E97E-5C193E73979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다양한 웹 클라이언트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27584" y="1701188"/>
            <a:ext cx="28164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1.2.3 Telnet</a:t>
            </a:r>
            <a:r>
              <a:rPr lang="ko-KR" altLang="en-US" sz="1600" dirty="0">
                <a:latin typeface="+mn-lt"/>
                <a:ea typeface="+mn-ea"/>
              </a:rPr>
              <a:t>을 사용하여 요청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27584" y="2218603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리눅스의 </a:t>
            </a:r>
            <a:r>
              <a:rPr lang="en-US" altLang="ko-KR" sz="1600" dirty="0">
                <a:latin typeface="+mn-lt"/>
                <a:ea typeface="+mn-ea"/>
              </a:rPr>
              <a:t>telnet </a:t>
            </a:r>
            <a:r>
              <a:rPr lang="ko-KR" altLang="en-US" sz="1600" dirty="0">
                <a:latin typeface="+mn-lt"/>
                <a:ea typeface="+mn-ea"/>
              </a:rPr>
              <a:t>프로그램을 사용하여 </a:t>
            </a:r>
            <a:r>
              <a:rPr lang="en-US" altLang="ko-KR" sz="1600" dirty="0">
                <a:latin typeface="+mn-lt"/>
                <a:ea typeface="+mn-ea"/>
              </a:rPr>
              <a:t>HTTP </a:t>
            </a:r>
            <a:r>
              <a:rPr lang="ko-KR" altLang="en-US" sz="1600" dirty="0">
                <a:latin typeface="+mn-lt"/>
                <a:ea typeface="+mn-ea"/>
              </a:rPr>
              <a:t>요청을 보낼 수도 있음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38" y="2820394"/>
            <a:ext cx="4750536" cy="226478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43538" y="5308869"/>
            <a:ext cx="69688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telnet </a:t>
            </a:r>
            <a:r>
              <a:rPr lang="ko-KR" altLang="en-US" sz="1600" dirty="0">
                <a:latin typeface="+mn-lt"/>
                <a:ea typeface="+mn-ea"/>
              </a:rPr>
              <a:t>명령은 터미널 창에서 입력하는 내용을 그대로 웹 서버에 전송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75802" y="5826750"/>
            <a:ext cx="45639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telnet </a:t>
            </a:r>
            <a:r>
              <a:rPr lang="ko-KR" altLang="en-US" sz="1600" dirty="0">
                <a:latin typeface="+mn-lt"/>
                <a:ea typeface="+mn-ea"/>
              </a:rPr>
              <a:t>프로그램이 웹 클라이언트의 역할을 수행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BA03E89-AC32-1269-3CCF-61A77B73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79483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7B06EDFB-EC7D-D902-E97E-5C193E73979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다양한 웹 클라이언트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39552" y="1684486"/>
            <a:ext cx="2997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Helvetica Neue"/>
              </a:rPr>
              <a:t>1.2.3 </a:t>
            </a:r>
            <a:r>
              <a:rPr lang="en-US" altLang="ko-KR" sz="1500" dirty="0">
                <a:solidFill>
                  <a:srgbClr val="000000"/>
                </a:solidFill>
                <a:latin typeface="Helvetica Neue"/>
              </a:rPr>
              <a:t>Telnet</a:t>
            </a:r>
            <a:r>
              <a:rPr lang="ko-KR" altLang="en-US" dirty="0">
                <a:solidFill>
                  <a:srgbClr val="000000"/>
                </a:solidFill>
                <a:latin typeface="YoonV YoonGothic100Std_OTF"/>
              </a:rPr>
              <a:t>을 사용하여 요청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19375"/>
            <a:ext cx="3062961" cy="192253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66" y="4253753"/>
            <a:ext cx="3062961" cy="1067160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83568" y="5614963"/>
            <a:ext cx="46825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1-5 telnet </a:t>
            </a:r>
            <a:r>
              <a:rPr lang="ko-KR" altLang="en-US" sz="1600" dirty="0">
                <a:latin typeface="+mn-lt"/>
                <a:ea typeface="+mn-ea"/>
              </a:rPr>
              <a:t>명령 요청에 대한 웹 서버의 응답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567521" y="2206480"/>
            <a:ext cx="39649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응답 메시지를 수신한 후</a:t>
            </a:r>
            <a:r>
              <a:rPr lang="en-US" altLang="ko-KR" sz="1600" dirty="0">
                <a:latin typeface="+mn-lt"/>
                <a:ea typeface="+mn-ea"/>
              </a:rPr>
              <a:t>, telnet </a:t>
            </a:r>
            <a:r>
              <a:rPr lang="ko-KR" altLang="en-US" sz="1600" dirty="0">
                <a:latin typeface="+mn-lt"/>
                <a:ea typeface="+mn-ea"/>
              </a:rPr>
              <a:t>프로그램을 종료하기 위해 마지막 두 라인을 </a:t>
            </a:r>
            <a:r>
              <a:rPr lang="ko-KR" altLang="en-US" sz="1600" dirty="0" err="1">
                <a:latin typeface="+mn-lt"/>
                <a:ea typeface="+mn-ea"/>
              </a:rPr>
              <a:t>입력한것에</a:t>
            </a:r>
            <a:r>
              <a:rPr lang="ko-KR" altLang="en-US" sz="1600" dirty="0">
                <a:latin typeface="+mn-lt"/>
                <a:ea typeface="+mn-ea"/>
              </a:rPr>
              <a:t> 유의</a:t>
            </a:r>
            <a:endParaRPr lang="en-US" altLang="ko-KR" sz="1600" dirty="0">
              <a:latin typeface="+mn-lt"/>
              <a:ea typeface="+mn-ea"/>
            </a:endParaRPr>
          </a:p>
          <a:p>
            <a:r>
              <a:rPr lang="en-US" altLang="ko-KR" sz="1600" dirty="0">
                <a:latin typeface="+mn-lt"/>
                <a:ea typeface="+mn-ea"/>
              </a:rPr>
              <a:t> </a:t>
            </a:r>
          </a:p>
          <a:p>
            <a:r>
              <a:rPr lang="ko-KR" altLang="en-US" sz="1600" dirty="0">
                <a:latin typeface="+mn-lt"/>
                <a:ea typeface="+mn-ea"/>
              </a:rPr>
              <a:t>동일한 응답을 확인할 수 있음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BA03E89-AC32-1269-3CCF-61A77B73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646571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B348444-0DD7-E435-793A-4893775D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14" name="내용 개체 틀 14">
            <a:extLst>
              <a:ext uri="{FF2B5EF4-FFF2-40B4-BE49-F238E27FC236}">
                <a16:creationId xmlns:a16="http://schemas.microsoft.com/office/drawing/2014/main" id="{6EA3F24A-AE3F-8C97-7BE8-26804555C27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다양한 웹 클라이언트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75927" y="1700520"/>
            <a:ext cx="3366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1.2.4 </a:t>
            </a:r>
            <a:r>
              <a:rPr lang="ko-KR" altLang="en-US" sz="1600" dirty="0">
                <a:latin typeface="+mn-lt"/>
                <a:ea typeface="+mn-ea"/>
              </a:rPr>
              <a:t>직접 만든 클라이언트로 요청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83" y="2111437"/>
            <a:ext cx="5866342" cy="117326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27" y="3326290"/>
            <a:ext cx="2991776" cy="202890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75927" y="5629574"/>
            <a:ext cx="9384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1-6 </a:t>
            </a:r>
            <a:r>
              <a:rPr lang="ko-KR" altLang="en-US" sz="1600" dirty="0">
                <a:latin typeface="+mn-lt"/>
                <a:ea typeface="+mn-ea"/>
              </a:rPr>
              <a:t>직접 만든 클라이언트 요청에 대한 웹 서버의 응답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75927" y="6086377"/>
            <a:ext cx="82089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앞에서 보았던 응답 결과와 동일한 것을 확인할 수 있음</a:t>
            </a:r>
            <a:r>
              <a:rPr lang="en-US" altLang="ko-KR" sz="1600" dirty="0">
                <a:latin typeface="+mn-lt"/>
                <a:ea typeface="+mn-ea"/>
              </a:rPr>
              <a:t>. </a:t>
            </a:r>
          </a:p>
          <a:p>
            <a:r>
              <a:rPr lang="ko-KR" altLang="en-US" sz="1600" dirty="0">
                <a:latin typeface="+mn-lt"/>
                <a:ea typeface="+mn-ea"/>
              </a:rPr>
              <a:t>즉</a:t>
            </a:r>
            <a:r>
              <a:rPr lang="en-US" altLang="ko-KR" sz="1600" dirty="0">
                <a:latin typeface="+mn-lt"/>
                <a:ea typeface="+mn-ea"/>
              </a:rPr>
              <a:t>, </a:t>
            </a:r>
            <a:r>
              <a:rPr lang="ko-KR" altLang="en-US" sz="1600" dirty="0">
                <a:latin typeface="+mn-lt"/>
                <a:ea typeface="+mn-ea"/>
              </a:rPr>
              <a:t>웹 클라이언트의 형태는 달라도 동일한 요청에 대해서 동일한 응답을 </a:t>
            </a:r>
            <a:r>
              <a:rPr lang="ko-KR" altLang="en-US" sz="1600" dirty="0" err="1">
                <a:latin typeface="+mn-lt"/>
                <a:ea typeface="+mn-ea"/>
              </a:rPr>
              <a:t>받는것을</a:t>
            </a:r>
            <a:r>
              <a:rPr lang="ko-KR" altLang="en-US" sz="1600" dirty="0">
                <a:latin typeface="+mn-lt"/>
                <a:ea typeface="+mn-ea"/>
              </a:rPr>
              <a:t> 확인</a:t>
            </a:r>
            <a:endParaRPr lang="en-US" altLang="ko-KR" sz="16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5972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9EC740B-69EE-91ED-5276-8A2A52DA163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프로토콜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5" y="2333280"/>
            <a:ext cx="4816037" cy="254641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755576" y="1771236"/>
            <a:ext cx="25517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1.3.1 HTTP </a:t>
            </a:r>
            <a:r>
              <a:rPr lang="ko-KR" altLang="en-US" sz="1600" dirty="0">
                <a:latin typeface="+mn-lt"/>
                <a:ea typeface="+mn-ea"/>
              </a:rPr>
              <a:t>메시지의 구조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53204" y="5021578"/>
            <a:ext cx="27104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1-7 HTTP </a:t>
            </a:r>
            <a:r>
              <a:rPr lang="ko-KR" altLang="en-US" sz="1600" dirty="0">
                <a:latin typeface="+mn-lt"/>
                <a:ea typeface="+mn-ea"/>
              </a:rPr>
              <a:t>메시지 구조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95536" y="5531071"/>
            <a:ext cx="82411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[</a:t>
            </a:r>
            <a:r>
              <a:rPr lang="ko-KR" altLang="en-US" sz="1600" dirty="0">
                <a:latin typeface="+mn-lt"/>
                <a:ea typeface="+mn-ea"/>
              </a:rPr>
              <a:t>그림 </a:t>
            </a:r>
            <a:r>
              <a:rPr lang="en-US" altLang="ko-KR" sz="1600" dirty="0">
                <a:latin typeface="+mn-lt"/>
                <a:ea typeface="+mn-ea"/>
              </a:rPr>
              <a:t>1-7]</a:t>
            </a:r>
            <a:r>
              <a:rPr lang="ko-KR" altLang="en-US" sz="1600" dirty="0">
                <a:latin typeface="+mn-lt"/>
                <a:ea typeface="+mn-ea"/>
              </a:rPr>
              <a:t>에서 스타트라인은 요청 메시지일 때 요청라인 </a:t>
            </a:r>
            <a:r>
              <a:rPr lang="en-US" altLang="ko-KR" sz="1600" dirty="0">
                <a:latin typeface="+mn-lt"/>
                <a:ea typeface="+mn-ea"/>
              </a:rPr>
              <a:t>request line</a:t>
            </a:r>
            <a:r>
              <a:rPr lang="ko-KR" altLang="en-US" sz="1600" dirty="0">
                <a:latin typeface="+mn-lt"/>
                <a:ea typeface="+mn-ea"/>
              </a:rPr>
              <a:t>이라고 하고</a:t>
            </a:r>
            <a:r>
              <a:rPr lang="en-US" altLang="ko-KR" sz="1600" dirty="0">
                <a:latin typeface="+mn-lt"/>
                <a:ea typeface="+mn-ea"/>
              </a:rPr>
              <a:t>, </a:t>
            </a:r>
            <a:r>
              <a:rPr lang="ko-KR" altLang="en-US" sz="1600" dirty="0">
                <a:latin typeface="+mn-lt"/>
                <a:ea typeface="+mn-ea"/>
              </a:rPr>
              <a:t>응답 메시지일 때 상태라인 </a:t>
            </a:r>
            <a:r>
              <a:rPr lang="en-US" altLang="ko-KR" sz="1600" dirty="0">
                <a:latin typeface="+mn-lt"/>
                <a:ea typeface="+mn-ea"/>
              </a:rPr>
              <a:t>status line</a:t>
            </a:r>
            <a:r>
              <a:rPr lang="ko-KR" altLang="en-US" sz="1600" dirty="0" err="1">
                <a:latin typeface="+mn-lt"/>
                <a:ea typeface="+mn-ea"/>
              </a:rPr>
              <a:t>이라고함</a:t>
            </a:r>
            <a:endParaRPr lang="ko-KR" altLang="en-US" sz="1600" dirty="0">
              <a:latin typeface="+mn-lt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42" y="2420888"/>
            <a:ext cx="2931411" cy="63907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435317" y="3429000"/>
            <a:ext cx="33753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첫 번째 줄은 요청라인으로</a:t>
            </a:r>
            <a:r>
              <a:rPr lang="en-US" altLang="ko-KR" sz="1600" dirty="0">
                <a:latin typeface="+mn-lt"/>
                <a:ea typeface="+mn-ea"/>
              </a:rPr>
              <a:t>, </a:t>
            </a:r>
            <a:r>
              <a:rPr lang="ko-KR" altLang="en-US" sz="1600" dirty="0">
                <a:latin typeface="+mn-lt"/>
                <a:ea typeface="+mn-ea"/>
              </a:rPr>
              <a:t>요청 방식 </a:t>
            </a:r>
            <a:r>
              <a:rPr lang="en-US" altLang="ko-KR" sz="1600" dirty="0">
                <a:latin typeface="+mn-lt"/>
                <a:ea typeface="+mn-ea"/>
              </a:rPr>
              <a:t>method, </a:t>
            </a:r>
            <a:r>
              <a:rPr lang="ko-KR" altLang="en-US" sz="1600" dirty="0">
                <a:latin typeface="+mn-lt"/>
                <a:ea typeface="+mn-ea"/>
              </a:rPr>
              <a:t>요청 </a:t>
            </a:r>
            <a:r>
              <a:rPr lang="en-US" altLang="ko-KR" sz="1600" dirty="0">
                <a:latin typeface="+mn-lt"/>
                <a:ea typeface="+mn-ea"/>
              </a:rPr>
              <a:t>URL, </a:t>
            </a:r>
            <a:r>
              <a:rPr lang="ko-KR" altLang="en-US" sz="1600" dirty="0">
                <a:latin typeface="+mn-lt"/>
                <a:ea typeface="+mn-ea"/>
              </a:rPr>
              <a:t>프로토콜 버전으로 구성</a:t>
            </a:r>
          </a:p>
        </p:txBody>
      </p:sp>
    </p:spTree>
    <p:extLst>
      <p:ext uri="{BB962C8B-B14F-4D97-AF65-F5344CB8AC3E}">
        <p14:creationId xmlns:p14="http://schemas.microsoft.com/office/powerpoint/2010/main" val="794489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50519"/>
            <a:ext cx="5787590" cy="3050689"/>
          </a:xfrm>
          <a:prstGeom prst="rect">
            <a:avLst/>
          </a:prstGeom>
        </p:spPr>
      </p:pic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EFF628B0-63C9-BFA8-7D53-91FB0572CA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프</a:t>
            </a:r>
            <a:r>
              <a:rPr kumimoji="1" lang="ko-KR" altLang="en-US" dirty="0">
                <a:latin typeface="+mn-lt"/>
              </a:rPr>
              <a:t>로토콜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71600" y="1844824"/>
            <a:ext cx="21413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1.3.2 HTTP </a:t>
            </a:r>
            <a:r>
              <a:rPr lang="ko-KR" altLang="en-US" sz="1600" dirty="0">
                <a:latin typeface="+mn-lt"/>
                <a:ea typeface="+mn-ea"/>
              </a:rPr>
              <a:t>처리 방식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31640" y="5322694"/>
            <a:ext cx="27363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lt"/>
                <a:ea typeface="+mn-ea"/>
              </a:rPr>
              <a:t>표 </a:t>
            </a:r>
            <a:r>
              <a:rPr lang="en-US" altLang="ko-KR" sz="1600" dirty="0">
                <a:latin typeface="+mn-lt"/>
                <a:ea typeface="+mn-ea"/>
              </a:rPr>
              <a:t>1-1 HTTP </a:t>
            </a:r>
            <a:r>
              <a:rPr lang="ko-KR" altLang="en-US" sz="1600" dirty="0">
                <a:latin typeface="+mn-lt"/>
                <a:ea typeface="+mn-ea"/>
              </a:rPr>
              <a:t>메소드 종류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331640" y="5661248"/>
            <a:ext cx="72728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GET </a:t>
            </a:r>
            <a:r>
              <a:rPr lang="ko-KR" altLang="en-US" sz="1600" dirty="0">
                <a:latin typeface="+mn-lt"/>
                <a:ea typeface="+mn-ea"/>
              </a:rPr>
              <a:t>방식은 지정한 </a:t>
            </a:r>
            <a:r>
              <a:rPr lang="en-US" altLang="ko-KR" sz="1600" dirty="0">
                <a:latin typeface="+mn-lt"/>
                <a:ea typeface="+mn-ea"/>
              </a:rPr>
              <a:t>URL</a:t>
            </a:r>
            <a:r>
              <a:rPr lang="ko-KR" altLang="en-US" sz="1600" dirty="0">
                <a:latin typeface="+mn-lt"/>
                <a:ea typeface="+mn-ea"/>
              </a:rPr>
              <a:t>의 정보를 가져오는 메소드로</a:t>
            </a:r>
            <a:r>
              <a:rPr lang="en-US" altLang="ko-KR" sz="1600" dirty="0">
                <a:latin typeface="+mn-lt"/>
                <a:ea typeface="+mn-ea"/>
              </a:rPr>
              <a:t>, </a:t>
            </a:r>
            <a:r>
              <a:rPr lang="ko-KR" altLang="en-US" sz="1600" dirty="0">
                <a:latin typeface="+mn-lt"/>
                <a:ea typeface="+mn-ea"/>
              </a:rPr>
              <a:t>가장 많이 사용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331640" y="6021288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lt"/>
                <a:ea typeface="+mn-ea"/>
              </a:rPr>
              <a:t>POST</a:t>
            </a:r>
            <a:r>
              <a:rPr lang="ko-KR" altLang="en-US" sz="1600" dirty="0">
                <a:latin typeface="+mn-lt"/>
                <a:ea typeface="+mn-ea"/>
              </a:rPr>
              <a:t>의 대표적인 기능은 리소스를 생성하는 것으로</a:t>
            </a:r>
            <a:r>
              <a:rPr lang="en-US" altLang="ko-KR" sz="1600" dirty="0">
                <a:latin typeface="+mn-lt"/>
                <a:ea typeface="+mn-ea"/>
              </a:rPr>
              <a:t>,  </a:t>
            </a:r>
            <a:r>
              <a:rPr lang="ko-KR" altLang="en-US" sz="1600" dirty="0">
                <a:latin typeface="+mn-lt"/>
                <a:ea typeface="+mn-ea"/>
              </a:rPr>
              <a:t>블로그에 글을 등록하는 경우가 이에 해당</a:t>
            </a:r>
            <a:r>
              <a:rPr lang="en-US" altLang="ko-KR" sz="1600" dirty="0">
                <a:latin typeface="+mn-lt"/>
                <a:ea typeface="+mn-ea"/>
              </a:rPr>
              <a:t>.  PUT</a:t>
            </a:r>
            <a:r>
              <a:rPr lang="ko-KR" altLang="en-US" sz="1600" dirty="0">
                <a:latin typeface="+mn-lt"/>
                <a:ea typeface="+mn-ea"/>
              </a:rPr>
              <a:t>은 리소스를 변경하는 데 사용 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6C8937-E67C-634D-64CE-F1370FB2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236071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0FC333B3-6FD8-2C2B-4B4F-447AA57030F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en-US" altLang="ko-KR" dirty="0">
                <a:solidFill>
                  <a:srgbClr val="000000"/>
                </a:solidFill>
                <a:latin typeface="Helvetica Neue"/>
                <a:ea typeface="굴림" charset="-127"/>
              </a:rPr>
              <a:t>HTTP </a:t>
            </a:r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프로토콜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43383" y="1700808"/>
            <a:ext cx="2976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1.3.3 GET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과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POST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메소드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38296" y="2029527"/>
            <a:ext cx="7578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앞에서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8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가지의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HTTP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메소드를 소개하였지만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현실적으로 가장 많이 사용하는 메소드는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GET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과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POST 2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가지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54" y="3852427"/>
            <a:ext cx="6957788" cy="5126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52" y="2799663"/>
            <a:ext cx="3888605" cy="98937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03154" y="4499828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파이썬의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장고 프레임워크에서도 폼의 데이터는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 POST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방식만을 사용하고 있음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A101810-4D28-4F80-1C1A-5CA0885B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696844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0FC333B3-6FD8-2C2B-4B4F-447AA57030F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en-US" altLang="ko-KR" dirty="0">
                <a:solidFill>
                  <a:srgbClr val="000000"/>
                </a:solidFill>
                <a:latin typeface="Helvetica Neue"/>
                <a:ea typeface="굴림" charset="-127"/>
              </a:rPr>
              <a:t>HTTP </a:t>
            </a:r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프로토콜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43383" y="1700808"/>
            <a:ext cx="2976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1.3.3 GET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과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POST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메소드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A101810-4D28-4F80-1C1A-5CA0885B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52" y="2420888"/>
            <a:ext cx="3538604" cy="2572925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827584" y="5241584"/>
            <a:ext cx="4630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1-8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네이버의 검색 창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– GET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방식 전달</a:t>
            </a:r>
          </a:p>
        </p:txBody>
      </p:sp>
    </p:spTree>
    <p:extLst>
      <p:ext uri="{BB962C8B-B14F-4D97-AF65-F5344CB8AC3E}">
        <p14:creationId xmlns:p14="http://schemas.microsoft.com/office/powerpoint/2010/main" val="1586759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BE4105B9-8165-EC15-60BD-AF7FAD251EC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프</a:t>
            </a:r>
            <a:r>
              <a:rPr kumimoji="1" lang="ko-KR" altLang="en-US" dirty="0">
                <a:latin typeface="+mn-lt"/>
              </a:rPr>
              <a:t>로토콜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1983" y="1763524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1.3.4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상태 코드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389119" y="5366275"/>
            <a:ext cx="6842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서버에서의 처리 결과는 응답 메시지의 상태라인에 있는 상태 코드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Status code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를 보고 파악할 수 있음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710" y="2173041"/>
            <a:ext cx="5544616" cy="260848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385710" y="485986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표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1-2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상태 코드 분류 </a:t>
            </a: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635F998B-CA9C-12FA-6CEF-3384747E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296984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11">
            <a:extLst>
              <a:ext uri="{FF2B5EF4-FFF2-40B4-BE49-F238E27FC236}">
                <a16:creationId xmlns:a16="http://schemas.microsoft.com/office/drawing/2014/main" id="{5B2617BC-583F-1A9F-2871-C129E84D4E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lang="en-US" altLang="ko-KR" dirty="0"/>
              <a:t>HTTP </a:t>
            </a:r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프로토콜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460389"/>
            <a:ext cx="6552728" cy="308276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03648" y="5700918"/>
            <a:ext cx="3441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표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1-3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자주 사용되는 상태 코드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99592" y="1812396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1.3.4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상태 코드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81516B7-25FD-7E98-C27B-B2101D3E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009708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598" y="1052736"/>
            <a:ext cx="4991778" cy="568949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94690" y="1763752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1.3.4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상태 코드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89FD1B69-1453-2EA7-9D99-3BD88AF9F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9" name="내용 개체 틀 11">
            <a:extLst>
              <a:ext uri="{FF2B5EF4-FFF2-40B4-BE49-F238E27FC236}">
                <a16:creationId xmlns:a16="http://schemas.microsoft.com/office/drawing/2014/main" id="{274DE925-D338-9DAA-7AC8-8C68714BC6B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프</a:t>
            </a:r>
            <a:r>
              <a:rPr kumimoji="1" lang="ko-KR" altLang="en-US" dirty="0">
                <a:latin typeface="+mn-lt"/>
              </a:rPr>
              <a:t>로토콜</a:t>
            </a:r>
          </a:p>
        </p:txBody>
      </p:sp>
    </p:spTree>
    <p:extLst>
      <p:ext uri="{BB962C8B-B14F-4D97-AF65-F5344CB8AC3E}">
        <p14:creationId xmlns:p14="http://schemas.microsoft.com/office/powerpoint/2010/main" val="2693410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11">
            <a:extLst>
              <a:ext uri="{FF2B5EF4-FFF2-40B4-BE49-F238E27FC236}">
                <a16:creationId xmlns:a16="http://schemas.microsoft.com/office/drawing/2014/main" id="{812C366B-FE17-6B28-B53E-18B08F4FDF3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en-US" altLang="ko-KR" dirty="0">
                <a:latin typeface="+mn-lt"/>
              </a:rPr>
              <a:t>URL </a:t>
            </a:r>
            <a:r>
              <a:rPr kumimoji="1" lang="ko-KR" altLang="en-US" dirty="0">
                <a:latin typeface="+mn-lt"/>
              </a:rPr>
              <a:t>설계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24196"/>
            <a:ext cx="9191312" cy="121677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60303" y="3556281"/>
            <a:ext cx="2676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1-9 URL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구성 항목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50856" y="4204274"/>
            <a:ext cx="79928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URL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스킴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: URL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에 사용된 프로토콜을 의미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● 호스트명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웹 서버의 호스트명으로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도메인명 또는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IP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주소로 표현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● 포트번호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웹 서버 내의 서비스 포트번호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생략 시에는 디폴트 포트번호로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, http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는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80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을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, https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는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443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을 사용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● 경로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파일이나 애플리케이션 경로를 의미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●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쿼리스트링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질의 문자열로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앰퍼샌드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(&amp;)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로 구분된 이름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=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값 쌍 형식으로 표현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●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프라그먼트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문서 내의 앵커 등 조각을 지정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 </a:t>
            </a:r>
            <a:endParaRPr lang="ko-KR" altLang="en-US" dirty="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B8405D9-7483-A3FA-F6B8-2DCA611C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00280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E2DA0B31-43B0-DDCC-A85F-F835C66222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en-US" altLang="ko-KR" dirty="0">
                <a:latin typeface="+mn-lt"/>
              </a:rPr>
              <a:t>URL </a:t>
            </a:r>
            <a:r>
              <a:rPr kumimoji="1" lang="ko-KR" altLang="en-US" dirty="0">
                <a:latin typeface="+mn-lt"/>
              </a:rPr>
              <a:t>설계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55781" y="1836084"/>
            <a:ext cx="3031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1.4.1 URL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을 바라보는 측면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67438" y="2375087"/>
            <a:ext cx="7537009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은 웹 클라이언트에서 호출한다는 시점에서 보면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서버에 존재하는 애플리케이션에 대 한 </a:t>
            </a:r>
            <a:r>
              <a:rPr lang="en-US" altLang="ko-KR" sz="2100" dirty="0" err="1">
                <a:solidFill>
                  <a:srgbClr val="000000"/>
                </a:solidFill>
                <a:latin typeface="ITC Garamond Std"/>
              </a:rPr>
              <a:t>API</a:t>
            </a:r>
            <a:r>
              <a:rPr lang="en-US" altLang="ko-KR" sz="788" dirty="0" err="1">
                <a:solidFill>
                  <a:srgbClr val="000000"/>
                </a:solidFill>
                <a:latin typeface="ITC Garamond Std"/>
              </a:rPr>
              <a:t>Application</a:t>
            </a:r>
            <a:r>
              <a:rPr lang="en-US" altLang="ko-KR" sz="788" dirty="0">
                <a:solidFill>
                  <a:srgbClr val="000000"/>
                </a:solidFill>
                <a:latin typeface="ITC Garamond Std"/>
              </a:rPr>
              <a:t> Programming Interface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라고 할 수 있음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67436" y="4153289"/>
            <a:ext cx="7320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바라보는 또 한 가지 측면은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REST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방식으로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설계하는 것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YoonV YoonGothic100Std_OTF"/>
              </a:rPr>
              <a:t>REST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방식이란 웹 서버에 존재하는 요소들을 모두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리소스라고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정의하고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통해 웹 서버의 특정 리소스를 표현한다는 개념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7" y="3241748"/>
            <a:ext cx="6511863" cy="662223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EAAAA4AD-8CF5-44EF-1412-4E6B1E81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073925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3358F881-E5CD-22E3-0B51-12FFBD4A539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en-US" altLang="ko-KR" dirty="0">
                <a:latin typeface="+mn-lt"/>
              </a:rPr>
              <a:t>URL </a:t>
            </a:r>
            <a:r>
              <a:rPr kumimoji="1" lang="ko-KR" altLang="en-US" dirty="0">
                <a:latin typeface="+mn-lt"/>
              </a:rPr>
              <a:t>설계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1681619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1.4.2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간편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URL</a:t>
            </a:r>
            <a:endParaRPr lang="ko-KR" altLang="en-US" dirty="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50749" y="5394644"/>
            <a:ext cx="7586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간편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은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쿼리스트링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없이 경로만 가진 간단한 구조의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말함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검색 엔진 의 처리를 최적화하기 위해 생겨난 간편한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은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입력하거나 기억하기 쉽다는 부수적인 장점도 있어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검색 엔진 친화적 </a:t>
            </a:r>
            <a:r>
              <a:rPr lang="en-US" altLang="ko-KR" dirty="0" err="1">
                <a:solidFill>
                  <a:srgbClr val="000000"/>
                </a:solidFill>
                <a:latin typeface="ITC Garamond Std"/>
              </a:rPr>
              <a:t>URL</a:t>
            </a:r>
            <a:r>
              <a:rPr lang="en-US" altLang="ko-KR" sz="788" dirty="0" err="1">
                <a:solidFill>
                  <a:srgbClr val="000000"/>
                </a:solidFill>
                <a:latin typeface="ITC Garamond Std"/>
              </a:rPr>
              <a:t>search</a:t>
            </a:r>
            <a:r>
              <a:rPr lang="en-US" altLang="ko-KR" sz="788" dirty="0">
                <a:solidFill>
                  <a:srgbClr val="000000"/>
                </a:solidFill>
                <a:latin typeface="ITC Garamond Std"/>
              </a:rPr>
              <a:t> engine friendly </a:t>
            </a:r>
            <a:r>
              <a:rPr lang="en-US" altLang="ko-KR" sz="788" dirty="0" err="1">
                <a:solidFill>
                  <a:srgbClr val="000000"/>
                </a:solidFill>
                <a:latin typeface="ITC Garamond Std"/>
              </a:rPr>
              <a:t>url</a:t>
            </a:r>
            <a:r>
              <a:rPr lang="en-US" altLang="ko-KR" sz="600" dirty="0">
                <a:solidFill>
                  <a:srgbClr val="000000"/>
                </a:solidFill>
                <a:latin typeface="ITC Garamond Std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또는 사용자 친화적 </a:t>
            </a:r>
            <a:r>
              <a:rPr lang="en-US" altLang="ko-KR" dirty="0" err="1">
                <a:solidFill>
                  <a:srgbClr val="000000"/>
                </a:solidFill>
                <a:latin typeface="ITC Garamond Std"/>
              </a:rPr>
              <a:t>URL</a:t>
            </a:r>
            <a:r>
              <a:rPr lang="en-US" altLang="ko-KR" sz="788" dirty="0" err="1">
                <a:solidFill>
                  <a:srgbClr val="000000"/>
                </a:solidFill>
                <a:latin typeface="ITC Garamond Std"/>
              </a:rPr>
              <a:t>user</a:t>
            </a:r>
            <a:r>
              <a:rPr lang="en-US" altLang="ko-KR" sz="788" dirty="0">
                <a:solidFill>
                  <a:srgbClr val="000000"/>
                </a:solidFill>
                <a:latin typeface="ITC Garamond Std"/>
              </a:rPr>
              <a:t> friendly </a:t>
            </a:r>
            <a:r>
              <a:rPr lang="en-US" altLang="ko-KR" sz="788" dirty="0" err="1">
                <a:solidFill>
                  <a:srgbClr val="000000"/>
                </a:solidFill>
                <a:latin typeface="ITC Garamond Std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이라고 부르기도 함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893" y="2183937"/>
            <a:ext cx="5474200" cy="307772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486993" y="1681619"/>
            <a:ext cx="6192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1-4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기존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과 간편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URL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간의 비교를 위한 대응 예시 </a:t>
            </a: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3E714436-FC27-4CE8-6696-D37508C6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894593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24D0BDD0-6639-DFCD-FF39-0081217A92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en-US" altLang="ko-KR" dirty="0">
                <a:latin typeface="+mn-lt"/>
              </a:rPr>
              <a:t>URL </a:t>
            </a:r>
            <a:r>
              <a:rPr kumimoji="1" lang="ko-KR" altLang="en-US" dirty="0">
                <a:latin typeface="+mn-lt"/>
              </a:rPr>
              <a:t>설계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27584" y="1669726"/>
            <a:ext cx="3023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1.4.3 </a:t>
            </a:r>
            <a:r>
              <a:rPr lang="ko-KR" altLang="en-US" dirty="0" err="1">
                <a:solidFill>
                  <a:srgbClr val="000000"/>
                </a:solidFill>
                <a:latin typeface="Helvetica Neue"/>
              </a:rPr>
              <a:t>파이썬의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우아한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URL </a:t>
            </a:r>
            <a:endParaRPr lang="ko-KR" altLang="en-US" dirty="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43608" y="5567441"/>
            <a:ext cx="72958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Gothic100Std_OTF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Gothic100Std_OTF"/>
              </a:rPr>
              <a:t>을 정의하 기 위해 정규표현식 </a:t>
            </a:r>
            <a:r>
              <a:rPr lang="en-US" altLang="ko-KR" dirty="0">
                <a:solidFill>
                  <a:srgbClr val="000000"/>
                </a:solidFill>
                <a:latin typeface="YoonV YoonGothic100Std_OTF"/>
              </a:rPr>
              <a:t>Regular Expression</a:t>
            </a:r>
            <a:r>
              <a:rPr lang="ko-KR" altLang="en-US" dirty="0">
                <a:solidFill>
                  <a:srgbClr val="000000"/>
                </a:solidFill>
                <a:latin typeface="YoonV YoonGothic100Std_OTF"/>
              </a:rPr>
              <a:t>을 추가적으로 사용할 수 있음</a:t>
            </a:r>
            <a:r>
              <a:rPr lang="en-US" altLang="ko-KR" dirty="0">
                <a:solidFill>
                  <a:srgbClr val="000000"/>
                </a:solidFill>
                <a:latin typeface="YoonV YoonGothic100Std_OTF"/>
              </a:rPr>
              <a:t>. </a:t>
            </a:r>
            <a:endParaRPr lang="ko-KR" altLang="en-US" dirty="0">
              <a:solidFill>
                <a:srgbClr val="000000"/>
              </a:solidFill>
              <a:latin typeface="YoonV YoonGothic100Std_OTF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162287"/>
            <a:ext cx="6192203" cy="157454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793" y="3746438"/>
            <a:ext cx="6109090" cy="1574545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B08146D7-B97C-A0BF-E2CC-3DF4E40B0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695816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18FD76A1-1366-DEFF-DC66-8456AFF39C7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애플리케이션 서버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115616" y="1919058"/>
            <a:ext cx="7200800" cy="2158013"/>
            <a:chOff x="2801654" y="907967"/>
            <a:chExt cx="6244938" cy="249953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1654" y="907967"/>
              <a:ext cx="6244938" cy="1550756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1654" y="2458723"/>
              <a:ext cx="6244938" cy="948777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1085846" y="4596800"/>
            <a:ext cx="7662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웹 서버 및 웹 애플리케이션 서버라는 용어는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SW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측면의 서버 프로그램을 의미</a:t>
            </a: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D7B429CD-168F-1FA6-D466-70466F3A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695296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18FD76A1-1366-DEFF-DC66-8456AFF39C7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애플리케이션 서버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07" y="2256096"/>
            <a:ext cx="7404801" cy="202163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051720" y="4556393"/>
            <a:ext cx="5378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1-10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기술의 발전에 따른 웹 서버 기술의 변화 </a:t>
            </a: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D7B429CD-168F-1FA6-D466-70466F3A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324030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1">
            <a:extLst>
              <a:ext uri="{FF2B5EF4-FFF2-40B4-BE49-F238E27FC236}">
                <a16:creationId xmlns:a16="http://schemas.microsoft.com/office/drawing/2014/main" id="{250673ED-1A56-909F-8ABA-E57941994C5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애플리케이션 서버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1735320"/>
            <a:ext cx="3526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1.5.1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정적 페이지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vs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동적 페이지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55576" y="2276872"/>
            <a:ext cx="7632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정적</a:t>
            </a:r>
            <a:r>
              <a:rPr lang="en-US" altLang="ko-KR" sz="900" dirty="0">
                <a:solidFill>
                  <a:srgbClr val="000000"/>
                </a:solidFill>
                <a:latin typeface="ITC Garamond Std"/>
              </a:rPr>
              <a:t>static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동적</a:t>
            </a:r>
            <a:r>
              <a:rPr lang="en-US" altLang="ko-KR" sz="788" dirty="0">
                <a:solidFill>
                  <a:srgbClr val="000000"/>
                </a:solidFill>
                <a:latin typeface="ITC Garamond Std"/>
              </a:rPr>
              <a:t>dynamic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이란 용어는 사용자가 페이지를 요청하는 시점에 페이지의 내용이 유지되는가 또는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변경되는가를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구분해주는 용어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동적 페이지에는 프로그래밍 코드가 포함되어 있어서 페이지 요청 시점에 </a:t>
            </a:r>
            <a:r>
              <a:rPr lang="en-US" altLang="ko-KR" dirty="0">
                <a:solidFill>
                  <a:srgbClr val="000000"/>
                </a:solidFill>
                <a:latin typeface="ITC Garamond Std"/>
              </a:rPr>
              <a:t>HTML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문장을 만들어내는 것</a:t>
            </a:r>
            <a:endParaRPr lang="ko-KR" alt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93C035E2-78DD-1B88-37C1-EACF1CD9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4105889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5FDCF44F-480E-FDAC-6B21-8D6DEBFD7D5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애플리케이션 서버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1693402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1.5.2 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방식의 단점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062734"/>
            <a:ext cx="7056784" cy="227710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354929" y="4035612"/>
            <a:ext cx="4249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1-11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전통적인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방식의 요청 처리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63588" y="4664587"/>
            <a:ext cx="77048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방식의 근본적인 문제점은 각각의 클라이언트 요청에 대하여 독립적인 별도의 프로세스가 생성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요청이 많아질수록 프로세스가 많아지고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프로세스가 많아질수록 비례적으로 프로세스가 점유하는 메모리 요구량도 커져서 시스템에 많은 부하를 주는 요인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endParaRPr lang="ko-KR" altLang="en-US" sz="1200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2A76F965-7ABE-C44E-02BA-EE4328F2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422620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1">
            <a:extLst>
              <a:ext uri="{FF2B5EF4-FFF2-40B4-BE49-F238E27FC236}">
                <a16:creationId xmlns:a16="http://schemas.microsoft.com/office/drawing/2014/main" id="{78A6E31D-B324-7B67-574A-615AC0AD46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</a:t>
            </a:r>
            <a:r>
              <a:rPr kumimoji="1" lang="ko-KR" altLang="en-US" dirty="0">
                <a:solidFill>
                  <a:srgbClr val="000000"/>
                </a:solidFill>
                <a:latin typeface="YoonV YoonMyungjo100Std_OTF"/>
                <a:ea typeface="굴림" charset="-127"/>
              </a:rPr>
              <a:t>애플리케이션 서버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1878877"/>
            <a:ext cx="2930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1.5.3 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방식의 대안 기술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71600" y="2526870"/>
            <a:ext cx="777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방식의 대안 기술 중 하나는 별도의 애플리케이션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프로그램과 같은 역할을 하는 프로그램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Perl, PHP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등의 스크립트 언어로 작성하고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스크립트를 처리하는 스크립트 엔진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인터프리터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을 웹 서버에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내장시켜서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방식의 단점이었던 별도의 프로세스를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기동시키는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오버헤드를 줄이는 방식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63C98282-69A1-9519-A6D7-07AE665D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581034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1">
            <a:extLst>
              <a:ext uri="{FF2B5EF4-FFF2-40B4-BE49-F238E27FC236}">
                <a16:creationId xmlns:a16="http://schemas.microsoft.com/office/drawing/2014/main" id="{E48E4356-E832-D243-9176-AB477972795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애플리케이션 서버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7811" y="1667282"/>
            <a:ext cx="3228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1.5.4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애플리케이션 서버 방식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007" y="2308422"/>
            <a:ext cx="4722320" cy="118329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989007" y="3491716"/>
            <a:ext cx="4847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1-12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애플리케이션 서버 방식의 요청 처리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007" y="4221088"/>
            <a:ext cx="4722320" cy="79248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70790" y="5173388"/>
            <a:ext cx="5824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1-13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애플리케이션 서버 방식에서의 서버 간 구성도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81454" y="5701896"/>
            <a:ext cx="79251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서버와 웹 애플리케이션 서버가 분리됨에 따라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서로의 역할도 구분하여 사용하는 것이 좋음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왜냐하면 정적 페이지를 처리하는 경우에 비해서 동적 페이지를 처리하는 경우가 수 배에서 수십 배의 메모리를 소비하기 때문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F2E1CC5D-CD91-7CCD-C6C2-F4A48DBE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743342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2E1D5E15-D21D-765B-DC86-4DCA2971509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웹 </a:t>
            </a:r>
            <a:r>
              <a:rPr kumimoji="1" lang="ko-KR" altLang="en-US" dirty="0">
                <a:solidFill>
                  <a:srgbClr val="000000"/>
                </a:solidFill>
                <a:latin typeface="YoonV YoonMyungjo100Std_OTF"/>
                <a:ea typeface="굴림" charset="-127"/>
              </a:rPr>
              <a:t>애플리케이션</a:t>
            </a:r>
            <a:r>
              <a:rPr kumimoji="1" lang="ko-KR" altLang="en-US" dirty="0">
                <a:solidFill>
                  <a:srgbClr val="000000"/>
                </a:solidFill>
                <a:latin typeface="Helvetica Neue"/>
                <a:ea typeface="굴림" charset="-127"/>
              </a:rPr>
              <a:t> 서버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43383" y="1835532"/>
            <a:ext cx="3050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1.5.5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서버와의 역할 구분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239274"/>
            <a:ext cx="6662538" cy="177667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549823" y="4050362"/>
            <a:ext cx="6685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1-14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서버와 애플리케이션 서버의 역할과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HW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배치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89499" y="4653137"/>
            <a:ext cx="7965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지금까지 웹 서버 및 웹 애플리케이션 서버라는 용어를 사용하였는데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이는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SWSoftware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측면의 서버 프로그램을 의미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11560" y="5397023"/>
            <a:ext cx="8136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서버와 웹 애플리케이션 서버 프로그램이 함께 필요하며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 두 개의 서버를 동일한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HW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박스에서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기동시키는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것도 충분히 가능한 구성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서비스 운용 관리 측면에서 하나의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HW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박스에 구성하는 것이 좀 더 간편한 방식이기 때문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B3570A2D-CF61-0A57-9727-970C22EE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357234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87272BD-F106-A3FB-10F4-658AA845C6F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라이브러리 구성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019168"/>
            <a:ext cx="5760640" cy="325999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33427" y="1685079"/>
            <a:ext cx="2481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2.1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라이브러리 구성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53976" y="5362917"/>
            <a:ext cx="80648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urllib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패키지에는 웹 클라이언트를 작성하는 데 사용되는 모듈들이 있으며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가장 빈번하게 사용하는 모듈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http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패키지는 크게 서버용과 클라이언트용 라이브러리로 나누어 모듈을 담고 있으며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쿠키 관련 라이브러리도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http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패키지 내에서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서버용과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클라이언트용으로 모듈이 구분</a:t>
            </a:r>
          </a:p>
        </p:txBody>
      </p:sp>
    </p:spTree>
    <p:extLst>
      <p:ext uri="{BB962C8B-B14F-4D97-AF65-F5344CB8AC3E}">
        <p14:creationId xmlns:p14="http://schemas.microsoft.com/office/powerpoint/2010/main" val="2039531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4EA426E-0B83-9491-30E0-575A1D57BF4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라이브러리 구성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616705" y="2073079"/>
            <a:ext cx="69523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2-1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파이썬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3.x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에서 표준 라이브러리의 모듈 구성 변경사항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47664" y="2604455"/>
            <a:ext cx="6282548" cy="3622270"/>
            <a:chOff x="2586874" y="1864322"/>
            <a:chExt cx="5553227" cy="3226672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4452" y="4065409"/>
              <a:ext cx="5515649" cy="1025585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874" y="1864322"/>
              <a:ext cx="5515649" cy="2313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9706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82D8ED-AB63-D666-CF4E-0B28C48031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클라이언트 라이브러리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539552" y="2132856"/>
            <a:ext cx="8352928" cy="3341728"/>
            <a:chOff x="2672219" y="1591984"/>
            <a:chExt cx="6096000" cy="4455637"/>
          </a:xfrm>
        </p:grpSpPr>
        <p:sp>
          <p:nvSpPr>
            <p:cNvPr id="2" name="직사각형 1"/>
            <p:cNvSpPr/>
            <p:nvPr/>
          </p:nvSpPr>
          <p:spPr>
            <a:xfrm>
              <a:off x="2672219" y="1591984"/>
              <a:ext cx="6096000" cy="1231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웹 클라이언트를 위한 파이썬 표준 라이브러리가 있지만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,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실제 프로젝트에서는 외부 라이브러리인 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requests, beautifulsoup4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등을 더 많이 사용하는 편입니다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.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좀 더 간편하고 이해하기 쉬운 문법을 제공하기 때문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672219" y="3339188"/>
              <a:ext cx="6096000" cy="270843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Python Shell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실행 파이썬 언어는 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2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가지 실행 방법을 제공합니다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.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하나는 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python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명령어로 파이썬 스크립트 파일 즉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, *.</a:t>
              </a:r>
              <a:r>
                <a:rPr lang="en-US" altLang="ko-KR" dirty="0" err="1">
                  <a:solidFill>
                    <a:srgbClr val="000000"/>
                  </a:solidFill>
                  <a:latin typeface="YoonV YoonMyungjo100Std_OTF"/>
                </a:rPr>
                <a:t>py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파일을 실 행하는 방법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(&gt; python example.py).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또 다른 방법은 파이썬 쉘 모드에서 라인 단위로 실행하는 </a:t>
              </a:r>
              <a:r>
                <a:rPr lang="ko-KR" altLang="en-US" dirty="0" err="1">
                  <a:solidFill>
                    <a:srgbClr val="000000"/>
                  </a:solidFill>
                  <a:latin typeface="YoonV YoonMyungjo100Std_OTF"/>
                </a:rPr>
                <a:t>것입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 </a:t>
              </a:r>
              <a:r>
                <a:rPr lang="ko-KR" altLang="en-US" dirty="0" err="1">
                  <a:solidFill>
                    <a:srgbClr val="000000"/>
                  </a:solidFill>
                  <a:latin typeface="YoonV YoonMyungjo100Std_OTF"/>
                </a:rPr>
                <a:t>니다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.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파이썬 쉘 모드로 진입하려면 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python </a:t>
              </a:r>
              <a:r>
                <a:rPr lang="ko-KR" altLang="en-US" dirty="0">
                  <a:solidFill>
                    <a:srgbClr val="000000"/>
                  </a:solidFill>
                  <a:latin typeface="YoonV YoonMyungjo100Std_OTF"/>
                </a:rPr>
                <a:t>명령어만 입력</a:t>
              </a:r>
              <a:r>
                <a:rPr lang="en-US" altLang="ko-KR" dirty="0">
                  <a:solidFill>
                    <a:srgbClr val="000000"/>
                  </a:solidFill>
                  <a:latin typeface="YoonV YoonMyungjo100Std_OTF"/>
                </a:rPr>
                <a:t>(&gt;python </a:t>
              </a:r>
              <a:endParaRPr lang="ko-KR" altLang="en-US" dirty="0">
                <a:solidFill>
                  <a:srgbClr val="000000"/>
                </a:solidFill>
                <a:latin typeface="YoonV YoonMyungjo100Std_OTF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838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60" y="2276560"/>
            <a:ext cx="6120680" cy="201246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2DEA7D7-44FD-B10E-3C99-296C349FC14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클라이언트 라이브러리</a:t>
            </a:r>
          </a:p>
          <a:p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11012" y="1763524"/>
            <a:ext cx="232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2.2.1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urllib.parse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39552" y="4372771"/>
            <a:ext cx="846043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scheme : 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에 사용된 프로토콜을 의미합니다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netloc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: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네트워크 위치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user :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password@host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:port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형식으로 표현되며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HTTP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프로토콜인 경우는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host:port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형식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path :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파일이나 애플리케이션 경로를 의미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params :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애플리케이션에 전달될 매개변수입니다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현재는 사용하지 않음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query :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질의 문자열 또는 매개변수로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앰퍼샌드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(&amp;)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로 구분된 이름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=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값 쌍 형식으로 표현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fragment :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문서 내의 앵커 등 조각을 지정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</p:spTree>
    <p:extLst>
      <p:ext uri="{BB962C8B-B14F-4D97-AF65-F5344CB8AC3E}">
        <p14:creationId xmlns:p14="http://schemas.microsoft.com/office/powerpoint/2010/main" val="437071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92" y="1868493"/>
            <a:ext cx="6117820" cy="854140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B1B511-AD73-0603-C890-AC7EDD9A20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클라이언트 라이브러리</a:t>
            </a:r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93208" y="4509120"/>
            <a:ext cx="80552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인자로 지정한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로 연결하고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유사 파일 객체를 반환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인자는 문자열이거나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Request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클래스의 인스턴스가 올 수 있음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에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file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스킴을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지정하면 로컬 파일을 열 수 있음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디폴트 요청 방식은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GET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서버에 전달할 파라미터가 있으면 질의 문자열을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인자에 포함해서 보냄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요청 방식을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POST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로 보내고 싶으면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data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인자에 질의 문자열을 지정해주면 됨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</a:p>
          <a:p>
            <a:pPr algn="just"/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● 옵션인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timeout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은 응답을 기다리는 타임아웃 시간을 초로 표시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92" y="2803458"/>
            <a:ext cx="7128628" cy="98558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46845" y="3867873"/>
            <a:ext cx="3246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2-2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urlopen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()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함수 사용 방법</a:t>
            </a:r>
          </a:p>
        </p:txBody>
      </p:sp>
    </p:spTree>
    <p:extLst>
      <p:ext uri="{BB962C8B-B14F-4D97-AF65-F5344CB8AC3E}">
        <p14:creationId xmlns:p14="http://schemas.microsoft.com/office/powerpoint/2010/main" val="1389259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61D35127-8EE5-7901-28A2-2244ABF3001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클라이언트 라이브러리</a:t>
            </a:r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43383" y="1691516"/>
            <a:ext cx="3042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2.2.3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urllib.request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예제 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123728" y="2204864"/>
            <a:ext cx="5080663" cy="4248472"/>
            <a:chOff x="3956239" y="1225731"/>
            <a:chExt cx="3627720" cy="455707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6239" y="1225731"/>
              <a:ext cx="3627720" cy="3834782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6239" y="5060513"/>
              <a:ext cx="3627720" cy="7222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8860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199959"/>
            <a:ext cx="7041413" cy="162981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450D4D-DCCF-9ADA-D3E1-9475752CEA5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클라이언트 라이브러리</a:t>
            </a:r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13139" y="1542506"/>
            <a:ext cx="2237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2.2.4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http.client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105806" y="3923764"/>
            <a:ext cx="4186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2-3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http.client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사용 시 코딩 순서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39552" y="4715329"/>
            <a:ext cx="82089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GET, POST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이외의 방식으로 요청을 보내거나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요청 헤더와 바디 사이에 타이머 를 두어 시간을 지연시키는 등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urllib.request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모듈로는 쉽게 처리할 수 없는 경우 혹은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HTTP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프로토콜 요청에 대한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저수준의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더 세밀한 기능이 필요할 때는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http.client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모듈을 사용함</a:t>
            </a:r>
          </a:p>
        </p:txBody>
      </p:sp>
    </p:spTree>
    <p:extLst>
      <p:ext uri="{BB962C8B-B14F-4D97-AF65-F5344CB8AC3E}">
        <p14:creationId xmlns:p14="http://schemas.microsoft.com/office/powerpoint/2010/main" val="26974311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00" y="2212954"/>
            <a:ext cx="3586295" cy="3376286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EB75C44-C2C1-C22B-4485-288A6DC01F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클라이언트 라이브러리</a:t>
            </a:r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19558" y="1691516"/>
            <a:ext cx="2698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2.2.5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http.client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예제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761" y="2212954"/>
            <a:ext cx="3586295" cy="337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31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0"/>
          <a:stretch/>
        </p:blipFill>
        <p:spPr>
          <a:xfrm>
            <a:off x="1813253" y="2060848"/>
            <a:ext cx="5880084" cy="249003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949" y="4550886"/>
            <a:ext cx="5880083" cy="202266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43383" y="1691516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2.3.1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간단한 웹 서버</a:t>
            </a: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A953A372-2478-5066-4B38-A1CE18F8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D5190CE-5066-7F4E-31A1-8304C16CB91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r>
              <a:rPr lang="ko-KR" altLang="en-US" dirty="0"/>
              <a:t>웹 서버 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541302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D71E3B2-8B67-FA93-B51B-A90D91150E6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서버 라이브러리</a:t>
            </a:r>
          </a:p>
          <a:p>
            <a:endParaRPr kumimoji="1" lang="ko-KR" altLang="en-US" dirty="0">
              <a:solidFill>
                <a:srgbClr val="000000"/>
              </a:solidFill>
              <a:latin typeface="YoonV YoonMyungjo100Std_OTF"/>
              <a:ea typeface="굴림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873" y="3612727"/>
            <a:ext cx="2698562" cy="4619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2994" y="1668878"/>
            <a:ext cx="5556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2.3.2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및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BaseHTTPRequestHandler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99592" y="2072019"/>
            <a:ext cx="78488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앞 절에서 설명한 것처럼 우리가 원하는 웹 서버를 만들기 위해서는 기반 클래스를 임포트하거나 상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속받아야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함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</a:p>
          <a:p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이처럼 기반이 되는 클래스가 바로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및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BaseHTTPRequestHandler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965" y="4484068"/>
            <a:ext cx="2698562" cy="46191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16741" y="6178568"/>
            <a:ext cx="460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2-4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(my_httpserver.py)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실행 화면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65" y="4253111"/>
            <a:ext cx="2698562" cy="4619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962" y="4833487"/>
            <a:ext cx="2552367" cy="119444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4536713" y="5803278"/>
            <a:ext cx="460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2-5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(my_httpserver.py)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접속 결과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5964AA5-83EA-B60F-BEBC-9E5EEE3C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514155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AFFFD04-E530-62E8-B327-3A8E46828A7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서버 라이브러리</a:t>
            </a:r>
          </a:p>
          <a:p>
            <a:endParaRPr kumimoji="1" lang="ko-KR" altLang="en-US" dirty="0">
              <a:solidFill>
                <a:srgbClr val="000000"/>
              </a:solidFill>
              <a:latin typeface="YoonV YoonMyungjo100Std_OTF"/>
              <a:ea typeface="굴림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831" y="2169175"/>
            <a:ext cx="5004338" cy="79468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812352" y="1763524"/>
            <a:ext cx="3334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2.3.3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SimpleHTTPRequestHandler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831" y="3051578"/>
            <a:ext cx="5004338" cy="460522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069831" y="3599823"/>
            <a:ext cx="3570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2-6 Simple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 실행 화면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628" y="4154009"/>
            <a:ext cx="3408888" cy="1543249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521668" y="5840264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디렉토리 리스트가 나오는 것은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SimpleHTTPRequestHandler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의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do_GET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()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메소드가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디렉토리 리스트를 반환하도록 구현되어 있기 때문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D418E09-FFC1-D2EE-8C67-DFBB54FC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33237446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43383" y="2261571"/>
            <a:ext cx="77890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SimpleHTTPRequestHandler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클래스와 유사하게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CGIHTTPRequestHandler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클래스가 미리 구현되어 있어서 필요할 때 즉시 웹 서버를 실행할 수 있습니다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CGIHTTPRequestHandler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클래스에는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do_POST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()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메소드가 정의되어 있어서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POST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방식을 처리할 수 있습니다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물론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SimpleHTTPRequestHandler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클래스를 상속받고 있어서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GET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및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HEAD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방식도 처리합니다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D3C74A7-5652-2BDA-15C7-182BE21F94F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서버 라이브러리</a:t>
            </a:r>
          </a:p>
          <a:p>
            <a:endParaRPr kumimoji="1" lang="ko-KR" altLang="en-US" dirty="0">
              <a:solidFill>
                <a:srgbClr val="000000"/>
              </a:solidFill>
              <a:latin typeface="YoonV YoonMyungjo100Std_OTF"/>
              <a:ea typeface="굴림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10" y="3948572"/>
            <a:ext cx="4612985" cy="52374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43383" y="1691516"/>
            <a:ext cx="3871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2.3.4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CGIHTTPRequestHandler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95" y="4688720"/>
            <a:ext cx="5984395" cy="81184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73510" y="5500563"/>
            <a:ext cx="3209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2-8 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 실행 화면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98EDA9B2-FD26-6ED4-39B9-05211796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27998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61CB8B8-1301-491C-4A67-DB57C19585E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웹 서버 라이브러리</a:t>
            </a:r>
          </a:p>
          <a:p>
            <a:endParaRPr kumimoji="1" lang="ko-KR" altLang="en-US" dirty="0">
              <a:solidFill>
                <a:srgbClr val="000000"/>
              </a:solidFill>
              <a:latin typeface="YoonV YoonMyungjo100Std_OTF"/>
              <a:ea typeface="굴림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1" y="4376097"/>
            <a:ext cx="3660214" cy="14851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43382" y="1691516"/>
            <a:ext cx="71409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2.3.5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xxxHTTPServer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간의 관계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파이썬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2.×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버전만 해당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)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71600" y="2250654"/>
            <a:ext cx="79928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모든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HTTP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서버는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BaseHTTPServer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모듈의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클래스를 사용하여 작성하고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서버에 사용되는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핸들러는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BaseHTTPServer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모듈의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BaseHTTPRequestHandler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를 상속받아 작성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BaseHTTPServer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모듈이 기본이 되고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이를 확장한 모듈이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SimpleHTTPServer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모듈이며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CGIHTTPServer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모듈은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SimpleHTTPServer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모듈을 확장하여 작성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51520" y="5934547"/>
            <a:ext cx="5136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2-10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xxxHTTPServer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모듈의 클래스 간 상속도 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805" y="4502231"/>
            <a:ext cx="3660214" cy="466907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923928" y="5063355"/>
            <a:ext cx="5380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2-11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서버용 모듈의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test( )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함수 간 호출 관계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D386EC9-ECF6-7FAD-97AA-A4542A24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624557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D2CD7F-49FE-FFAD-5E62-0360E861E5C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CGI/WSGI </a:t>
            </a:r>
            <a:r>
              <a:rPr lang="ko-KR" altLang="en-US" dirty="0"/>
              <a:t>라이브러리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69390" y="1700808"/>
            <a:ext cx="2058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2.4.1 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관련 모듈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2276872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웹 서버가 사용자의 요청을 애플리케이션에 전달하고 애플리케이션의 처리 결과를 애플 리케이션으로부터 </a:t>
            </a:r>
            <a:r>
              <a:rPr lang="ko-KR" altLang="en-US" dirty="0" err="1">
                <a:solidFill>
                  <a:srgbClr val="000000"/>
                </a:solidFill>
                <a:latin typeface="YoonV YoonMyungjo100Std_OTF"/>
              </a:rPr>
              <a:t>되돌려받기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 위한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즉 웹 서버와 애플리케이션 간에 데이터를 주고받기 위한 규 격을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CGICommon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Gateway Interface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라고 함</a:t>
            </a:r>
          </a:p>
        </p:txBody>
      </p:sp>
    </p:spTree>
    <p:extLst>
      <p:ext uri="{BB962C8B-B14F-4D97-AF65-F5344CB8AC3E}">
        <p14:creationId xmlns:p14="http://schemas.microsoft.com/office/powerpoint/2010/main" val="10573019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82AE319-1EDF-7A17-2057-7C85D2A7E1A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CGI/WSGI </a:t>
            </a:r>
            <a:r>
              <a:rPr lang="ko-KR" altLang="en-US" dirty="0"/>
              <a:t>라이브러리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27584" y="1778567"/>
            <a:ext cx="1784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2.4.2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개요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27584" y="2235106"/>
            <a:ext cx="79208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앞 절에서 설명한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방식은 요청이 들어올 때마다 처리를 위한 프로세스가 생성되는 방식이라 서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짧은 시간에 수천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수만의 다량 요청을 받으면 서버의 부하가 높아져서 프로세스가 멈추거나 다운될 수도 있습니다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이러한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CGI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의 단점을 해결하고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파이썬 언어로 애플리케이션을 좀 더 쉽게 작성할 수 있도록 웹 서버와 웹 애플리케이션 간에 연동 규격을 정의한 것이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W 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규격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endParaRPr lang="ko-KR" altLang="en-US" dirty="0">
              <a:solidFill>
                <a:srgbClr val="000000"/>
              </a:solidFill>
              <a:latin typeface="YoonV YoonMyungjo100Std_OTF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ECA90C6A-DA0A-AE62-855E-602DDBAE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17325013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56AA179-4FFF-C5FA-94A0-D432A15151F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CGI/WSGI </a:t>
            </a:r>
            <a:r>
              <a:rPr kumimoji="1" lang="ko-KR" altLang="en-US" dirty="0">
                <a:solidFill>
                  <a:srgbClr val="000000"/>
                </a:solidFill>
                <a:latin typeface="YoonV YoonMyungjo100Std_OTF"/>
                <a:ea typeface="굴림" charset="-127"/>
              </a:rPr>
              <a:t>라이브러리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053264"/>
            <a:ext cx="5822103" cy="419025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43383" y="1700808"/>
            <a:ext cx="4485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2.4.3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서버의 애플리케이션 처리 과정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194215" y="6303923"/>
            <a:ext cx="4384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2-12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애플리케이션의 처리 순서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C5378C1-C98A-A9DA-2305-7A25992C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0738869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E042BBF-A60B-8F39-A48B-9E780FFB947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CGI/WSGI </a:t>
            </a:r>
            <a:r>
              <a:rPr lang="ko-KR" altLang="en-US" dirty="0"/>
              <a:t>라이브러리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865839"/>
            <a:ext cx="6768752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43383" y="1691516"/>
            <a:ext cx="3307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2.4.4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wsgiref.simple_server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모듈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25546" y="2358462"/>
            <a:ext cx="79928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이 모듈은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스펙을 준수하는 웹 서버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일명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에 대한 참조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reference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즉 개발자에게 참고 가 될 수 있도록 미리 만들어 놓은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WSGIServer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클래스와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WSGIRequestHandler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클래스를 정의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.</a:t>
            </a:r>
          </a:p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</a:t>
            </a: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장고의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runserver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도 이들 클래스를 사용하여 만든 테스트용 웹 서버 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C123EC0-3561-779E-ED2A-2E944184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912463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C7EA6BC-24C5-47B2-634A-E4072C4F1AC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CGI/WSGI </a:t>
            </a:r>
            <a:r>
              <a:rPr lang="ko-KR" altLang="en-US" dirty="0"/>
              <a:t>라이브러리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00" y="2125952"/>
            <a:ext cx="4414163" cy="72451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05315" y="1666754"/>
            <a:ext cx="2869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2.4.5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서버 동작 확인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20" y="3122785"/>
            <a:ext cx="5430981" cy="57959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959520" y="3748647"/>
            <a:ext cx="5083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2-14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서버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(my_wsgiserver.py)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실행 화면 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59" y="4463838"/>
            <a:ext cx="3512393" cy="1258997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959520" y="5532807"/>
            <a:ext cx="6643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그림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2-15 WSGI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서버에서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my_app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 ) Application 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실행 결과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63918F3E-9243-6EA8-B40C-FDBEB649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986728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파이썬 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PyCharm </a:t>
            </a:r>
            <a:r>
              <a:rPr lang="ko-KR" altLang="en-US" sz="1600" dirty="0"/>
              <a:t>설치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5052556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파이썬 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723900" lvl="1" indent="-457200">
              <a:buClr>
                <a:srgbClr val="3C479D"/>
              </a:buClr>
              <a:buAutoNum type="arabicParenR"/>
            </a:pPr>
            <a:r>
              <a:rPr lang="ko-KR" altLang="en-US" sz="1600" dirty="0"/>
              <a:t>파이썬 공식 홈페이지 주소</a:t>
            </a:r>
            <a:r>
              <a:rPr lang="en-US" altLang="ko-KR" sz="1600" dirty="0"/>
              <a:t>: </a:t>
            </a:r>
            <a:r>
              <a:rPr lang="en-US" altLang="ko-KR" sz="16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www.python.org</a:t>
            </a:r>
            <a:endParaRPr lang="en-US" altLang="ko-K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723900" lvl="1" indent="-457200">
              <a:buClr>
                <a:srgbClr val="3C479D"/>
              </a:buClr>
              <a:buAutoNum type="arabicParenR"/>
            </a:pPr>
            <a:r>
              <a:rPr lang="ko-KR" altLang="en-US" sz="1600" dirty="0"/>
              <a:t>파이썬 공식 홈페이지에서 </a:t>
            </a:r>
            <a:r>
              <a:rPr lang="en-US" altLang="ko-KR" sz="1600" dirty="0"/>
              <a:t>[Downloads] </a:t>
            </a:r>
            <a:r>
              <a:rPr lang="ko-KR" altLang="en-US" sz="1600" dirty="0"/>
              <a:t>메뉴를 누르고 윈도우용 파이썬 설치 파일을 </a:t>
            </a:r>
            <a:r>
              <a:rPr lang="ko-KR" altLang="en-US" sz="1600" dirty="0" err="1"/>
              <a:t>내려받기</a:t>
            </a:r>
            <a:endParaRPr lang="en-US" altLang="ko-KR" sz="1600" dirty="0"/>
          </a:p>
          <a:p>
            <a:pPr marL="609600" lvl="1" indent="-342900">
              <a:buClr>
                <a:srgbClr val="3C479D"/>
              </a:buClr>
              <a:buAutoNum type="arabicPeriod"/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BAC7D0-A089-5C8A-AFD3-3A5EE6B51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24" y="3573016"/>
            <a:ext cx="5268788" cy="29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985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파이썬 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3) </a:t>
            </a:r>
            <a:r>
              <a:rPr lang="ko-KR" altLang="en-US" sz="1600" dirty="0"/>
              <a:t>파이썬 설치 화면이 열리면 본격적으로 설치 작업을 하기 전에 반드시 아래쪽에 있는 </a:t>
            </a:r>
            <a:r>
              <a:rPr lang="en-US" altLang="ko-KR" sz="1600" dirty="0"/>
              <a:t>&lt;Add Python 3.10 to PATH&gt; </a:t>
            </a:r>
            <a:r>
              <a:rPr lang="ko-KR" altLang="en-US" sz="1600" dirty="0"/>
              <a:t>옵션을 선택</a:t>
            </a:r>
            <a:r>
              <a:rPr lang="en-US" altLang="ko-KR" sz="1600" dirty="0"/>
              <a:t>. </a:t>
            </a:r>
            <a:r>
              <a:rPr lang="ko-KR" altLang="en-US" sz="1600" dirty="0"/>
              <a:t>그 다음 </a:t>
            </a:r>
            <a:r>
              <a:rPr lang="en-US" altLang="ko-KR" sz="1600" dirty="0"/>
              <a:t>&lt;Install Now&gt;</a:t>
            </a:r>
            <a:r>
              <a:rPr lang="ko-KR" altLang="en-US" sz="1600" dirty="0"/>
              <a:t>를 선택하면 바로 설치가 진행된다</a:t>
            </a:r>
            <a:r>
              <a:rPr lang="en-US" altLang="ko-KR" sz="1600" dirty="0"/>
              <a:t>. </a:t>
            </a:r>
            <a:r>
              <a:rPr lang="ko-KR" altLang="en-US" sz="1600" dirty="0"/>
              <a:t>설치를 완료하면 </a:t>
            </a:r>
            <a:r>
              <a:rPr lang="en-US" altLang="ko-KR" sz="1600" dirty="0"/>
              <a:t>&lt;close&gt;</a:t>
            </a:r>
            <a:r>
              <a:rPr lang="ko-KR" altLang="en-US" sz="1600" dirty="0"/>
              <a:t>를 눌러 설치 프로그램을 종료한다</a:t>
            </a:r>
            <a:r>
              <a:rPr lang="en-US" altLang="ko-KR" sz="1600" dirty="0"/>
              <a:t>.</a:t>
            </a:r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marL="609600" lvl="1" indent="-342900">
              <a:buClr>
                <a:srgbClr val="3C479D"/>
              </a:buClr>
              <a:buAutoNum type="arabicPeriod"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2A6C7A-7A01-CEC0-9A3D-12E73AB7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252" y="3474720"/>
            <a:ext cx="5087060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955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파이썬 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4) </a:t>
            </a:r>
            <a:r>
              <a:rPr lang="ko-KR" altLang="en-US" sz="1600" dirty="0" err="1"/>
              <a:t>파이썬이</a:t>
            </a:r>
            <a:r>
              <a:rPr lang="ko-KR" altLang="en-US" sz="1600" dirty="0"/>
              <a:t> 제대로 설치됐는지 확인하기 위해 명령 프롬프트를 열기</a:t>
            </a:r>
            <a:r>
              <a:rPr lang="en-US" altLang="ko-KR" sz="1600" dirty="0"/>
              <a:t>. </a:t>
            </a:r>
            <a:r>
              <a:rPr lang="ko-KR" altLang="en-US" sz="1600" dirty="0"/>
              <a:t>윈도우 작업 표시줄에 있는 </a:t>
            </a:r>
            <a:r>
              <a:rPr lang="ko-KR" altLang="en-US" sz="1600" dirty="0" err="1"/>
              <a:t>검색란에</a:t>
            </a:r>
            <a:r>
              <a:rPr lang="ko-KR" altLang="en-US" sz="1600" dirty="0"/>
              <a:t> </a:t>
            </a:r>
            <a:r>
              <a:rPr lang="en-US" altLang="ko-KR" sz="1600" dirty="0" err="1"/>
              <a:t>cmd</a:t>
            </a:r>
            <a:r>
              <a:rPr lang="ko-KR" altLang="en-US" sz="1600" dirty="0"/>
              <a:t>를 입력 후 </a:t>
            </a:r>
            <a:r>
              <a:rPr lang="en-US" altLang="ko-KR" sz="1600" dirty="0"/>
              <a:t>&lt;Enter&gt; </a:t>
            </a:r>
            <a:r>
              <a:rPr lang="ko-KR" altLang="en-US" sz="1600" dirty="0"/>
              <a:t>를 누르자</a:t>
            </a:r>
            <a:r>
              <a:rPr lang="en-US" altLang="ko-KR" sz="1600" dirty="0"/>
              <a:t>. </a:t>
            </a:r>
            <a:r>
              <a:rPr lang="ko-KR" altLang="en-US" sz="1600" dirty="0"/>
              <a:t>명령 프롬프트가 열리면 다음 명령을 입력해 자신의 컴퓨터에 설치된 파이썬 버전을 확인해 보자</a:t>
            </a:r>
            <a:r>
              <a:rPr lang="en-US" altLang="ko-KR" sz="1600" dirty="0"/>
              <a:t>. </a:t>
            </a:r>
            <a:r>
              <a:rPr lang="ko-KR" altLang="en-US" sz="1600" dirty="0"/>
              <a:t>오류 없이 파이썬 버전이 제대로 출력되면 설치에 성공한 것이다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EE8073-438D-996B-F45E-4BDBAD4CE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089099"/>
            <a:ext cx="7701292" cy="183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52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609600" lvl="1" indent="-342900">
              <a:buClr>
                <a:srgbClr val="3C479D"/>
              </a:buClr>
              <a:buAutoNum type="arabicParenR"/>
            </a:pPr>
            <a:r>
              <a:rPr lang="ko-KR" altLang="en-US" sz="1600" dirty="0"/>
              <a:t>장고를 파이썬 가상 환경에 설치할 것이다</a:t>
            </a:r>
            <a:r>
              <a:rPr lang="en-US" altLang="ko-KR" sz="1600" dirty="0"/>
              <a:t>. </a:t>
            </a:r>
            <a:r>
              <a:rPr lang="ko-KR" altLang="en-US" sz="1600" dirty="0"/>
              <a:t>파이썬 가상 환경은 파이썬 프로젝트를 진행할 때 독립된 환경을 만들어 주는 도구다</a:t>
            </a:r>
            <a:r>
              <a:rPr lang="en-US" altLang="ko-KR" sz="1600" dirty="0"/>
              <a:t>. </a:t>
            </a:r>
          </a:p>
          <a:p>
            <a:pPr marL="609600" lvl="1" indent="-342900">
              <a:buClr>
                <a:srgbClr val="3C479D"/>
              </a:buClr>
              <a:buAutoNum type="arabicParenR"/>
            </a:pPr>
            <a:endParaRPr lang="en-US" altLang="ko-KR" sz="1600" dirty="0"/>
          </a:p>
          <a:p>
            <a:pPr marL="609600" lvl="1" indent="-342900">
              <a:buClr>
                <a:srgbClr val="3C479D"/>
              </a:buClr>
              <a:buAutoNum type="arabicParenR"/>
            </a:pPr>
            <a:r>
              <a:rPr lang="ko-KR" altLang="en-US" sz="1600" dirty="0"/>
              <a:t>윈도우에서 명령 프롬프트를 실행하고 다음 명령어를 입력해 </a:t>
            </a:r>
            <a:r>
              <a:rPr lang="en-US" altLang="ko-KR" sz="1600" dirty="0"/>
              <a:t>C:/venvs</a:t>
            </a:r>
            <a:r>
              <a:rPr lang="ko-KR" altLang="en-US" sz="1600" dirty="0"/>
              <a:t>라는 디렉터리를 만들자</a:t>
            </a:r>
            <a:r>
              <a:rPr lang="en-US" altLang="ko-KR" sz="1600" dirty="0"/>
              <a:t>. </a:t>
            </a:r>
            <a:r>
              <a:rPr lang="ko-KR" altLang="en-US" sz="1600" dirty="0"/>
              <a:t>루트 디렉터리를 반드시 </a:t>
            </a:r>
            <a:r>
              <a:rPr lang="en-US" altLang="ko-KR" sz="1600" dirty="0"/>
              <a:t>C:/venvs</a:t>
            </a:r>
            <a:r>
              <a:rPr lang="ko-KR" altLang="en-US" sz="1600" dirty="0"/>
              <a:t>로 해야 하는 것은 아니지만 실습 편의를 위해 이대로 지정하자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9CC48C-3E87-284E-0659-C6213804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660991"/>
            <a:ext cx="8325812" cy="1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234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3) </a:t>
            </a:r>
            <a:r>
              <a:rPr lang="ko-KR" altLang="en-US" sz="1600" dirty="0"/>
              <a:t>파이썬 가상 환경을 만든 다음 명령어를 입력해 실행하자</a:t>
            </a:r>
            <a:r>
              <a:rPr lang="en-US" altLang="ko-KR" sz="1600" dirty="0"/>
              <a:t>.</a:t>
            </a:r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4) </a:t>
            </a:r>
            <a:r>
              <a:rPr lang="ko-KR" altLang="en-US" sz="1600" dirty="0"/>
              <a:t>가상 환경에 진입하려면 우리가 생성한 </a:t>
            </a:r>
            <a:r>
              <a:rPr lang="en-US" altLang="ko-KR" sz="1600" dirty="0" err="1"/>
              <a:t>mysite</a:t>
            </a:r>
            <a:r>
              <a:rPr lang="en-US" altLang="ko-KR" sz="1600" dirty="0"/>
              <a:t> </a:t>
            </a:r>
            <a:r>
              <a:rPr lang="ko-KR" altLang="en-US" sz="1600" dirty="0"/>
              <a:t>가상 환경에 있는 </a:t>
            </a:r>
            <a:r>
              <a:rPr lang="en-US" altLang="ko-KR" sz="1600" dirty="0"/>
              <a:t>Scripts </a:t>
            </a:r>
            <a:r>
              <a:rPr lang="ko-KR" altLang="en-US" sz="1600" dirty="0"/>
              <a:t>디렉터리의 </a:t>
            </a:r>
            <a:r>
              <a:rPr lang="en-US" altLang="ko-KR" sz="1600" dirty="0"/>
              <a:t>activate </a:t>
            </a:r>
            <a:r>
              <a:rPr lang="ko-KR" altLang="en-US" sz="1600" dirty="0"/>
              <a:t>명령을 수행해야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다음 명령을 입력하여 </a:t>
            </a:r>
            <a:r>
              <a:rPr lang="en-US" altLang="ko-KR" sz="1600" dirty="0" err="1"/>
              <a:t>mysite</a:t>
            </a:r>
            <a:r>
              <a:rPr lang="en-US" altLang="ko-KR" sz="1600" dirty="0"/>
              <a:t> </a:t>
            </a:r>
            <a:r>
              <a:rPr lang="ko-KR" altLang="en-US" sz="1600" dirty="0"/>
              <a:t>가상 환경에 진입해 보자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79D127-6E1E-0BC7-0170-29C488261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08" y="3028282"/>
            <a:ext cx="7252984" cy="8014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5C6934-D37F-6DCE-3D64-8A058FF9A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92" y="5157192"/>
            <a:ext cx="7248400" cy="136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050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5) C:/ </a:t>
            </a:r>
            <a:r>
              <a:rPr lang="ko-KR" altLang="en-US" sz="1600" dirty="0"/>
              <a:t>왼쪽에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mysite</a:t>
            </a:r>
            <a:r>
              <a:rPr lang="en-US" altLang="ko-KR" sz="1600" dirty="0"/>
              <a:t>)</a:t>
            </a:r>
            <a:r>
              <a:rPr lang="ko-KR" altLang="en-US" sz="1600" dirty="0"/>
              <a:t>라는 프롬프트를 확인할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이름에서 볼 수 있듯 현재 여러분이 진입한 가상 환경을 의미한다</a:t>
            </a:r>
            <a:r>
              <a:rPr lang="en-US" altLang="ko-KR" sz="1600" dirty="0"/>
              <a:t>.</a:t>
            </a:r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6) </a:t>
            </a:r>
            <a:r>
              <a:rPr lang="ko-KR" altLang="en-US" sz="1600" dirty="0"/>
              <a:t>명령 프롬프트 왼쪽에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mysite</a:t>
            </a:r>
            <a:r>
              <a:rPr lang="en-US" altLang="ko-KR" sz="1600" dirty="0"/>
              <a:t>) </a:t>
            </a:r>
            <a:r>
              <a:rPr lang="ko-KR" altLang="en-US" sz="1600" dirty="0"/>
              <a:t>프롬프트가 보이는지 확인하자</a:t>
            </a:r>
            <a:r>
              <a:rPr lang="en-US" altLang="ko-KR" sz="1600" dirty="0"/>
              <a:t>. </a:t>
            </a:r>
            <a:r>
              <a:rPr lang="ko-KR" altLang="en-US" sz="1600" dirty="0"/>
              <a:t>만약 명령 프롬프트 왼쪽에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mysite</a:t>
            </a:r>
            <a:r>
              <a:rPr lang="en-US" altLang="ko-KR" sz="1600" dirty="0"/>
              <a:t>) </a:t>
            </a:r>
            <a:r>
              <a:rPr lang="ko-KR" altLang="en-US" sz="1600" dirty="0"/>
              <a:t>프롬프트가 보이지 않는다면 바로 이전의 실습을 참고하여 가상 환경에 진입한 상태에서 장고 설치를 진행하자</a:t>
            </a:r>
            <a:r>
              <a:rPr lang="en-US" altLang="ko-KR" sz="16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E8CDC4-B63F-A96A-DE17-2415D474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6" y="4725144"/>
            <a:ext cx="7272808" cy="104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609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7) </a:t>
            </a:r>
            <a:r>
              <a:rPr lang="en-US" altLang="ko-KR" sz="1600" dirty="0" err="1"/>
              <a:t>mysite</a:t>
            </a:r>
            <a:r>
              <a:rPr lang="en-US" altLang="ko-KR" sz="1600" dirty="0"/>
              <a:t> </a:t>
            </a:r>
            <a:r>
              <a:rPr lang="ko-KR" altLang="en-US" sz="1600" dirty="0"/>
              <a:t>가상 환경에 진입한 상태에서 </a:t>
            </a:r>
            <a:r>
              <a:rPr lang="en-US" altLang="ko-KR" sz="1600" dirty="0"/>
              <a:t>pip install </a:t>
            </a:r>
            <a:r>
              <a:rPr lang="en-US" altLang="ko-KR" sz="1600" dirty="0" err="1"/>
              <a:t>django</a:t>
            </a:r>
            <a:r>
              <a:rPr lang="en-US" altLang="ko-KR" sz="1600" dirty="0"/>
              <a:t>==4.0.3 </a:t>
            </a:r>
            <a:r>
              <a:rPr lang="ko-KR" altLang="en-US" sz="1600" dirty="0"/>
              <a:t>명령을 입력하자</a:t>
            </a:r>
            <a:r>
              <a:rPr lang="en-US" altLang="ko-KR" sz="1600" dirty="0"/>
              <a:t>. pip</a:t>
            </a:r>
            <a:r>
              <a:rPr lang="ko-KR" altLang="en-US" sz="1600" dirty="0"/>
              <a:t>은 파이썬 라이브러리를 설치하고 관리해 주는 파이썬 도구이다</a:t>
            </a:r>
            <a:r>
              <a:rPr lang="en-US" altLang="ko-KR" sz="1600" dirty="0"/>
              <a:t>. pip install </a:t>
            </a:r>
            <a:r>
              <a:rPr lang="en-US" altLang="ko-KR" sz="1600" dirty="0" err="1"/>
              <a:t>django</a:t>
            </a:r>
            <a:r>
              <a:rPr lang="en-US" altLang="ko-KR" sz="1600" dirty="0"/>
              <a:t>==4.0.3</a:t>
            </a:r>
            <a:r>
              <a:rPr lang="ko-KR" altLang="en-US" sz="1600" dirty="0"/>
              <a:t>는 </a:t>
            </a:r>
            <a:r>
              <a:rPr lang="en-US" altLang="ko-KR" sz="1600" dirty="0"/>
              <a:t>pip</a:t>
            </a:r>
            <a:r>
              <a:rPr lang="ko-KR" altLang="en-US" sz="1600" dirty="0"/>
              <a:t>으로 장고 </a:t>
            </a:r>
            <a:r>
              <a:rPr lang="en-US" altLang="ko-KR" sz="1600" dirty="0"/>
              <a:t>4.0.3 </a:t>
            </a:r>
            <a:r>
              <a:rPr lang="ko-KR" altLang="en-US" sz="1600" dirty="0"/>
              <a:t>버전을 설치하는 명령이라고 생각하면 된다</a:t>
            </a:r>
            <a:r>
              <a:rPr lang="en-US" altLang="ko-KR" sz="1600" dirty="0"/>
              <a:t>. </a:t>
            </a:r>
            <a:r>
              <a:rPr lang="ko-KR" altLang="en-US" sz="1600" dirty="0"/>
              <a:t>다음 화면이 나오면 장고 설치가 잘 된 것이다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9541A8-FECC-82CF-31CB-718A26912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861048"/>
            <a:ext cx="748883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687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01. </a:t>
            </a:r>
            <a:r>
              <a:rPr lang="en-US" altLang="ko-KR" dirty="0"/>
              <a:t>Django </a:t>
            </a:r>
            <a:r>
              <a:rPr lang="ko-KR" altLang="en-US" dirty="0"/>
              <a:t>웹 개념 및 개발환경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r>
              <a:rPr lang="ko-KR" altLang="en-US" sz="2400" dirty="0"/>
              <a:t> 개발환경</a:t>
            </a:r>
            <a:endParaRPr lang="en-US" altLang="ko-KR" sz="2400" dirty="0"/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Django </a:t>
            </a:r>
            <a:r>
              <a:rPr lang="ko-KR" altLang="en-US" sz="1600" dirty="0"/>
              <a:t>설치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8) </a:t>
            </a:r>
            <a:r>
              <a:rPr lang="ko-KR" altLang="en-US" sz="1600" dirty="0"/>
              <a:t>마지막에 경고</a:t>
            </a:r>
            <a:r>
              <a:rPr lang="en-US" altLang="ko-KR" sz="1600" dirty="0"/>
              <a:t>(WARNING) </a:t>
            </a:r>
            <a:r>
              <a:rPr lang="ko-KR" altLang="en-US" sz="1600" dirty="0"/>
              <a:t>문구가 보인다면 </a:t>
            </a:r>
            <a:r>
              <a:rPr lang="en-US" altLang="ko-KR" sz="1600" dirty="0"/>
              <a:t>pip</a:t>
            </a:r>
            <a:r>
              <a:rPr lang="ko-KR" altLang="en-US" sz="1600" dirty="0"/>
              <a:t>이 최신 버전이 아니라는 내용이다</a:t>
            </a:r>
            <a:r>
              <a:rPr lang="en-US" altLang="ko-KR" sz="1600" dirty="0"/>
              <a:t>.</a:t>
            </a:r>
          </a:p>
          <a:p>
            <a:pPr marL="266700" lvl="1" indent="0">
              <a:buClr>
                <a:srgbClr val="3C479D"/>
              </a:buClr>
              <a:buNone/>
            </a:pPr>
            <a:r>
              <a:rPr lang="ko-KR" altLang="en-US" sz="1600" dirty="0"/>
              <a:t>경고 메시지에 따라 </a:t>
            </a:r>
            <a:r>
              <a:rPr lang="en-US" altLang="ko-KR" sz="1600" dirty="0"/>
              <a:t>python -m pip install --upgrade pip </a:t>
            </a:r>
            <a:r>
              <a:rPr lang="ko-KR" altLang="en-US" sz="1600" dirty="0"/>
              <a:t>명령을 입력해 </a:t>
            </a:r>
            <a:r>
              <a:rPr lang="en-US" altLang="ko-KR" sz="1600" dirty="0"/>
              <a:t>pip</a:t>
            </a:r>
            <a:r>
              <a:rPr lang="ko-KR" altLang="en-US" sz="1600" dirty="0"/>
              <a:t>을 최신 버전으로 설치하자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9AAC0C-EDF9-D71E-3395-573FA4F1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816577"/>
            <a:ext cx="7488832" cy="267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238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593558" y="3429000"/>
            <a:ext cx="7956884" cy="9389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4800" b="1" dirty="0">
                <a:latin typeface="+mj-ea"/>
                <a:ea typeface="+mj-ea"/>
              </a:rPr>
              <a:t>블로그 어플리케이션 만들기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1246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가상환경 활성화시키기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 설치하기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EAB9ACD-267D-8A6C-A059-9D1FF16CA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48880"/>
            <a:ext cx="3933810" cy="52450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D39B75-F346-37DD-03FC-0878DD4ED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52" y="3003576"/>
            <a:ext cx="7758320" cy="3534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4FD5084-823F-A15B-062F-FDB6F16DD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445" y="4293096"/>
            <a:ext cx="4104461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558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 설치 결과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665F39-7A3E-193B-5264-BC9F0AA3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99" y="2389507"/>
            <a:ext cx="7848872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080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 설치 확인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F00BE1-CD42-6A98-F232-A4F4EFA98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20888"/>
            <a:ext cx="7947676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665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첫번째 프로젝트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초기 프로젝트 파일 구조 생성 명령어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7658636-945A-6E4F-1234-4245E14D6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76872"/>
            <a:ext cx="4096322" cy="10574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CA270D-AEAD-4694-9F04-D85F3403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917362"/>
            <a:ext cx="5405449" cy="49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545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첫번째 프로젝트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초기 프로젝트 파일 구조 생성 명령어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7658636-945A-6E4F-1234-4245E14D6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76872"/>
            <a:ext cx="4096322" cy="10574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CA270D-AEAD-4694-9F04-D85F3403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849993"/>
            <a:ext cx="5405449" cy="49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228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초기 프로젝트 파일 구조 생성 결과</a:t>
            </a:r>
            <a:endParaRPr lang="en-US" altLang="ko-KR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01E7FB-FF3F-8D30-3BDA-57ED86471B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537"/>
          <a:stretch/>
        </p:blipFill>
        <p:spPr>
          <a:xfrm>
            <a:off x="1115616" y="2420888"/>
            <a:ext cx="1944216" cy="2258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18AEB7-719B-50E1-AE4F-94077679541F}"/>
              </a:ext>
            </a:extLst>
          </p:cNvPr>
          <p:cNvSpPr txBox="1"/>
          <p:nvPr/>
        </p:nvSpPr>
        <p:spPr>
          <a:xfrm>
            <a:off x="3419872" y="256490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endParaRPr lang="ko-KR" altLang="en-US" sz="3600" dirty="0">
              <a:latin typeface="맑은 고딕 (본문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E9FEEA-0DEA-04FA-5471-8037BA351B13}"/>
              </a:ext>
            </a:extLst>
          </p:cNvPr>
          <p:cNvSpPr txBox="1"/>
          <p:nvPr/>
        </p:nvSpPr>
        <p:spPr>
          <a:xfrm>
            <a:off x="3451169" y="2388669"/>
            <a:ext cx="5262589" cy="310854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manage.py : </a:t>
            </a:r>
            <a:r>
              <a:rPr lang="ko-KR" altLang="en-US" sz="1400" dirty="0">
                <a:latin typeface="맑은 고딕 (본문)"/>
              </a:rPr>
              <a:t>프로젝트와 상호작용하는데 사용되는 커맨드라인 도구이다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Mysite</a:t>
            </a:r>
            <a:r>
              <a:rPr lang="en-US" altLang="ko-KR" sz="1400" dirty="0">
                <a:latin typeface="맑은 고딕 (본문)"/>
              </a:rPr>
              <a:t>/ : </a:t>
            </a:r>
            <a:r>
              <a:rPr lang="ko-KR" altLang="en-US" sz="1400" dirty="0">
                <a:latin typeface="맑은 고딕 (본문)"/>
              </a:rPr>
              <a:t>아래 파일들로 구성된 파이썬 패키지이다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__init__.py : </a:t>
            </a:r>
            <a:r>
              <a:rPr lang="en-US" altLang="ko-KR" sz="1400" dirty="0" err="1">
                <a:latin typeface="맑은 고딕 (본문)"/>
              </a:rPr>
              <a:t>mysite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디렉터리를 파이썬 모듈로 취급하도록 </a:t>
            </a:r>
            <a:r>
              <a:rPr lang="ko-KR" altLang="en-US" sz="1400" dirty="0" err="1">
                <a:latin typeface="맑은 고딕 (본문)"/>
              </a:rPr>
              <a:t>파이썬에</a:t>
            </a:r>
            <a:r>
              <a:rPr lang="ko-KR" altLang="en-US" sz="1400" dirty="0">
                <a:latin typeface="맑은 고딕 (본문)"/>
              </a:rPr>
              <a:t> 지시하는 빈 파일이다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Asgi.py : ASGI </a:t>
            </a:r>
            <a:r>
              <a:rPr lang="ko-KR" altLang="en-US" sz="1400" dirty="0">
                <a:latin typeface="맑은 고딕 (본문)"/>
              </a:rPr>
              <a:t>호환 웹 서버와 함께 </a:t>
            </a:r>
            <a:r>
              <a:rPr lang="en-US" altLang="ko-KR" sz="1400" dirty="0">
                <a:latin typeface="맑은 고딕 (본문)"/>
              </a:rPr>
              <a:t>ASGI </a:t>
            </a:r>
            <a:r>
              <a:rPr lang="ko-KR" altLang="en-US" sz="1400" dirty="0">
                <a:latin typeface="맑은 고딕 (본문)"/>
              </a:rPr>
              <a:t>애플리케이션으로 프로젝트를 실행하기 위한 구성이다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Settings.py : </a:t>
            </a:r>
            <a:r>
              <a:rPr lang="ko-KR" altLang="en-US" sz="1400" dirty="0">
                <a:latin typeface="맑은 고딕 (본문)"/>
              </a:rPr>
              <a:t>프로젝트 설정 및 구성을 나타내며 초기 기본 설정을 포함한다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Urls.py : URL </a:t>
            </a:r>
            <a:r>
              <a:rPr lang="ko-KR" altLang="en-US" sz="1400" dirty="0">
                <a:latin typeface="맑은 고딕 (본문)"/>
              </a:rPr>
              <a:t>패턴이 </a:t>
            </a:r>
            <a:r>
              <a:rPr lang="ko-KR" altLang="en-US" sz="1400" dirty="0" err="1">
                <a:latin typeface="맑은 고딕 (본문)"/>
              </a:rPr>
              <a:t>있는곳으로</a:t>
            </a:r>
            <a:r>
              <a:rPr lang="ko-KR" altLang="en-US" sz="1400" dirty="0">
                <a:latin typeface="맑은 고딕 (본문)"/>
              </a:rPr>
              <a:t> 정의된 각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은 뷰에 </a:t>
            </a:r>
            <a:r>
              <a:rPr lang="ko-KR" altLang="en-US" sz="1400" dirty="0" err="1">
                <a:latin typeface="맑은 고딕 (본문)"/>
              </a:rPr>
              <a:t>맵핑된다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wsgi.py : WSGI </a:t>
            </a:r>
            <a:r>
              <a:rPr lang="ko-KR" altLang="en-US" sz="1400" dirty="0">
                <a:latin typeface="맑은 고딕 (본문)"/>
              </a:rPr>
              <a:t>호환 웹서버와 함께 </a:t>
            </a:r>
            <a:r>
              <a:rPr lang="en-US" altLang="ko-KR" sz="1400" dirty="0">
                <a:latin typeface="맑은 고딕 (본문)"/>
              </a:rPr>
              <a:t>WSGI </a:t>
            </a:r>
            <a:r>
              <a:rPr lang="ko-KR" altLang="en-US" sz="1400" dirty="0">
                <a:latin typeface="맑은 고딕 (본문)"/>
              </a:rPr>
              <a:t>애플리케이션 으로 프로젝트를 실행하기 위한 구성이다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82075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초기 데이터베이스 마이그레이션 적용하기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3F4192-32F9-B2F9-78C7-FC1A1DAD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316304"/>
            <a:ext cx="2075354" cy="4410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1D1B59-4A91-91B5-55EC-D15271EB1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5" y="2824917"/>
            <a:ext cx="5256584" cy="54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92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초기 데이터베이스 마이그레이션 적용 결과 </a:t>
            </a:r>
            <a:r>
              <a:rPr lang="en-US" altLang="ko-KR" sz="1600" dirty="0"/>
              <a:t>- 1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F0D6A7-B96C-BBA7-C13C-8B44FDB89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20888"/>
            <a:ext cx="4489980" cy="394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161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초기 데이터베이스 마이그레이션 적용 결과 </a:t>
            </a:r>
            <a:r>
              <a:rPr lang="en-US" altLang="ko-KR" sz="1600" dirty="0"/>
              <a:t>- 2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AD8CCC-40BC-210B-A77E-344A715C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2502152"/>
            <a:ext cx="7848872" cy="1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445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개발 서버 실행하기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DF60BF-B612-F0EE-8FF8-19265B63A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276872"/>
            <a:ext cx="5462284" cy="6183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FC2A6C-70B8-9205-15C5-EFE31F0A2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235352"/>
            <a:ext cx="5593350" cy="220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649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개발 서버 실행하기</a:t>
            </a: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r>
              <a:rPr lang="en-US" altLang="ko-KR" sz="1600" dirty="0"/>
              <a:t>http://127.0.0.1:8000/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E3D43D-7FEC-DDF6-029E-08F035495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12" y="2924944"/>
            <a:ext cx="6267191" cy="3120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09688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개발 서버 실행하기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C631F9-6BEB-5107-8AE7-52372C37E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76" y="2400156"/>
            <a:ext cx="725906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343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프로젝트 설정하기</a:t>
            </a:r>
            <a:endParaRPr lang="en-US" altLang="ko-KR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0DDA58-C5D7-785D-B657-729C0B063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3540"/>
            <a:ext cx="8208912" cy="354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35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프로젝트 설정하기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0E007-2E6D-ECE9-2E15-F8866FE372D9}"/>
              </a:ext>
            </a:extLst>
          </p:cNvPr>
          <p:cNvSpPr txBox="1"/>
          <p:nvPr/>
        </p:nvSpPr>
        <p:spPr>
          <a:xfrm>
            <a:off x="827584" y="2301625"/>
            <a:ext cx="7776864" cy="332398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+mn-lt"/>
                <a:ea typeface="+mn-ea"/>
              </a:rPr>
              <a:t>DEBUG : </a:t>
            </a:r>
            <a:r>
              <a:rPr lang="ko-KR" altLang="en-US" sz="1400" dirty="0">
                <a:latin typeface="+mn-lt"/>
                <a:ea typeface="+mn-ea"/>
              </a:rPr>
              <a:t>프로젝트의 디버그 모드를 켜고 끄는 </a:t>
            </a:r>
            <a:r>
              <a:rPr lang="ko-KR" altLang="en-US" sz="1400" dirty="0" err="1">
                <a:latin typeface="+mn-lt"/>
                <a:ea typeface="+mn-ea"/>
              </a:rPr>
              <a:t>부울값이다</a:t>
            </a:r>
            <a:r>
              <a:rPr lang="en-US" altLang="ko-KR" sz="1400" dirty="0">
                <a:latin typeface="+mn-lt"/>
                <a:ea typeface="+mn-ea"/>
              </a:rPr>
              <a:t>.</a:t>
            </a:r>
          </a:p>
          <a:p>
            <a:r>
              <a:rPr lang="en-US" altLang="ko-KR" sz="1400" dirty="0">
                <a:latin typeface="+mn-lt"/>
                <a:ea typeface="+mn-ea"/>
              </a:rPr>
              <a:t>ALLOWED_HOSTS : </a:t>
            </a:r>
            <a:r>
              <a:rPr lang="ko-KR" altLang="en-US" sz="1400" dirty="0">
                <a:latin typeface="+mn-lt"/>
                <a:ea typeface="+mn-ea"/>
              </a:rPr>
              <a:t>디버그 모드가 켜져 있거나 테스트가 동작 중일 때는 적용되지 않는다</a:t>
            </a:r>
            <a:r>
              <a:rPr lang="en-US" altLang="ko-KR" sz="1400" dirty="0">
                <a:latin typeface="+mn-lt"/>
                <a:ea typeface="+mn-ea"/>
              </a:rPr>
              <a:t>.</a:t>
            </a:r>
          </a:p>
          <a:p>
            <a:r>
              <a:rPr lang="en-US" altLang="ko-KR" sz="1400" dirty="0">
                <a:latin typeface="+mn-lt"/>
                <a:ea typeface="+mn-ea"/>
              </a:rPr>
              <a:t>INSTALED_APPS : </a:t>
            </a:r>
            <a:r>
              <a:rPr lang="ko-KR" altLang="en-US" sz="1400" dirty="0">
                <a:latin typeface="+mn-lt"/>
                <a:ea typeface="+mn-ea"/>
              </a:rPr>
              <a:t>모든 프로젝트를 위해 </a:t>
            </a:r>
            <a:r>
              <a:rPr lang="ko-KR" altLang="en-US" sz="1400" dirty="0" err="1">
                <a:latin typeface="+mn-lt"/>
                <a:ea typeface="+mn-ea"/>
              </a:rPr>
              <a:t>편집해야하는</a:t>
            </a:r>
            <a:r>
              <a:rPr lang="ko-KR" altLang="en-US" sz="1400" dirty="0">
                <a:latin typeface="+mn-lt"/>
                <a:ea typeface="+mn-ea"/>
              </a:rPr>
              <a:t> 설정으로 장고에게 이 사이트에서 어떤 애플리케이션들을 활성화할지를 알려준다</a:t>
            </a:r>
            <a:r>
              <a:rPr lang="en-US" altLang="ko-KR" sz="1400" dirty="0">
                <a:latin typeface="+mn-lt"/>
                <a:ea typeface="+mn-ea"/>
              </a:rPr>
              <a:t>.</a:t>
            </a:r>
          </a:p>
          <a:p>
            <a:endParaRPr lang="en-US" altLang="ko-KR" sz="1400" dirty="0">
              <a:latin typeface="+mn-lt"/>
              <a:ea typeface="+mn-ea"/>
            </a:endParaRPr>
          </a:p>
          <a:p>
            <a:r>
              <a:rPr lang="en-US" altLang="ko-KR" sz="1400" dirty="0">
                <a:latin typeface="+mn-lt"/>
                <a:ea typeface="+mn-ea"/>
              </a:rPr>
              <a:t>'</a:t>
            </a:r>
            <a:r>
              <a:rPr lang="en-US" altLang="ko-KR" sz="1400" dirty="0" err="1">
                <a:latin typeface="+mn-lt"/>
                <a:ea typeface="+mn-ea"/>
              </a:rPr>
              <a:t>django.contrib.admin</a:t>
            </a:r>
            <a:r>
              <a:rPr lang="en-US" altLang="ko-KR" sz="1400" dirty="0">
                <a:latin typeface="+mn-lt"/>
                <a:ea typeface="+mn-ea"/>
              </a:rPr>
              <a:t>', // </a:t>
            </a:r>
            <a:r>
              <a:rPr lang="ko-KR" altLang="en-US" sz="1400" dirty="0">
                <a:latin typeface="+mn-lt"/>
                <a:ea typeface="+mn-ea"/>
              </a:rPr>
              <a:t>관리사이트</a:t>
            </a:r>
          </a:p>
          <a:p>
            <a:r>
              <a:rPr lang="en-US" altLang="ko-KR" sz="1400" dirty="0">
                <a:latin typeface="+mn-lt"/>
                <a:ea typeface="+mn-ea"/>
              </a:rPr>
              <a:t>'</a:t>
            </a:r>
            <a:r>
              <a:rPr lang="en-US" altLang="ko-KR" sz="1400" dirty="0" err="1">
                <a:latin typeface="+mn-lt"/>
                <a:ea typeface="+mn-ea"/>
              </a:rPr>
              <a:t>django.contrib.auth</a:t>
            </a:r>
            <a:r>
              <a:rPr lang="en-US" altLang="ko-KR" sz="1400" dirty="0">
                <a:latin typeface="+mn-lt"/>
                <a:ea typeface="+mn-ea"/>
              </a:rPr>
              <a:t>', // </a:t>
            </a:r>
            <a:r>
              <a:rPr lang="ko-KR" altLang="en-US" sz="1400" dirty="0">
                <a:latin typeface="+mn-lt"/>
                <a:ea typeface="+mn-ea"/>
              </a:rPr>
              <a:t>인증 프레임워크</a:t>
            </a:r>
          </a:p>
          <a:p>
            <a:r>
              <a:rPr lang="en-US" altLang="ko-KR" sz="1400" dirty="0">
                <a:latin typeface="+mn-lt"/>
                <a:ea typeface="+mn-ea"/>
              </a:rPr>
              <a:t>'</a:t>
            </a:r>
            <a:r>
              <a:rPr lang="en-US" altLang="ko-KR" sz="1400" dirty="0" err="1">
                <a:latin typeface="+mn-lt"/>
                <a:ea typeface="+mn-ea"/>
              </a:rPr>
              <a:t>django.contrib.contenttypes</a:t>
            </a:r>
            <a:r>
              <a:rPr lang="en-US" altLang="ko-KR" sz="1400" dirty="0">
                <a:latin typeface="+mn-lt"/>
                <a:ea typeface="+mn-ea"/>
              </a:rPr>
              <a:t>', // </a:t>
            </a:r>
            <a:r>
              <a:rPr lang="ko-KR" altLang="en-US" sz="1400" dirty="0">
                <a:latin typeface="+mn-lt"/>
                <a:ea typeface="+mn-ea"/>
              </a:rPr>
              <a:t>콘텐츠 유형을 처리하기 위한 프레임워크</a:t>
            </a:r>
          </a:p>
          <a:p>
            <a:r>
              <a:rPr lang="en-US" altLang="ko-KR" sz="1400" dirty="0">
                <a:latin typeface="+mn-lt"/>
                <a:ea typeface="+mn-ea"/>
              </a:rPr>
              <a:t>'</a:t>
            </a:r>
            <a:r>
              <a:rPr lang="en-US" altLang="ko-KR" sz="1400" dirty="0" err="1">
                <a:latin typeface="+mn-lt"/>
                <a:ea typeface="+mn-ea"/>
              </a:rPr>
              <a:t>django.contrib.sessions</a:t>
            </a:r>
            <a:r>
              <a:rPr lang="en-US" altLang="ko-KR" sz="1400" dirty="0">
                <a:latin typeface="+mn-lt"/>
                <a:ea typeface="+mn-ea"/>
              </a:rPr>
              <a:t>', // </a:t>
            </a:r>
            <a:r>
              <a:rPr lang="ko-KR" altLang="en-US" sz="1400" dirty="0">
                <a:latin typeface="+mn-lt"/>
                <a:ea typeface="+mn-ea"/>
              </a:rPr>
              <a:t>세션 프레임워크</a:t>
            </a:r>
          </a:p>
          <a:p>
            <a:r>
              <a:rPr lang="en-US" altLang="ko-KR" sz="1400" dirty="0">
                <a:latin typeface="+mn-lt"/>
                <a:ea typeface="+mn-ea"/>
              </a:rPr>
              <a:t>'</a:t>
            </a:r>
            <a:r>
              <a:rPr lang="en-US" altLang="ko-KR" sz="1400" dirty="0" err="1">
                <a:latin typeface="+mn-lt"/>
                <a:ea typeface="+mn-ea"/>
              </a:rPr>
              <a:t>django.contrib.messages</a:t>
            </a:r>
            <a:r>
              <a:rPr lang="en-US" altLang="ko-KR" sz="1400" dirty="0">
                <a:latin typeface="+mn-lt"/>
                <a:ea typeface="+mn-ea"/>
              </a:rPr>
              <a:t>', // </a:t>
            </a:r>
            <a:r>
              <a:rPr lang="ko-KR" altLang="en-US" sz="1400" dirty="0">
                <a:latin typeface="+mn-lt"/>
                <a:ea typeface="+mn-ea"/>
              </a:rPr>
              <a:t>메시징 프레임워크</a:t>
            </a:r>
          </a:p>
          <a:p>
            <a:r>
              <a:rPr lang="en-US" altLang="ko-KR" sz="1400" dirty="0">
                <a:latin typeface="+mn-lt"/>
                <a:ea typeface="+mn-ea"/>
              </a:rPr>
              <a:t>'</a:t>
            </a:r>
            <a:r>
              <a:rPr lang="en-US" altLang="ko-KR" sz="1400" dirty="0" err="1">
                <a:latin typeface="+mn-lt"/>
                <a:ea typeface="+mn-ea"/>
              </a:rPr>
              <a:t>django.contrib.staticfiles</a:t>
            </a:r>
            <a:r>
              <a:rPr lang="en-US" altLang="ko-KR" sz="1400" dirty="0">
                <a:latin typeface="+mn-lt"/>
                <a:ea typeface="+mn-ea"/>
              </a:rPr>
              <a:t>', // </a:t>
            </a:r>
            <a:r>
              <a:rPr lang="ko-KR" altLang="en-US" sz="1400" dirty="0">
                <a:latin typeface="+mn-lt"/>
                <a:ea typeface="+mn-ea"/>
              </a:rPr>
              <a:t>정적 파일 관리를 위한 프레임워크</a:t>
            </a:r>
            <a:endParaRPr lang="en-US" altLang="ko-KR" sz="1400" dirty="0">
              <a:latin typeface="+mn-lt"/>
              <a:ea typeface="+mn-ea"/>
            </a:endParaRPr>
          </a:p>
          <a:p>
            <a:endParaRPr lang="en-US" altLang="ko-KR" sz="1400" dirty="0">
              <a:latin typeface="+mn-lt"/>
              <a:ea typeface="+mn-ea"/>
            </a:endParaRPr>
          </a:p>
          <a:p>
            <a:r>
              <a:rPr lang="en-US" altLang="ko-KR" sz="1400" dirty="0">
                <a:latin typeface="+mn-lt"/>
                <a:ea typeface="+mn-ea"/>
              </a:rPr>
              <a:t>MIDDLEWARE : </a:t>
            </a:r>
            <a:r>
              <a:rPr lang="ko-KR" altLang="en-US" sz="1400" dirty="0">
                <a:latin typeface="+mn-lt"/>
                <a:ea typeface="+mn-ea"/>
              </a:rPr>
              <a:t>실행할 미들웨어가 포함된 목록이다</a:t>
            </a:r>
            <a:r>
              <a:rPr lang="en-US" altLang="ko-KR" sz="1400" dirty="0">
                <a:latin typeface="+mn-lt"/>
                <a:ea typeface="+mn-ea"/>
              </a:rPr>
              <a:t>.</a:t>
            </a:r>
          </a:p>
          <a:p>
            <a:r>
              <a:rPr lang="en-US" altLang="ko-KR" sz="1400" dirty="0">
                <a:latin typeface="+mn-lt"/>
                <a:ea typeface="+mn-ea"/>
              </a:rPr>
              <a:t>ROOT_URLCONF : </a:t>
            </a:r>
            <a:r>
              <a:rPr lang="ko-KR" altLang="en-US" sz="1400" dirty="0">
                <a:latin typeface="+mn-lt"/>
                <a:ea typeface="+mn-ea"/>
              </a:rPr>
              <a:t>애플리케이션의 루트 </a:t>
            </a:r>
            <a:r>
              <a:rPr lang="en-US" altLang="ko-KR" sz="1400" dirty="0">
                <a:latin typeface="+mn-lt"/>
                <a:ea typeface="+mn-ea"/>
              </a:rPr>
              <a:t>URL </a:t>
            </a:r>
            <a:r>
              <a:rPr lang="ko-KR" altLang="en-US" sz="1400" dirty="0">
                <a:latin typeface="+mn-lt"/>
                <a:ea typeface="+mn-ea"/>
              </a:rPr>
              <a:t>패턴이 정의된 파이썬 모듈을 가리킨다</a:t>
            </a:r>
            <a:r>
              <a:rPr lang="en-US" altLang="ko-KR" sz="1400" dirty="0">
                <a:latin typeface="+mn-lt"/>
                <a:ea typeface="+mn-ea"/>
              </a:rPr>
              <a:t>.</a:t>
            </a:r>
          </a:p>
          <a:p>
            <a:r>
              <a:rPr lang="en-US" altLang="ko-KR" sz="1400" dirty="0">
                <a:latin typeface="+mn-lt"/>
                <a:ea typeface="+mn-ea"/>
              </a:rPr>
              <a:t>DATABASES : </a:t>
            </a:r>
            <a:r>
              <a:rPr lang="ko-KR" altLang="en-US" sz="1400" dirty="0">
                <a:latin typeface="+mn-lt"/>
                <a:ea typeface="+mn-ea"/>
              </a:rPr>
              <a:t>프로젝트에서 사용할 모든 데이터베이스 설정을 포함하는 </a:t>
            </a:r>
            <a:r>
              <a:rPr lang="ko-KR" altLang="en-US" sz="1400" dirty="0" err="1">
                <a:latin typeface="+mn-lt"/>
                <a:ea typeface="+mn-ea"/>
              </a:rPr>
              <a:t>딕셔너리이다</a:t>
            </a:r>
            <a:r>
              <a:rPr lang="en-US" altLang="ko-KR" sz="1400" dirty="0">
                <a:latin typeface="+mn-lt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17836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어플리케이션 생성하기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243444-DBB6-FFB0-B72B-A651C7C0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9" y="2276873"/>
            <a:ext cx="2232248" cy="5859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CACA11-E15F-6DCD-AFD3-F59D6AE5F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20" y="2924944"/>
            <a:ext cx="6768752" cy="56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875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어플리케이션 생성하기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735FF9-EC62-C265-A259-E54AD97DE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348880"/>
            <a:ext cx="2088231" cy="2718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B9B817-25AA-05FB-292E-1E4FDC87F080}"/>
              </a:ext>
            </a:extLst>
          </p:cNvPr>
          <p:cNvSpPr txBox="1"/>
          <p:nvPr/>
        </p:nvSpPr>
        <p:spPr>
          <a:xfrm>
            <a:off x="3451169" y="2711835"/>
            <a:ext cx="5262589" cy="24622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__init__.py : </a:t>
            </a:r>
            <a:r>
              <a:rPr lang="ko-KR" altLang="en-US" sz="1400" dirty="0">
                <a:latin typeface="맑은 고딕 (본문)"/>
              </a:rPr>
              <a:t>블로그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디렉토리를 파이썬 모듈로 취급하도록 </a:t>
            </a:r>
            <a:r>
              <a:rPr lang="ko-KR" altLang="en-US" sz="1400" dirty="0" err="1">
                <a:latin typeface="맑은 고딕 (본문)"/>
              </a:rPr>
              <a:t>파이썬에</a:t>
            </a:r>
            <a:r>
              <a:rPr lang="ko-KR" altLang="en-US" sz="1400" dirty="0">
                <a:latin typeface="맑은 고딕 (본문)"/>
              </a:rPr>
              <a:t> 지시하는 빈 파일이다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Admin.py : </a:t>
            </a:r>
            <a:r>
              <a:rPr lang="ko-KR" altLang="en-US" sz="1400" dirty="0">
                <a:latin typeface="맑은 고딕 (본문)"/>
              </a:rPr>
              <a:t>장고 관리 사이트에 포함할 모델을 등록하는 곳이다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Apps.py : blog </a:t>
            </a:r>
            <a:r>
              <a:rPr lang="ko-KR" altLang="en-US" sz="1400" dirty="0">
                <a:latin typeface="맑은 고딕 (본문)"/>
              </a:rPr>
              <a:t>애플리케이션의 주요 구성이 포함된다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Migrations : </a:t>
            </a:r>
            <a:r>
              <a:rPr lang="ko-KR" altLang="en-US" sz="1400" dirty="0">
                <a:latin typeface="맑은 고딕 (본문)"/>
              </a:rPr>
              <a:t>애플리케이션의 데이터베이스 마이그레이션이 포함된다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Models.py : </a:t>
            </a:r>
            <a:r>
              <a:rPr lang="ko-KR" altLang="en-US" sz="1400" dirty="0">
                <a:latin typeface="맑은 고딕 (본문)"/>
              </a:rPr>
              <a:t>애플리케이션의 데이터모델이 포함된다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Test.py :  </a:t>
            </a:r>
            <a:r>
              <a:rPr lang="ko-KR" altLang="en-US" sz="1400" dirty="0">
                <a:latin typeface="맑은 고딕 (본문)"/>
              </a:rPr>
              <a:t>애플리케이션을 위한 테스트를 추가할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View.py : </a:t>
            </a:r>
            <a:r>
              <a:rPr lang="ko-KR" altLang="en-US" sz="1400" dirty="0">
                <a:latin typeface="맑은 고딕 (본문)"/>
              </a:rPr>
              <a:t>애플리케이션의 로직이 위치한곳이다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각 뷰는 </a:t>
            </a:r>
            <a:r>
              <a:rPr lang="en-US" altLang="ko-KR" sz="1400" dirty="0">
                <a:latin typeface="맑은 고딕 (본문)"/>
              </a:rPr>
              <a:t>HTTP </a:t>
            </a:r>
            <a:r>
              <a:rPr lang="ko-KR" altLang="en-US" sz="1400" dirty="0">
                <a:latin typeface="맑은 고딕 (본문)"/>
              </a:rPr>
              <a:t>요청을 수신해서 처리하고 응답을 반환한다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12491897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게시물 모델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B52C74-4577-0252-5EAC-B866DCBAA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564904"/>
            <a:ext cx="4510750" cy="2694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548972-FCC2-AAA8-633A-C9EF7B25FF15}"/>
              </a:ext>
            </a:extLst>
          </p:cNvPr>
          <p:cNvSpPr txBox="1"/>
          <p:nvPr/>
        </p:nvSpPr>
        <p:spPr>
          <a:xfrm>
            <a:off x="773142" y="5511523"/>
            <a:ext cx="7741732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Title : </a:t>
            </a:r>
            <a:r>
              <a:rPr lang="ko-KR" altLang="en-US" sz="1400" dirty="0">
                <a:latin typeface="맑은 고딕 (본문)"/>
              </a:rPr>
              <a:t>게시물의 제목 필드로 </a:t>
            </a:r>
            <a:r>
              <a:rPr lang="en-US" altLang="ko-KR" sz="1400" dirty="0">
                <a:latin typeface="맑은 고딕 (본문)"/>
              </a:rPr>
              <a:t>SQL </a:t>
            </a:r>
            <a:r>
              <a:rPr lang="ko-KR" altLang="en-US" sz="1400" dirty="0">
                <a:latin typeface="맑은 고딕 (본문)"/>
              </a:rPr>
              <a:t>데이터베이스의 </a:t>
            </a:r>
            <a:r>
              <a:rPr lang="en-US" altLang="ko-KR" sz="1400" dirty="0">
                <a:latin typeface="맑은 고딕 (본문)"/>
              </a:rPr>
              <a:t>VARCHAR</a:t>
            </a:r>
            <a:r>
              <a:rPr lang="ko-KR" altLang="en-US" sz="1400" dirty="0">
                <a:latin typeface="맑은 고딕 (본문)"/>
              </a:rPr>
              <a:t>로 변환되는 </a:t>
            </a:r>
            <a:r>
              <a:rPr lang="en-US" altLang="ko-KR" sz="1400" dirty="0" err="1">
                <a:latin typeface="맑은 고딕 (본문)"/>
              </a:rPr>
              <a:t>CharField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필드이다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Slug : SQL </a:t>
            </a:r>
            <a:r>
              <a:rPr lang="ko-KR" altLang="en-US" sz="1400" dirty="0">
                <a:latin typeface="맑은 고딕 (본문)"/>
              </a:rPr>
              <a:t>데이터베이스에서 </a:t>
            </a:r>
            <a:r>
              <a:rPr lang="en-US" altLang="ko-KR" sz="1400" dirty="0">
                <a:latin typeface="맑은 고딕 (본문)"/>
              </a:rPr>
              <a:t>VARCHAR</a:t>
            </a:r>
            <a:r>
              <a:rPr lang="ko-KR" altLang="en-US" sz="1400" dirty="0">
                <a:latin typeface="맑은 고딕 (본문)"/>
              </a:rPr>
              <a:t>로 변환되는 </a:t>
            </a:r>
            <a:r>
              <a:rPr lang="en-US" altLang="ko-KR" sz="1400" dirty="0" err="1">
                <a:latin typeface="맑은 고딕 (본문)"/>
              </a:rPr>
              <a:t>SlugField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필드이다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Body : </a:t>
            </a:r>
            <a:r>
              <a:rPr lang="ko-KR" altLang="en-US" sz="1400" dirty="0">
                <a:latin typeface="맑은 고딕 (본문)"/>
              </a:rPr>
              <a:t>게시물의 본문을 저장하는 필드이다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73657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게시물 모델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장고는 각 모델 필드</a:t>
            </a:r>
            <a:r>
              <a:rPr lang="en-US" altLang="ko-KR" sz="1600" dirty="0"/>
              <a:t>(</a:t>
            </a:r>
            <a:r>
              <a:rPr lang="en-US" altLang="ko-KR" sz="1600" dirty="0" err="1"/>
              <a:t>title,slug,body</a:t>
            </a:r>
            <a:r>
              <a:rPr lang="en-US" altLang="ko-KR" sz="1600" dirty="0"/>
              <a:t>)</a:t>
            </a:r>
            <a:r>
              <a:rPr lang="ko-KR" altLang="en-US" sz="1600" dirty="0"/>
              <a:t>에 맞는 데이터베이스 컬럼을 생성한다</a:t>
            </a:r>
            <a:r>
              <a:rPr lang="en-US" altLang="ko-KR" sz="1600" dirty="0"/>
              <a:t>. </a:t>
            </a:r>
            <a:r>
              <a:rPr lang="ko-KR" altLang="en-US" sz="1600" dirty="0"/>
              <a:t>각 필드의 유형이 데이터베이스 데이터 유형에 어떻게 대응하는지 확인할 수 있다</a:t>
            </a:r>
            <a:r>
              <a:rPr lang="en-US" altLang="ko-KR" sz="1600" dirty="0"/>
              <a:t>.</a:t>
            </a:r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1B0C51-4541-F679-C558-6E76EDE0F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3453869"/>
            <a:ext cx="78962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780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en-US" altLang="ko-KR" sz="1600" dirty="0"/>
              <a:t>Datetime </a:t>
            </a:r>
            <a:r>
              <a:rPr lang="ko-KR" altLang="en-US" sz="1600" dirty="0"/>
              <a:t>필드 추가하기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48972-FCC2-AAA8-633A-C9EF7B25FF15}"/>
              </a:ext>
            </a:extLst>
          </p:cNvPr>
          <p:cNvSpPr txBox="1"/>
          <p:nvPr/>
        </p:nvSpPr>
        <p:spPr>
          <a:xfrm>
            <a:off x="773142" y="5727935"/>
            <a:ext cx="7741732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Publish : SQL </a:t>
            </a:r>
            <a:r>
              <a:rPr lang="ko-KR" altLang="en-US" sz="1400" dirty="0">
                <a:latin typeface="맑은 고딕 (본문)"/>
              </a:rPr>
              <a:t>데이터베이스의 </a:t>
            </a:r>
            <a:r>
              <a:rPr lang="en-US" altLang="ko-KR" sz="1400" dirty="0">
                <a:latin typeface="맑은 고딕 (본문)"/>
              </a:rPr>
              <a:t>DATETIME </a:t>
            </a:r>
            <a:r>
              <a:rPr lang="ko-KR" altLang="en-US" sz="1400" dirty="0">
                <a:latin typeface="맑은 고딕 (본문)"/>
              </a:rPr>
              <a:t>컬럼으로 변환되는 </a:t>
            </a:r>
            <a:r>
              <a:rPr lang="en-US" altLang="ko-KR" sz="1400" dirty="0" err="1">
                <a:latin typeface="맑은 고딕 (본문)"/>
              </a:rPr>
              <a:t>DateTimeFiled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필드이다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게시물이 게시된 날짜와 시간을 저장하는데 사용한다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r>
              <a:rPr lang="en-US" altLang="ko-KR" sz="1400" dirty="0">
                <a:latin typeface="맑은 고딕 (본문)"/>
              </a:rPr>
              <a:t>Created : </a:t>
            </a:r>
            <a:r>
              <a:rPr lang="en-US" altLang="ko-KR" sz="1400" dirty="0" err="1">
                <a:latin typeface="맑은 고딕 (본문)"/>
              </a:rPr>
              <a:t>DateTimeField</a:t>
            </a:r>
            <a:r>
              <a:rPr lang="ko-KR" altLang="en-US" sz="1400" dirty="0">
                <a:latin typeface="맑은 고딕 (본문)"/>
              </a:rPr>
              <a:t>로 게시물이 생성된 날짜와 시간을 저장하는데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Updated : </a:t>
            </a:r>
            <a:r>
              <a:rPr lang="en-US" altLang="ko-KR" sz="1400" dirty="0" err="1">
                <a:latin typeface="맑은 고딕 (본문)"/>
              </a:rPr>
              <a:t>DateTimeField</a:t>
            </a:r>
            <a:r>
              <a:rPr lang="ko-KR" altLang="en-US" sz="1400" dirty="0">
                <a:latin typeface="맑은 고딕 (본문)"/>
              </a:rPr>
              <a:t>로 게시물이 갱신된 마지막 날짜와 시간을 저장하는데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5BEB09-4DE0-22FA-60C2-52AAC09A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31591"/>
            <a:ext cx="439163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220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기본 정렬 순서 정의하기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48972-FCC2-AAA8-633A-C9EF7B25FF15}"/>
              </a:ext>
            </a:extLst>
          </p:cNvPr>
          <p:cNvSpPr txBox="1"/>
          <p:nvPr/>
        </p:nvSpPr>
        <p:spPr>
          <a:xfrm>
            <a:off x="701134" y="6150035"/>
            <a:ext cx="7741732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블로그 게시물은 일반적으로 시간의 역순으로 표시되기 때문에 모델 내부에 </a:t>
            </a:r>
            <a:r>
              <a:rPr lang="en-US" altLang="ko-KR" sz="1400" dirty="0">
                <a:latin typeface="맑은 고딕 (본문)"/>
              </a:rPr>
              <a:t>Meta </a:t>
            </a:r>
            <a:r>
              <a:rPr lang="ko-KR" altLang="en-US" sz="1400" dirty="0">
                <a:latin typeface="맑은 고딕 (본문)"/>
              </a:rPr>
              <a:t>클래스를 추가하여 기본 정렬 순서를 정의한다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A55E46-6185-A7DC-8EB7-B32B91412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82194"/>
            <a:ext cx="4448796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186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데이터베이스 인덱스 추가하기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48972-FCC2-AAA8-633A-C9EF7B25FF15}"/>
              </a:ext>
            </a:extLst>
          </p:cNvPr>
          <p:cNvSpPr txBox="1"/>
          <p:nvPr/>
        </p:nvSpPr>
        <p:spPr>
          <a:xfrm>
            <a:off x="5319814" y="2564904"/>
            <a:ext cx="3211960" cy="26776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Publish </a:t>
            </a:r>
            <a:r>
              <a:rPr lang="ko-KR" altLang="en-US" sz="1400" dirty="0">
                <a:latin typeface="맑은 고딕 (본문)"/>
              </a:rPr>
              <a:t>필드로 데이터베이스 인덱스를 정의한다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기본값으로 </a:t>
            </a:r>
            <a:r>
              <a:rPr lang="en-US" altLang="ko-KR" sz="1400" dirty="0">
                <a:latin typeface="맑은 고딕 (본문)"/>
              </a:rPr>
              <a:t>publish </a:t>
            </a:r>
            <a:r>
              <a:rPr lang="ko-KR" altLang="en-US" sz="1400" dirty="0">
                <a:latin typeface="맑은 고딕 (본문)"/>
              </a:rPr>
              <a:t>필드를 사용해서 결과를 정렬한다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모델의 </a:t>
            </a:r>
            <a:r>
              <a:rPr lang="en-US" altLang="ko-KR" sz="1400" dirty="0">
                <a:latin typeface="맑은 고딕 (본문)"/>
              </a:rPr>
              <a:t>Meta </a:t>
            </a:r>
            <a:r>
              <a:rPr lang="ko-KR" altLang="en-US" sz="1400" dirty="0">
                <a:latin typeface="맑은 고딕 (본문)"/>
              </a:rPr>
              <a:t>클래스에 </a:t>
            </a:r>
            <a:r>
              <a:rPr lang="en-US" altLang="ko-KR" sz="1400" dirty="0" err="1">
                <a:latin typeface="맑은 고딕 (본문)"/>
              </a:rPr>
              <a:t>indexs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옵션을 추가하여 모델의 데이터베이스 인덱스를 정의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 인덱스는 오름차순 또는 내림차순으로 하나 이상의 필드로 구성하거나 함수 표현식 및 데이터베이스함수로 정의 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D342D8-F8DF-0BEE-DEAA-D4442636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564904"/>
            <a:ext cx="4157292" cy="396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281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16BBC1A-88B9-6D89-AD2A-D60F8450A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674308"/>
            <a:ext cx="3683586" cy="270492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settings.py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어플리케이션 활성화하기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48972-FCC2-AAA8-633A-C9EF7B25FF15}"/>
              </a:ext>
            </a:extLst>
          </p:cNvPr>
          <p:cNvSpPr txBox="1"/>
          <p:nvPr/>
        </p:nvSpPr>
        <p:spPr>
          <a:xfrm>
            <a:off x="791580" y="5949280"/>
            <a:ext cx="7704856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INSTALLED_APPS </a:t>
            </a:r>
            <a:r>
              <a:rPr lang="ko-KR" altLang="en-US" sz="1400" dirty="0">
                <a:latin typeface="맑은 고딕 (본문)"/>
              </a:rPr>
              <a:t>설정에 </a:t>
            </a:r>
            <a:r>
              <a:rPr lang="en-US" altLang="ko-KR" sz="1400" dirty="0" err="1">
                <a:latin typeface="맑은 고딕 (본문)"/>
              </a:rPr>
              <a:t>blog.apps.BlogConfig</a:t>
            </a:r>
            <a:r>
              <a:rPr lang="ko-KR" altLang="en-US" sz="1400" dirty="0">
                <a:latin typeface="맑은 고딕 (본문)"/>
              </a:rPr>
              <a:t>를 추가하여 </a:t>
            </a:r>
            <a:r>
              <a:rPr lang="en-US" altLang="ko-KR" sz="1400" dirty="0">
                <a:latin typeface="맑은 고딕 (본문)"/>
              </a:rPr>
              <a:t>blog </a:t>
            </a:r>
            <a:r>
              <a:rPr lang="ko-KR" altLang="en-US" sz="1400" dirty="0" err="1">
                <a:latin typeface="맑은 고딕 (본문)"/>
              </a:rPr>
              <a:t>애플리케션을</a:t>
            </a:r>
            <a:r>
              <a:rPr lang="ko-KR" altLang="en-US" sz="1400" dirty="0">
                <a:latin typeface="맑은 고딕 (본문)"/>
              </a:rPr>
              <a:t> 활성화시킨다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36247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상태 필드 추가하기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48972-FCC2-AAA8-633A-C9EF7B25FF15}"/>
              </a:ext>
            </a:extLst>
          </p:cNvPr>
          <p:cNvSpPr txBox="1"/>
          <p:nvPr/>
        </p:nvSpPr>
        <p:spPr>
          <a:xfrm>
            <a:off x="5175798" y="2602116"/>
            <a:ext cx="3428650" cy="1384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블로그의 기능으로 게시할 준비가 </a:t>
            </a:r>
            <a:r>
              <a:rPr lang="ko-KR" altLang="en-US" sz="1400" dirty="0" err="1">
                <a:latin typeface="맑은 고딕 (본문)"/>
              </a:rPr>
              <a:t>될때까지</a:t>
            </a:r>
            <a:r>
              <a:rPr lang="ko-KR" altLang="en-US" sz="1400" dirty="0">
                <a:latin typeface="맑은 고딕 (본문)"/>
              </a:rPr>
              <a:t> 게시물을 </a:t>
            </a:r>
            <a:r>
              <a:rPr lang="ko-KR" altLang="en-US" sz="1400" dirty="0" err="1">
                <a:latin typeface="맑은 고딕 (본문)"/>
              </a:rPr>
              <a:t>임시롤</a:t>
            </a:r>
            <a:r>
              <a:rPr lang="ko-KR" altLang="en-US" sz="1400" dirty="0">
                <a:latin typeface="맑은 고딕 (본문)"/>
              </a:rPr>
              <a:t> 저장하는 기능이 있다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블로그 게시물의 상태를 관리할 수 있는 상태 필드를 모델에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BF5E19-D1CC-5AD9-D446-CF1E13BAE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2583410"/>
            <a:ext cx="3852428" cy="38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067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상태 필드 작동 확인하기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E8D91C-F40D-8F92-B043-BB5634073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718348"/>
            <a:ext cx="4166022" cy="4553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41D6FE-DA49-3BBC-0C51-69642B800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29000"/>
            <a:ext cx="740195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353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상태 필드 작동 확인하기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E8D91C-F40D-8F92-B043-BB5634073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718348"/>
            <a:ext cx="4166022" cy="4553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6647F3-BC9D-684D-9CDE-5E8D31275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86" y="3450521"/>
            <a:ext cx="4380981" cy="2664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8C6D66-91D9-F294-B153-29CC338AB77D}"/>
              </a:ext>
            </a:extLst>
          </p:cNvPr>
          <p:cNvSpPr txBox="1"/>
          <p:nvPr/>
        </p:nvSpPr>
        <p:spPr>
          <a:xfrm>
            <a:off x="5665987" y="3466478"/>
            <a:ext cx="3428650" cy="24622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Choies</a:t>
            </a:r>
            <a:r>
              <a:rPr lang="ko-KR" altLang="en-US" sz="1400" dirty="0">
                <a:latin typeface="맑은 고딕 (본문)"/>
              </a:rPr>
              <a:t>시 값</a:t>
            </a:r>
            <a:r>
              <a:rPr lang="en-US" altLang="ko-KR" sz="1400" dirty="0">
                <a:latin typeface="맑은 고딕 (본문)"/>
              </a:rPr>
              <a:t>-</a:t>
            </a:r>
            <a:r>
              <a:rPr lang="ko-KR" altLang="en-US" sz="1400" dirty="0">
                <a:latin typeface="맑은 고딕 (본문)"/>
              </a:rPr>
              <a:t>레이블 쌍으로 열거형 항목들을 출력한다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Post.Status.labels</a:t>
            </a:r>
            <a:r>
              <a:rPr lang="ko-KR" altLang="en-US" sz="1400" dirty="0">
                <a:latin typeface="맑은 고딕 (본문)"/>
              </a:rPr>
              <a:t>의 경우 사람이 읽을 수 있는 열거형 항목 명칭을 출력한다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Post.Status.values</a:t>
            </a:r>
            <a:r>
              <a:rPr lang="ko-KR" altLang="en-US" sz="1400" dirty="0">
                <a:latin typeface="맑은 고딕 (본문)"/>
              </a:rPr>
              <a:t>의 경우 열거형 항목들의 값을 출력한다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Post.Status.names</a:t>
            </a:r>
            <a:r>
              <a:rPr lang="ko-KR" altLang="en-US" sz="1400" dirty="0">
                <a:latin typeface="맑은 고딕 (본문)"/>
              </a:rPr>
              <a:t>의 경우 열거형 항목들의 명칭을 출력한다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2033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r>
              <a:rPr lang="en-US" altLang="ko-KR" sz="1600" dirty="0"/>
              <a:t> – models.py</a:t>
            </a:r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다 대 </a:t>
            </a:r>
            <a:r>
              <a:rPr lang="en-US" altLang="ko-KR" sz="1600" dirty="0"/>
              <a:t>1 </a:t>
            </a:r>
            <a:r>
              <a:rPr lang="ko-KR" altLang="en-US" sz="1600" dirty="0"/>
              <a:t>관계 추가하기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123E3C-83A2-3E31-BEE5-847DA312F6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14" b="90254"/>
          <a:stretch/>
        </p:blipFill>
        <p:spPr>
          <a:xfrm>
            <a:off x="874759" y="2702905"/>
            <a:ext cx="7394482" cy="4726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24020A-C7B6-0782-3C0E-62A8C3F374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903" b="52351"/>
          <a:stretch/>
        </p:blipFill>
        <p:spPr>
          <a:xfrm>
            <a:off x="874759" y="3450787"/>
            <a:ext cx="7644844" cy="1099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844753" y="5131215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어떤 사용자가 어떤 게시물을 작성했는지를 나타내는 사용자와 게시물 간의 관계를 생성한다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장고는 사용자 계정을 처리하는 인증 프레임워크를 함께 제공한다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83085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마이그레이션 생성 및 적용하기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805264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블로그 게시물에 대한 데이터 모델을 만들었으므로 이를 통해 데이터베이스 테이블을 만드는 마이그레이션 작업을 진행한다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A85ACD-F166-1B54-CFF9-A6F93E87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94" y="2566006"/>
            <a:ext cx="6340118" cy="6469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8B8133-EA94-5FC4-15BA-2252E39D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03" y="3314716"/>
            <a:ext cx="6335009" cy="857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C564F59-03EB-7DE2-1C71-F22C4E139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03" y="4350766"/>
            <a:ext cx="2268142" cy="13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772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마이그레이션 생성 및 적용하기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805264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장고가 모델의 테이블을 생성하기 위해 데이터베이스에서 실행할 </a:t>
            </a:r>
            <a:r>
              <a:rPr lang="en-US" altLang="ko-KR" sz="1400" dirty="0" err="1">
                <a:latin typeface="맑은 고딕 (본문)"/>
              </a:rPr>
              <a:t>sql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코드를 살펴보기 위해 </a:t>
            </a:r>
            <a:r>
              <a:rPr lang="en-US" altLang="ko-KR" sz="1400" dirty="0" err="1">
                <a:latin typeface="맑은 고딕 (본문)"/>
              </a:rPr>
              <a:t>sqlmigrate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명령어를 입력하여 </a:t>
            </a:r>
            <a:r>
              <a:rPr lang="en-US" altLang="ko-KR" sz="1400" dirty="0">
                <a:latin typeface="맑은 고딕 (본문)"/>
              </a:rPr>
              <a:t>SQL </a:t>
            </a:r>
            <a:r>
              <a:rPr lang="ko-KR" altLang="en-US" sz="1400" dirty="0" err="1">
                <a:latin typeface="맑은 고딕 (본문)"/>
              </a:rPr>
              <a:t>질의어를</a:t>
            </a:r>
            <a:r>
              <a:rPr lang="ko-KR" altLang="en-US" sz="1400" dirty="0">
                <a:latin typeface="맑은 고딕 (본문)"/>
              </a:rPr>
              <a:t> 출력해본다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BA258A-F190-A843-E8D3-82CC7E73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84" y="2625986"/>
            <a:ext cx="5629458" cy="4429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5D3F485-6CB8-0B2A-FDD2-626F8623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84" y="3209675"/>
            <a:ext cx="7704856" cy="203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10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마이그레이션 생성 및 적용하기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967229-DAE7-25D8-D159-B29673CBA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73" y="2420888"/>
            <a:ext cx="7991475" cy="3838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B88FFE-3FFB-2C2C-1034-DB7421FA4D59}"/>
              </a:ext>
            </a:extLst>
          </p:cNvPr>
          <p:cNvSpPr txBox="1"/>
          <p:nvPr/>
        </p:nvSpPr>
        <p:spPr>
          <a:xfrm>
            <a:off x="719572" y="6150035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최종적으로 마이그레이션된 형태이다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모델의 필드와 </a:t>
            </a:r>
            <a:r>
              <a:rPr lang="ko-KR" altLang="en-US" sz="1400" dirty="0" err="1">
                <a:latin typeface="맑은 고딕 (본문)"/>
              </a:rPr>
              <a:t>데이터베이스간의</a:t>
            </a:r>
            <a:r>
              <a:rPr lang="ko-KR" altLang="en-US" sz="1400" dirty="0">
                <a:latin typeface="맑은 고딕 (본문)"/>
              </a:rPr>
              <a:t> 대응 여부를 확인할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2545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데이터 모델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마이그레이션 생성 및 적용하기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805264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최종적으로 데이터베이스를 새로운 모델과 동기화 진행하여 기존 마이그레이션을 적용하였다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ko-KR" altLang="en-US" sz="1400" dirty="0">
                <a:latin typeface="맑은 고딕 (본문)"/>
              </a:rPr>
              <a:t>마이그레이션을 적용하고 나면 데이터베이스는 모델의 현재 상태를 반영한다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55E1B8-98C5-60B4-1991-3181AF204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2645038"/>
            <a:ext cx="4112035" cy="4239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EFEC69-FB73-D030-6BEA-8F1C5615A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85" y="3378850"/>
            <a:ext cx="7058056" cy="113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907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슈퍼유저 생성하기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805264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관리 사이트를 관리할 사용자를 생성한다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가장 높은 권한을 가진 관리용 사용자를 생성한다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BD4095-2E27-F528-01D5-3C7807443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721495"/>
            <a:ext cx="4438926" cy="5232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A3A713-13C6-C872-D9BA-9DD1E959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296093"/>
            <a:ext cx="6407422" cy="14733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8FED77E-D8F6-9B9F-FFC0-90D1368B2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820836"/>
            <a:ext cx="589190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641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 관리 사이트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912985"/>
            <a:ext cx="7704856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개발 서버를 시작한다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브라우저에서 </a:t>
            </a:r>
            <a:r>
              <a:rPr lang="en-US" altLang="ko-KR" sz="1400" dirty="0">
                <a:latin typeface="맑은 고딕 (본문)"/>
                <a:hlinkClick r:id="rId2"/>
              </a:rPr>
              <a:t>http://127.0.01:8000/admin/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주소를 연다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6DBBF3-B746-44FF-B94B-7DC73BFD9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727726"/>
            <a:ext cx="4871754" cy="637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593FB9-DC9E-C441-082C-88229363E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7" y="3473778"/>
            <a:ext cx="4890443" cy="187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949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 관리 사이트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805264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앞에서 생성한 </a:t>
            </a:r>
            <a:r>
              <a:rPr lang="en-US" altLang="ko-KR" sz="1400" dirty="0">
                <a:latin typeface="맑은 고딕 (본문)"/>
              </a:rPr>
              <a:t>superuser</a:t>
            </a:r>
            <a:r>
              <a:rPr lang="ko-KR" altLang="en-US" sz="1400" dirty="0">
                <a:latin typeface="맑은 고딕 (본문)"/>
              </a:rPr>
              <a:t>의 아이디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패스워드를 입력한다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ID : admin / PW : 12345678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13F8F2-14A3-772D-B1FE-3EC8C0607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2674308"/>
            <a:ext cx="3924300" cy="2676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31336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장고 관리 사이트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91580" y="5805264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Groups</a:t>
            </a:r>
            <a:r>
              <a:rPr lang="ko-KR" altLang="en-US" sz="1400" dirty="0">
                <a:latin typeface="맑은 고딕 (본문)"/>
              </a:rPr>
              <a:t>과 </a:t>
            </a:r>
            <a:r>
              <a:rPr lang="en-US" altLang="ko-KR" sz="1400" dirty="0">
                <a:latin typeface="맑은 고딕 (본문)"/>
              </a:rPr>
              <a:t>Users </a:t>
            </a:r>
            <a:r>
              <a:rPr lang="ko-KR" altLang="en-US" sz="1400" dirty="0">
                <a:latin typeface="맑은 고딕 (본문)"/>
              </a:rPr>
              <a:t>모델은 </a:t>
            </a:r>
            <a:r>
              <a:rPr lang="en-US" altLang="ko-KR" sz="1400" dirty="0" err="1">
                <a:latin typeface="맑은 고딕 (본문)"/>
              </a:rPr>
              <a:t>Django.contrib.auth</a:t>
            </a:r>
            <a:r>
              <a:rPr lang="ko-KR" altLang="en-US" sz="1400" dirty="0">
                <a:latin typeface="맑은 고딕 (본문)"/>
              </a:rPr>
              <a:t>에 있는 장고 인증 프레임워크의 일부로 </a:t>
            </a:r>
            <a:r>
              <a:rPr lang="en-US" altLang="ko-KR" sz="1400" dirty="0">
                <a:latin typeface="맑은 고딕 (본문)"/>
              </a:rPr>
              <a:t>Users</a:t>
            </a:r>
            <a:r>
              <a:rPr lang="ko-KR" altLang="en-US" sz="1400" dirty="0">
                <a:latin typeface="맑은 고딕 (본문)"/>
              </a:rPr>
              <a:t>를 클릭하면 앞서 생성한 사용자를 볼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300C7C-427E-61E2-5F4A-AF0C837D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45" y="2636912"/>
            <a:ext cx="75533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22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관리 사이트에 모델 추가하기 </a:t>
            </a:r>
            <a:r>
              <a:rPr lang="en-US" altLang="ko-KR" sz="1600" dirty="0"/>
              <a:t>– admin.py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19572" y="5769551"/>
            <a:ext cx="770485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블로그 모델을 관리사이트에 추가하기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저장 후 관리자 사이트를 재로드시 추가된 모습을 볼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352957-34C3-7971-C157-510D8065E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785856"/>
            <a:ext cx="4176464" cy="12862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75C47F2-C4D8-4334-6E98-3FA4740F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670890"/>
            <a:ext cx="3845991" cy="23038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43657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관리 사이트 이용하기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FD30E-2F2B-9A75-69FD-BD039E6E995B}"/>
              </a:ext>
            </a:extLst>
          </p:cNvPr>
          <p:cNvSpPr txBox="1"/>
          <p:nvPr/>
        </p:nvSpPr>
        <p:spPr>
          <a:xfrm>
            <a:off x="719572" y="5877272"/>
            <a:ext cx="7704856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Add Post</a:t>
            </a:r>
            <a:r>
              <a:rPr lang="ko-KR" altLang="en-US" sz="1400" dirty="0">
                <a:latin typeface="맑은 고딕 (본문)"/>
              </a:rPr>
              <a:t>를 이용하여 게시글을 작성할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C5C80A-07FA-F58F-FB09-FA5D388B1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932" y="1628800"/>
            <a:ext cx="4354007" cy="387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2538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재실행시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6FD716-8F73-17AC-E297-01CE4E921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299552"/>
            <a:ext cx="3913435" cy="4743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FA1369-5384-72BA-E490-BCA164DEA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897750"/>
            <a:ext cx="2097157" cy="4743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F5723A2-B26D-019F-12C8-22C400546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485895"/>
            <a:ext cx="3865121" cy="4743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4FD0BB-FDD1-B689-166F-5BBFD93ED05C}"/>
              </a:ext>
            </a:extLst>
          </p:cNvPr>
          <p:cNvSpPr txBox="1"/>
          <p:nvPr/>
        </p:nvSpPr>
        <p:spPr>
          <a:xfrm>
            <a:off x="971600" y="4268332"/>
            <a:ext cx="4595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접속 </a:t>
            </a:r>
            <a:r>
              <a:rPr lang="en-US" altLang="ko-KR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=&gt; </a:t>
            </a:r>
            <a:r>
              <a:rPr lang="ko-KR" altLang="en-US" u="sng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http://127.0.0.1:8000/admin/</a:t>
            </a:r>
            <a:r>
              <a:rPr lang="ko-KR" altLang="en-US" u="sng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87179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표시 방법 </a:t>
            </a:r>
            <a:r>
              <a:rPr lang="ko-KR" altLang="en-US" sz="1600" dirty="0" err="1"/>
              <a:t>커스터마이징하기</a:t>
            </a:r>
            <a:r>
              <a:rPr lang="ko-KR" altLang="en-US" sz="1600" dirty="0"/>
              <a:t> 전 모습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3562C7-0DC7-387C-EA31-C3B1D9731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83" y="2740302"/>
            <a:ext cx="8353425" cy="3648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2401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표시 방법 </a:t>
            </a:r>
            <a:r>
              <a:rPr lang="ko-KR" altLang="en-US" sz="1600" dirty="0" err="1"/>
              <a:t>커스터마이징하기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169D99-8A48-ABBB-2AC2-06A65C5D2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636912"/>
            <a:ext cx="7544307" cy="1872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8C9AB-B150-C3C3-7998-50112863ACB0}"/>
              </a:ext>
            </a:extLst>
          </p:cNvPr>
          <p:cNvSpPr txBox="1"/>
          <p:nvPr/>
        </p:nvSpPr>
        <p:spPr>
          <a:xfrm>
            <a:off x="719572" y="5013176"/>
            <a:ext cx="7704856" cy="1169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ModelAdmin</a:t>
            </a:r>
            <a:r>
              <a:rPr lang="ko-KR" altLang="en-US" sz="1400" dirty="0">
                <a:latin typeface="맑은 고딕 (본문)"/>
              </a:rPr>
              <a:t>을 상속한 커스텀 클래스를 사용해서 모델이 사이트에 등록되었음을 장고 관리 사이트에 알려준다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 클래스에서는 사이트에 모델을 표시하는 방법과 모델과 상호작용하는 방법에 관한 정보를 포함할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364879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81E03C-4658-CED8-F875-BFBB565F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4" y="3067094"/>
            <a:ext cx="8820472" cy="10350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816821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표시 방법 </a:t>
            </a:r>
            <a:r>
              <a:rPr lang="ko-KR" altLang="en-US" sz="1600" dirty="0" err="1"/>
              <a:t>커스터마이징하기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8C9AB-B150-C3C3-7998-50112863ACB0}"/>
              </a:ext>
            </a:extLst>
          </p:cNvPr>
          <p:cNvSpPr txBox="1"/>
          <p:nvPr/>
        </p:nvSpPr>
        <p:spPr>
          <a:xfrm>
            <a:off x="719572" y="5611427"/>
            <a:ext cx="7704856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해당 </a:t>
            </a:r>
            <a:r>
              <a:rPr lang="en-US" altLang="ko-KR" sz="1400" dirty="0" err="1">
                <a:latin typeface="맑은 고딕 (본문)"/>
              </a:rPr>
              <a:t>ModelAdmin</a:t>
            </a:r>
            <a:r>
              <a:rPr lang="ko-KR" altLang="en-US" sz="1400" dirty="0">
                <a:latin typeface="맑은 고딕 (본문)"/>
              </a:rPr>
              <a:t>을 상속받은 </a:t>
            </a:r>
            <a:r>
              <a:rPr lang="en-US" altLang="ko-KR" sz="1400" dirty="0" err="1">
                <a:latin typeface="맑은 고딕 (본문)"/>
              </a:rPr>
              <a:t>PostAdmin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클래스를 이용하여 몇가지 추가 옵션으로 </a:t>
            </a:r>
            <a:r>
              <a:rPr lang="en-US" altLang="ko-KR" sz="1400" dirty="0">
                <a:latin typeface="맑은 고딕 (본문)"/>
              </a:rPr>
              <a:t>admin </a:t>
            </a:r>
            <a:r>
              <a:rPr lang="ko-KR" altLang="en-US" sz="1400" dirty="0">
                <a:latin typeface="맑은 고딕 (본문)"/>
              </a:rPr>
              <a:t>모델을 커스터마이징 할 수 있다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브라우저로 돌아가 게시물 목록 페이지를 </a:t>
            </a:r>
            <a:r>
              <a:rPr lang="ko-KR" altLang="en-US" sz="1400" dirty="0" err="1">
                <a:latin typeface="맑은 고딕 (본문)"/>
              </a:rPr>
              <a:t>새로고침하면</a:t>
            </a:r>
            <a:r>
              <a:rPr lang="ko-KR" altLang="en-US" sz="1400" dirty="0">
                <a:latin typeface="맑은 고딕 (본문)"/>
              </a:rPr>
              <a:t> 추가된 모습을 확인할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F212D2-8D76-583C-3759-C5B4EDF41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36912"/>
            <a:ext cx="5172797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2784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속성에 추가 옵션을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E63526-86AB-5609-35A7-AFB9A94B0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12" y="2636912"/>
            <a:ext cx="7662975" cy="39624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978425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속성에 추가 옵션을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E63526-86AB-5609-35A7-AFB9A94B0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51" t="23624"/>
          <a:stretch/>
        </p:blipFill>
        <p:spPr>
          <a:xfrm>
            <a:off x="1115616" y="2996952"/>
            <a:ext cx="1743255" cy="302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96F565-1537-5C4F-FC49-5708C2899B94}"/>
              </a:ext>
            </a:extLst>
          </p:cNvPr>
          <p:cNvSpPr txBox="1"/>
          <p:nvPr/>
        </p:nvSpPr>
        <p:spPr>
          <a:xfrm>
            <a:off x="3203848" y="3239462"/>
            <a:ext cx="5544616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List_filter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속성에 포함된 필드별로 결과를 필터링할 수 있는 오른쪽 사이드 바가 추가됨</a:t>
            </a:r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31976556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속성에 추가 옵션을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6F565-1537-5C4F-FC49-5708C2899B94}"/>
              </a:ext>
            </a:extLst>
          </p:cNvPr>
          <p:cNvSpPr txBox="1"/>
          <p:nvPr/>
        </p:nvSpPr>
        <p:spPr>
          <a:xfrm>
            <a:off x="879236" y="4046399"/>
            <a:ext cx="7365172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Search_fields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속성을 사용해서 검색 가능한 필드 목록을 정의하여 검색 바를 나타냄</a:t>
            </a:r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또한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en-US" altLang="ko-KR" sz="1400" dirty="0" err="1">
                <a:latin typeface="맑은 고딕 (본문)"/>
              </a:rPr>
              <a:t>date_hierarchy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속성을 이용하여 검색 바 바로 아래에는 연월일 단계로 날짜를 고를 수 있는 내비게이션 링크를 위치시킴</a:t>
            </a:r>
            <a:endParaRPr lang="en-US" altLang="ko-KR" sz="1400" dirty="0">
              <a:latin typeface="맑은 고딕 (본문)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DFA901-2A5D-FA58-9042-5C576097F8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66" t="15041" r="58572" b="60598"/>
          <a:stretch/>
        </p:blipFill>
        <p:spPr>
          <a:xfrm>
            <a:off x="971600" y="2813732"/>
            <a:ext cx="2880320" cy="963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201686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속성에 추가 옵션을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E63526-86AB-5609-35A7-AFB9A94B0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120" t="41798" r="22749" b="40029"/>
          <a:stretch/>
        </p:blipFill>
        <p:spPr>
          <a:xfrm>
            <a:off x="1259632" y="2996952"/>
            <a:ext cx="2232248" cy="720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6B7F5F-FAC9-699E-8DC9-EAAC4DD28AD3}"/>
              </a:ext>
            </a:extLst>
          </p:cNvPr>
          <p:cNvSpPr txBox="1"/>
          <p:nvPr/>
        </p:nvSpPr>
        <p:spPr>
          <a:xfrm>
            <a:off x="879236" y="4369564"/>
            <a:ext cx="7365172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Ordering </a:t>
            </a:r>
            <a:r>
              <a:rPr lang="ko-KR" altLang="en-US" sz="1400" dirty="0">
                <a:latin typeface="맑은 고딕 (본문)"/>
              </a:rPr>
              <a:t>속성을 사용하여 </a:t>
            </a:r>
            <a:r>
              <a:rPr lang="en-US" altLang="ko-KR" sz="1400" dirty="0">
                <a:latin typeface="맑은 고딕 (본문)"/>
              </a:rPr>
              <a:t>STATUS </a:t>
            </a:r>
            <a:r>
              <a:rPr lang="ko-KR" altLang="en-US" sz="1400" dirty="0">
                <a:latin typeface="맑은 고딕 (본문)"/>
              </a:rPr>
              <a:t>및 </a:t>
            </a:r>
            <a:r>
              <a:rPr lang="en-US" altLang="ko-KR" sz="1400" dirty="0">
                <a:latin typeface="맑은 고딕 (본문)"/>
              </a:rPr>
              <a:t>PUBLISH </a:t>
            </a:r>
            <a:r>
              <a:rPr lang="ko-KR" altLang="en-US" sz="1400" dirty="0">
                <a:latin typeface="맑은 고딕 (본문)"/>
              </a:rPr>
              <a:t>컬럼으로 정렬시킴</a:t>
            </a:r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152247488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속성에 추가 옵션을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B7F5F-FAC9-699E-8DC9-EAAC4DD28AD3}"/>
              </a:ext>
            </a:extLst>
          </p:cNvPr>
          <p:cNvSpPr txBox="1"/>
          <p:nvPr/>
        </p:nvSpPr>
        <p:spPr>
          <a:xfrm>
            <a:off x="889414" y="5013757"/>
            <a:ext cx="7365172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Prepopulated_fields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속성을 사용하여 </a:t>
            </a:r>
            <a:r>
              <a:rPr lang="en-US" altLang="ko-KR" sz="1400" dirty="0">
                <a:latin typeface="맑은 고딕 (본문)"/>
              </a:rPr>
              <a:t>title </a:t>
            </a:r>
            <a:r>
              <a:rPr lang="ko-KR" altLang="en-US" sz="1400" dirty="0">
                <a:latin typeface="맑은 고딕 (본문)"/>
              </a:rPr>
              <a:t>필드의 입력으로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필드를 채우도록 장고에 지정하였다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오른쪽 상단에 </a:t>
            </a:r>
            <a:r>
              <a:rPr lang="en-US" altLang="ko-KR" sz="1400" dirty="0">
                <a:latin typeface="맑은 고딕 (본문)"/>
              </a:rPr>
              <a:t>ADD POSET </a:t>
            </a:r>
            <a:r>
              <a:rPr lang="ko-KR" altLang="en-US" sz="1400" dirty="0">
                <a:latin typeface="맑은 고딕 (본문)"/>
              </a:rPr>
              <a:t>버튼을 클릭 후 게시물의 제목을 입력하면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필드가 자동으로 채워지게 됨</a:t>
            </a:r>
            <a:endParaRPr lang="en-US" altLang="ko-KR" sz="1400" dirty="0">
              <a:latin typeface="맑은 고딕 (본문)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7E643D-7D79-40C2-7300-5F43961A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744316"/>
            <a:ext cx="6438900" cy="2000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869072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List_display</a:t>
            </a:r>
            <a:r>
              <a:rPr lang="en-US" altLang="ko-KR" sz="1600" dirty="0"/>
              <a:t> </a:t>
            </a:r>
            <a:r>
              <a:rPr lang="ko-KR" altLang="en-US" sz="1600" dirty="0"/>
              <a:t>속성에 추가 옵션을 적용하여 모델 표시 방법 </a:t>
            </a:r>
            <a:r>
              <a:rPr lang="ko-KR" altLang="en-US" sz="1600" dirty="0" err="1"/>
              <a:t>커스터마이징한</a:t>
            </a:r>
            <a:r>
              <a:rPr lang="ko-KR" altLang="en-US" sz="1600" dirty="0"/>
              <a:t>  모습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B7F5F-FAC9-699E-8DC9-EAAC4DD28AD3}"/>
              </a:ext>
            </a:extLst>
          </p:cNvPr>
          <p:cNvSpPr txBox="1"/>
          <p:nvPr/>
        </p:nvSpPr>
        <p:spPr>
          <a:xfrm>
            <a:off x="889414" y="4798314"/>
            <a:ext cx="7365172" cy="1169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Raw_id_fields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속성을 사용하여 </a:t>
            </a:r>
            <a:r>
              <a:rPr lang="en-US" altLang="ko-KR" sz="1400" dirty="0">
                <a:latin typeface="맑은 고딕 (본문)"/>
              </a:rPr>
              <a:t>author </a:t>
            </a:r>
            <a:r>
              <a:rPr lang="ko-KR" altLang="en-US" sz="1400" dirty="0">
                <a:latin typeface="맑은 고딕 (본문)"/>
              </a:rPr>
              <a:t>필드는 이제 조회 위젯과 함께 표시되며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조회가 가능해진다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몇 줄의 추가 옵션 코드로 모델이 관리 사이트에 표시되는 방식을 커스터마이징 가능하다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장고 관리사이트를 커스터마이징하고 확장하는 방법은 장고에서 제공한다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8F13C1-F412-07AE-E1B4-6FEB6CA6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042780"/>
            <a:ext cx="4000500" cy="542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93912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B7F5F-FAC9-699E-8DC9-EAAC4DD28AD3}"/>
              </a:ext>
            </a:extLst>
          </p:cNvPr>
          <p:cNvSpPr txBox="1"/>
          <p:nvPr/>
        </p:nvSpPr>
        <p:spPr>
          <a:xfrm>
            <a:off x="961422" y="2778871"/>
            <a:ext cx="7365172" cy="26776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블로그 게시물을 관리할 수 있는 어느 정도의 기능을 갖춘 관리 사이트이므로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프로그래밍 방식으로 데이터베이스에서 콘텐츠를 읽고 쓰는 방법을 적용해보고자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이를 위해 장고에서는 장고 객체 관계형 </a:t>
            </a:r>
            <a:r>
              <a:rPr lang="ko-KR" altLang="en-US" sz="1400" dirty="0" err="1">
                <a:latin typeface="맑은 고딕 (본문)"/>
              </a:rPr>
              <a:t>매퍼</a:t>
            </a:r>
            <a:r>
              <a:rPr lang="en-US" altLang="ko-KR" sz="1400" dirty="0">
                <a:latin typeface="맑은 고딕 (본문)"/>
              </a:rPr>
              <a:t>(ORM)</a:t>
            </a:r>
            <a:r>
              <a:rPr lang="ko-KR" altLang="en-US" sz="1400" dirty="0">
                <a:latin typeface="맑은 고딕 (본문)"/>
              </a:rPr>
              <a:t>을 제공한다</a:t>
            </a:r>
            <a:r>
              <a:rPr lang="en-US" altLang="ko-KR" sz="1400" dirty="0">
                <a:latin typeface="맑은 고딕 (본문)"/>
              </a:rPr>
              <a:t>. ORM</a:t>
            </a:r>
            <a:r>
              <a:rPr lang="ko-KR" altLang="en-US" sz="1400" dirty="0">
                <a:latin typeface="맑은 고딕 (본문)"/>
              </a:rPr>
              <a:t>은 객체를 데이터베이스에 쉽게 생성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검색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갱신 및 삭제할 수 있는 강력한 데이터베이스 추상화 </a:t>
            </a:r>
            <a:r>
              <a:rPr lang="en-US" altLang="ko-KR" sz="1400" dirty="0">
                <a:latin typeface="맑은 고딕 (본문)"/>
              </a:rPr>
              <a:t>API</a:t>
            </a:r>
            <a:r>
              <a:rPr lang="ko-KR" altLang="en-US" sz="1400" dirty="0">
                <a:latin typeface="맑은 고딕 (본문)"/>
              </a:rPr>
              <a:t>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ORM</a:t>
            </a:r>
            <a:r>
              <a:rPr lang="ko-KR" altLang="en-US" sz="1400" dirty="0">
                <a:latin typeface="맑은 고딕 (본문)"/>
              </a:rPr>
              <a:t>을 사용하면 </a:t>
            </a:r>
            <a:r>
              <a:rPr lang="ko-KR" altLang="en-US" sz="1400" dirty="0" err="1">
                <a:latin typeface="맑은 고딕 (본문)"/>
              </a:rPr>
              <a:t>파이썬의</a:t>
            </a:r>
            <a:r>
              <a:rPr lang="ko-KR" altLang="en-US" sz="1400" dirty="0">
                <a:latin typeface="맑은 고딕 (본문)"/>
              </a:rPr>
              <a:t> 객체지향 패러다임을 사용해서 </a:t>
            </a:r>
            <a:r>
              <a:rPr lang="en-US" altLang="ko-KR" sz="1400" dirty="0">
                <a:latin typeface="맑은 고딕 (본문)"/>
              </a:rPr>
              <a:t>SQL </a:t>
            </a:r>
            <a:r>
              <a:rPr lang="ko-KR" altLang="en-US" sz="1400" dirty="0">
                <a:latin typeface="맑은 고딕 (본문)"/>
              </a:rPr>
              <a:t>쿼리를 생성할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이는 직접 </a:t>
            </a:r>
            <a:r>
              <a:rPr lang="en-US" altLang="ko-KR" sz="1400" dirty="0">
                <a:latin typeface="맑은 고딕 (본문)"/>
              </a:rPr>
              <a:t>SQL </a:t>
            </a:r>
            <a:r>
              <a:rPr lang="ko-KR" altLang="en-US" sz="1400" dirty="0">
                <a:latin typeface="맑은 고딕 (본문)"/>
              </a:rPr>
              <a:t>쿼리를 작성하는 대신 파이썬 방식으로 데이터베이스와 상호작용할 수 있는 방법이다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장고 </a:t>
            </a:r>
            <a:r>
              <a:rPr lang="en-US" altLang="ko-KR" sz="1400" dirty="0">
                <a:latin typeface="맑은 고딕 (본문)"/>
              </a:rPr>
              <a:t>ORM</a:t>
            </a:r>
            <a:r>
              <a:rPr lang="ko-KR" altLang="en-US" sz="1400" dirty="0">
                <a:latin typeface="맑은 고딕 (본문)"/>
              </a:rPr>
              <a:t>은 </a:t>
            </a:r>
            <a:r>
              <a:rPr lang="en-US" altLang="ko-KR" sz="1400" dirty="0">
                <a:latin typeface="맑은 고딕 (본문)"/>
              </a:rPr>
              <a:t>MySQL, PostgreSQL, SQLite, Oracle </a:t>
            </a:r>
            <a:r>
              <a:rPr lang="ko-KR" altLang="en-US" sz="1400" dirty="0">
                <a:latin typeface="맑은 고딕 (본문)"/>
              </a:rPr>
              <a:t>및 </a:t>
            </a:r>
            <a:r>
              <a:rPr lang="en-US" altLang="ko-KR" sz="1400" dirty="0">
                <a:latin typeface="맑은 고딕 (본문)"/>
              </a:rPr>
              <a:t>MariaDB</a:t>
            </a:r>
            <a:r>
              <a:rPr lang="ko-KR" altLang="en-US" sz="1400" dirty="0">
                <a:latin typeface="맑은 고딕 (본문)"/>
              </a:rPr>
              <a:t>와 호환이 가능하다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702983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B7F5F-FAC9-699E-8DC9-EAAC4DD28AD3}"/>
              </a:ext>
            </a:extLst>
          </p:cNvPr>
          <p:cNvSpPr txBox="1"/>
          <p:nvPr/>
        </p:nvSpPr>
        <p:spPr>
          <a:xfrm>
            <a:off x="899592" y="2740302"/>
            <a:ext cx="7571018" cy="1169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장고의 </a:t>
            </a:r>
            <a:r>
              <a:rPr lang="en-US" altLang="ko-KR" sz="1400" dirty="0">
                <a:latin typeface="맑은 고딕 (본문)"/>
              </a:rPr>
              <a:t>ORM</a:t>
            </a:r>
            <a:r>
              <a:rPr lang="ko-KR" altLang="en-US" sz="1400" dirty="0">
                <a:latin typeface="맑은 고딕 (본문)"/>
              </a:rPr>
              <a:t>은 </a:t>
            </a:r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을 기반으로 작동한다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은 데이터베이스에서 객체를 검색하기 위한 일련의 데이터베이스 쿼리 모음이다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에 필터를 적용해서 주어진 매개변수를 기반으로 쿼리 결과의 범위를 좁힐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84598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객체만들기</a:t>
            </a:r>
            <a:r>
              <a:rPr lang="ko-KR" altLang="en-US" sz="1600" dirty="0"/>
              <a:t> </a:t>
            </a:r>
            <a:r>
              <a:rPr lang="en-US" altLang="ko-KR" sz="1600" dirty="0"/>
              <a:t>=&gt; SQL INSERT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A56FB7-2209-C9EE-839F-14F2768F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71214"/>
            <a:ext cx="4014447" cy="4648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440CCD-4554-AD00-5D79-8AD77388D1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247"/>
          <a:stretch/>
        </p:blipFill>
        <p:spPr>
          <a:xfrm>
            <a:off x="1062356" y="3573016"/>
            <a:ext cx="7669340" cy="14182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858499" y="5346904"/>
            <a:ext cx="7571018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3</a:t>
            </a:r>
            <a:r>
              <a:rPr lang="ko-KR" altLang="en-US" sz="1400" dirty="0">
                <a:latin typeface="맑은 고딕 (본문)"/>
              </a:rPr>
              <a:t>행</a:t>
            </a:r>
            <a:r>
              <a:rPr lang="en-US" altLang="ko-KR" sz="1400" dirty="0">
                <a:latin typeface="맑은 고딕 (본문)"/>
              </a:rPr>
              <a:t> user = </a:t>
            </a:r>
            <a:r>
              <a:rPr lang="en-US" altLang="ko-KR" sz="1400" dirty="0" err="1">
                <a:latin typeface="맑은 고딕 (본문)"/>
              </a:rPr>
              <a:t>User.objects.get</a:t>
            </a:r>
            <a:r>
              <a:rPr lang="en-US" altLang="ko-KR" sz="1400" dirty="0">
                <a:latin typeface="맑은 고딕 (본문)"/>
              </a:rPr>
              <a:t>(username='admin’) </a:t>
            </a:r>
            <a:r>
              <a:rPr lang="ko-KR" altLang="en-US" sz="1400" dirty="0">
                <a:latin typeface="맑은 고딕 (본문)"/>
              </a:rPr>
              <a:t>코드는 </a:t>
            </a:r>
            <a:r>
              <a:rPr lang="en-US" altLang="ko-KR" sz="1400" dirty="0">
                <a:latin typeface="맑은 고딕 (본문)"/>
              </a:rPr>
              <a:t>get() </a:t>
            </a:r>
            <a:r>
              <a:rPr lang="ko-KR" altLang="en-US" sz="1400" dirty="0">
                <a:latin typeface="맑은 고딕 (본문)"/>
              </a:rPr>
              <a:t>메소드를 사용하여 데이터베이스에서 단일 객체를 검색한다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username</a:t>
            </a:r>
            <a:r>
              <a:rPr lang="ko-KR" altLang="en-US" sz="1400" dirty="0">
                <a:latin typeface="맑은 고딕 (본문)"/>
              </a:rPr>
              <a:t>의 </a:t>
            </a:r>
            <a:r>
              <a:rPr lang="en-US" altLang="ko-KR" sz="1400" dirty="0">
                <a:latin typeface="맑은 고딕 (본문)"/>
              </a:rPr>
              <a:t>admin</a:t>
            </a:r>
            <a:r>
              <a:rPr lang="ko-KR" altLang="en-US" sz="1400" dirty="0">
                <a:latin typeface="맑은 고딕 (본문)"/>
              </a:rPr>
              <a:t>이 존재하는지 존재하는지에 대한 여부를 확인 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344324624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객체만들기</a:t>
            </a:r>
            <a:r>
              <a:rPr lang="ko-KR" altLang="en-US" sz="1600" dirty="0"/>
              <a:t> </a:t>
            </a:r>
            <a:r>
              <a:rPr lang="en-US" altLang="ko-KR" sz="1600" dirty="0"/>
              <a:t>=&gt; SQL INSERT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A56FB7-2209-C9EE-839F-14F2768F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71214"/>
            <a:ext cx="4014447" cy="4648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440CCD-4554-AD00-5D79-8AD77388D1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247"/>
          <a:stretch/>
        </p:blipFill>
        <p:spPr>
          <a:xfrm>
            <a:off x="1062356" y="3573016"/>
            <a:ext cx="7669340" cy="14182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858499" y="5454626"/>
            <a:ext cx="7571018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4</a:t>
            </a:r>
            <a:r>
              <a:rPr lang="ko-KR" altLang="en-US" sz="1400" dirty="0">
                <a:latin typeface="맑은 고딕 (본문)"/>
              </a:rPr>
              <a:t>행 </a:t>
            </a:r>
            <a:r>
              <a:rPr lang="en-US" altLang="ko-KR" sz="1400" dirty="0">
                <a:latin typeface="맑은 고딕 (본문)"/>
              </a:rPr>
              <a:t>post = Post(title='Another </a:t>
            </a:r>
            <a:r>
              <a:rPr lang="en-US" altLang="ko-KR" sz="1400" dirty="0" err="1">
                <a:latin typeface="맑은 고딕 (본문)"/>
              </a:rPr>
              <a:t>post',slug</a:t>
            </a:r>
            <a:r>
              <a:rPr lang="en-US" altLang="ko-KR" sz="1400" dirty="0">
                <a:latin typeface="맑은 고딕 (본문)"/>
              </a:rPr>
              <a:t>='another-</a:t>
            </a:r>
            <a:r>
              <a:rPr lang="en-US" altLang="ko-KR" sz="1400" dirty="0" err="1">
                <a:latin typeface="맑은 고딕 (본문)"/>
              </a:rPr>
              <a:t>post',body</a:t>
            </a:r>
            <a:r>
              <a:rPr lang="en-US" altLang="ko-KR" sz="1400" dirty="0">
                <a:latin typeface="맑은 고딕 (본문)"/>
              </a:rPr>
              <a:t>='Post </a:t>
            </a:r>
            <a:r>
              <a:rPr lang="en-US" altLang="ko-KR" sz="1400" dirty="0" err="1">
                <a:latin typeface="맑은 고딕 (본문)"/>
              </a:rPr>
              <a:t>body.',author</a:t>
            </a:r>
            <a:r>
              <a:rPr lang="en-US" altLang="ko-KR" sz="1400" dirty="0">
                <a:latin typeface="맑은 고딕 (본문)"/>
              </a:rPr>
              <a:t>=user) </a:t>
            </a:r>
          </a:p>
          <a:p>
            <a:r>
              <a:rPr lang="ko-KR" altLang="en-US" sz="1400" dirty="0">
                <a:latin typeface="맑은 고딕 (본문)"/>
              </a:rPr>
              <a:t>코드는 </a:t>
            </a:r>
            <a:r>
              <a:rPr lang="en-US" altLang="ko-KR" sz="1400" dirty="0">
                <a:latin typeface="맑은 고딕 (본문)"/>
              </a:rPr>
              <a:t>title, slug, body</a:t>
            </a:r>
            <a:r>
              <a:rPr lang="ko-KR" altLang="en-US" sz="1400" dirty="0">
                <a:latin typeface="맑은 고딕 (본문)"/>
              </a:rPr>
              <a:t>를 원하는 값으로 설정하고 앞서 조회해서 얻은 게시물의 저자인 </a:t>
            </a:r>
            <a:r>
              <a:rPr lang="en-US" altLang="ko-KR" sz="1400" dirty="0">
                <a:latin typeface="맑은 고딕 (본문)"/>
              </a:rPr>
              <a:t>user</a:t>
            </a:r>
            <a:r>
              <a:rPr lang="ko-KR" altLang="en-US" sz="1400" dirty="0">
                <a:latin typeface="맑은 고딕 (본문)"/>
              </a:rPr>
              <a:t>를 </a:t>
            </a:r>
            <a:r>
              <a:rPr lang="en-US" altLang="ko-KR" sz="1400" dirty="0">
                <a:latin typeface="맑은 고딕 (본문)"/>
              </a:rPr>
              <a:t>author</a:t>
            </a:r>
            <a:r>
              <a:rPr lang="ko-KR" altLang="en-US" sz="1400" dirty="0">
                <a:latin typeface="맑은 고딕 (본문)"/>
              </a:rPr>
              <a:t>로 설정해서 </a:t>
            </a:r>
            <a:r>
              <a:rPr lang="en-US" altLang="ko-KR" sz="1400" dirty="0">
                <a:latin typeface="맑은 고딕 (본문)"/>
              </a:rPr>
              <a:t>Post </a:t>
            </a:r>
            <a:r>
              <a:rPr lang="ko-KR" altLang="en-US" sz="1400" dirty="0">
                <a:latin typeface="맑은 고딕 (본문)"/>
              </a:rPr>
              <a:t>인스턴스를 생성한다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7818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객체만들기</a:t>
            </a:r>
            <a:r>
              <a:rPr lang="ko-KR" altLang="en-US" sz="1600" dirty="0"/>
              <a:t> </a:t>
            </a:r>
            <a:r>
              <a:rPr lang="en-US" altLang="ko-KR" sz="1600" dirty="0"/>
              <a:t>=&gt; SQL INSERT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A56FB7-2209-C9EE-839F-14F2768F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71214"/>
            <a:ext cx="4014447" cy="4648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440CCD-4554-AD00-5D79-8AD77388D1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247"/>
          <a:stretch/>
        </p:blipFill>
        <p:spPr>
          <a:xfrm>
            <a:off x="1062356" y="3573016"/>
            <a:ext cx="7669340" cy="14182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858499" y="5346906"/>
            <a:ext cx="7571018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위 두 작업에 대하여 객체는 메모리에 존재하지만 아직 데이터베이스에 적용되지는 않는다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실행 중에 사용할 수 있지만 데이터베이스에 저장되지 않은 파이썬 객체를 </a:t>
            </a:r>
            <a:r>
              <a:rPr lang="ko-KR" altLang="en-US" sz="1400" dirty="0" err="1">
                <a:latin typeface="맑은 고딕 (본문)"/>
              </a:rPr>
              <a:t>만든것이다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r>
              <a:rPr lang="ko-KR" altLang="en-US" sz="1400" dirty="0">
                <a:latin typeface="맑은 고딕 (본문)"/>
              </a:rPr>
              <a:t>최종적으로 위 </a:t>
            </a:r>
            <a:r>
              <a:rPr lang="en-US" altLang="ko-KR" sz="1400" dirty="0">
                <a:latin typeface="맑은 고딕 (본문)"/>
              </a:rPr>
              <a:t>2</a:t>
            </a:r>
            <a:r>
              <a:rPr lang="ko-KR" altLang="en-US" sz="1400" dirty="0">
                <a:latin typeface="맑은 고딕 (본문)"/>
              </a:rPr>
              <a:t>행의 코드를 데이터베이스에 적용하기 위해 </a:t>
            </a:r>
            <a:r>
              <a:rPr lang="en-US" altLang="ko-KR" sz="1400" dirty="0">
                <a:latin typeface="맑은 고딕 (본문)"/>
              </a:rPr>
              <a:t>5</a:t>
            </a:r>
            <a:r>
              <a:rPr lang="ko-KR" altLang="en-US" sz="1400" dirty="0">
                <a:latin typeface="맑은 고딕 (본문)"/>
              </a:rPr>
              <a:t>행의 </a:t>
            </a:r>
            <a:r>
              <a:rPr lang="en-US" altLang="ko-KR" sz="1400" dirty="0" err="1">
                <a:latin typeface="맑은 고딕 (본문)"/>
              </a:rPr>
              <a:t>post.save</a:t>
            </a:r>
            <a:r>
              <a:rPr lang="en-US" altLang="ko-KR" sz="1400" dirty="0">
                <a:latin typeface="맑은 고딕 (본문)"/>
              </a:rPr>
              <a:t>()</a:t>
            </a:r>
            <a:r>
              <a:rPr lang="ko-KR" altLang="en-US" sz="1400" dirty="0">
                <a:latin typeface="맑은 고딕 (본문)"/>
              </a:rPr>
              <a:t>를 적용해주어야 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08821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객체만들기</a:t>
            </a:r>
            <a:r>
              <a:rPr lang="ko-KR" altLang="en-US" sz="1600" dirty="0"/>
              <a:t> </a:t>
            </a:r>
            <a:r>
              <a:rPr lang="en-US" altLang="ko-KR" sz="1600" dirty="0"/>
              <a:t>=&gt; SQL INSERT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A56FB7-2209-C9EE-839F-14F2768F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71214"/>
            <a:ext cx="4014447" cy="4648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440CCD-4554-AD00-5D79-8AD77388D1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247"/>
          <a:stretch/>
        </p:blipFill>
        <p:spPr>
          <a:xfrm>
            <a:off x="1062356" y="3573016"/>
            <a:ext cx="7669340" cy="14182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858499" y="5562350"/>
            <a:ext cx="7571018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결과적으로 해당 작업은 백그라운드에서 </a:t>
            </a:r>
            <a:r>
              <a:rPr lang="en-US" altLang="ko-KR" sz="1400" dirty="0">
                <a:latin typeface="맑은 고딕 (본문)"/>
              </a:rPr>
              <a:t>INSERT SQL</a:t>
            </a:r>
            <a:r>
              <a:rPr lang="ko-KR" altLang="en-US" sz="1400" dirty="0">
                <a:latin typeface="맑은 고딕 (본문)"/>
              </a:rPr>
              <a:t>을 수행한다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3613419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객체만들기</a:t>
            </a:r>
            <a:r>
              <a:rPr lang="ko-KR" altLang="en-US" sz="1600" dirty="0"/>
              <a:t> </a:t>
            </a:r>
            <a:r>
              <a:rPr lang="en-US" altLang="ko-KR" sz="1600" dirty="0"/>
              <a:t>=&gt; SQL INSERT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539552" y="5664887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서버에 재접속시 데이터가 </a:t>
            </a:r>
            <a:r>
              <a:rPr lang="en-US" altLang="ko-KR" sz="1400" dirty="0">
                <a:latin typeface="맑은 고딕 (본문)"/>
              </a:rPr>
              <a:t>Insert</a:t>
            </a:r>
            <a:r>
              <a:rPr lang="ko-KR" altLang="en-US" sz="1400" dirty="0">
                <a:latin typeface="맑은 고딕 (본문)"/>
              </a:rPr>
              <a:t>된 모습을 확인 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2A9E77-793A-5476-259C-83A6B0CA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23" y="3549894"/>
            <a:ext cx="7848872" cy="1613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E525BF-A84E-5DB2-4DCA-BD07388B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07" y="3024651"/>
            <a:ext cx="2735810" cy="35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5327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수정하기 </a:t>
            </a:r>
            <a:r>
              <a:rPr lang="en-US" altLang="ko-KR" sz="1600" dirty="0"/>
              <a:t>=&gt; SQL UPDATE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539552" y="5664887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게시물의 제목을 </a:t>
            </a:r>
            <a:r>
              <a:rPr lang="ko-KR" altLang="en-US" sz="1400" dirty="0" err="1">
                <a:latin typeface="맑은 고딕 (본문)"/>
              </a:rPr>
              <a:t>다른것으로</a:t>
            </a:r>
            <a:r>
              <a:rPr lang="ko-KR" altLang="en-US" sz="1400" dirty="0">
                <a:latin typeface="맑은 고딕 (본문)"/>
              </a:rPr>
              <a:t> 변경이 필요할 시 필드를 수정하고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객체를 다시 저장한다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466717-F73D-6B79-7D4B-E393DE5ED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45" y="3352277"/>
            <a:ext cx="6668431" cy="1700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35167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수정하기 </a:t>
            </a:r>
            <a:r>
              <a:rPr lang="en-US" altLang="ko-KR" sz="1600" dirty="0"/>
              <a:t>=&gt; SQL UPDATE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539552" y="5664887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게시물의 제목이 </a:t>
            </a:r>
            <a:r>
              <a:rPr lang="en-US" altLang="ko-KR" sz="1400" dirty="0">
                <a:latin typeface="맑은 고딕 (본문)"/>
              </a:rPr>
              <a:t>New title</a:t>
            </a:r>
            <a:r>
              <a:rPr lang="ko-KR" altLang="en-US" sz="1400" dirty="0">
                <a:latin typeface="맑은 고딕 (본문)"/>
              </a:rPr>
              <a:t>로 변경된 것을 확인할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0C03C3-256D-1949-6C92-FC57CCD5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88" y="3364755"/>
            <a:ext cx="8388424" cy="1673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6037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조회하기 </a:t>
            </a:r>
            <a:r>
              <a:rPr lang="en-US" altLang="ko-KR" sz="1600" dirty="0"/>
              <a:t>=&gt; SQL SELECT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539552" y="5557166"/>
            <a:ext cx="7571018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3</a:t>
            </a:r>
            <a:r>
              <a:rPr lang="ko-KR" altLang="en-US" sz="1400" dirty="0">
                <a:latin typeface="맑은 고딕 (본문)"/>
              </a:rPr>
              <a:t>행 </a:t>
            </a:r>
            <a:r>
              <a:rPr lang="en-US" altLang="ko-KR" sz="1400" dirty="0">
                <a:latin typeface="맑은 고딕 (본문)"/>
              </a:rPr>
              <a:t>Post</a:t>
            </a:r>
            <a:r>
              <a:rPr lang="ko-KR" altLang="en-US" sz="1400" dirty="0">
                <a:latin typeface="맑은 고딕 (본문)"/>
              </a:rPr>
              <a:t>에 </a:t>
            </a:r>
            <a:r>
              <a:rPr lang="en-US" altLang="ko-KR" sz="1400" dirty="0" err="1">
                <a:latin typeface="맑은 고딕 (본문)"/>
              </a:rPr>
              <a:t>objects.get</a:t>
            </a:r>
            <a:r>
              <a:rPr lang="en-US" altLang="ko-KR" sz="1400" dirty="0">
                <a:latin typeface="맑은 고딕 (본문)"/>
              </a:rPr>
              <a:t>()</a:t>
            </a:r>
            <a:r>
              <a:rPr lang="ko-KR" altLang="en-US" sz="1400" dirty="0">
                <a:latin typeface="맑은 고딕 (본문)"/>
              </a:rPr>
              <a:t>시에는 단일 객체를 조회 </a:t>
            </a:r>
            <a:r>
              <a:rPr lang="ko-KR" altLang="en-US" sz="1400" dirty="0" err="1">
                <a:latin typeface="맑은 고딕 (본문)"/>
              </a:rPr>
              <a:t>할때</a:t>
            </a:r>
            <a:r>
              <a:rPr lang="ko-KR" altLang="en-US" sz="1400" dirty="0">
                <a:latin typeface="맑은 고딕 (본문)"/>
              </a:rPr>
              <a:t>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7,8</a:t>
            </a:r>
            <a:r>
              <a:rPr lang="ko-KR" altLang="en-US" sz="1400" dirty="0">
                <a:latin typeface="맑은 고딕 (본문)"/>
              </a:rPr>
              <a:t>행 </a:t>
            </a:r>
            <a:r>
              <a:rPr lang="en-US" altLang="ko-KR" sz="1400" dirty="0">
                <a:latin typeface="맑은 고딕 (본문)"/>
              </a:rPr>
              <a:t>Post</a:t>
            </a:r>
            <a:r>
              <a:rPr lang="ko-KR" altLang="en-US" sz="1400" dirty="0">
                <a:latin typeface="맑은 고딕 (본문)"/>
              </a:rPr>
              <a:t>에 </a:t>
            </a:r>
            <a:r>
              <a:rPr lang="en-US" altLang="ko-KR" sz="1400" dirty="0" err="1">
                <a:latin typeface="맑은 고딕 (본문)"/>
              </a:rPr>
              <a:t>objects.all</a:t>
            </a:r>
            <a:r>
              <a:rPr lang="en-US" altLang="ko-KR" sz="1400" dirty="0">
                <a:latin typeface="맑은 고딕 (본문)"/>
              </a:rPr>
              <a:t>()</a:t>
            </a:r>
            <a:r>
              <a:rPr lang="ko-KR" altLang="en-US" sz="1400" dirty="0">
                <a:latin typeface="맑은 고딕 (본문)"/>
              </a:rPr>
              <a:t>시에는 테이블에서 모든 객체를 조회 </a:t>
            </a:r>
            <a:r>
              <a:rPr lang="ko-KR" altLang="en-US" sz="1400" dirty="0" err="1">
                <a:latin typeface="맑은 고딕 (본문)"/>
              </a:rPr>
              <a:t>할때</a:t>
            </a:r>
            <a:r>
              <a:rPr lang="ko-KR" altLang="en-US" sz="1400" dirty="0">
                <a:latin typeface="맑은 고딕 (본문)"/>
              </a:rPr>
              <a:t>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352E75-40FD-3931-1BE1-A8D0CDA2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11" y="3174592"/>
            <a:ext cx="6649378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020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조회하기 </a:t>
            </a:r>
            <a:r>
              <a:rPr lang="en-US" altLang="ko-KR" sz="1600" dirty="0"/>
              <a:t>=&gt; SQL SELECT +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858499" y="4641118"/>
            <a:ext cx="7571018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을 필터링하기 위해서는 관리자의 </a:t>
            </a:r>
            <a:r>
              <a:rPr lang="en-US" altLang="ko-KR" sz="1400" dirty="0">
                <a:latin typeface="맑은 고딕 (본문)"/>
              </a:rPr>
              <a:t>filter() </a:t>
            </a:r>
            <a:r>
              <a:rPr lang="ko-KR" altLang="en-US" sz="1400" dirty="0">
                <a:latin typeface="맑은 고딕 (본문)"/>
              </a:rPr>
              <a:t>메서드를 사용한다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을 사용해서 </a:t>
            </a:r>
            <a:r>
              <a:rPr lang="en-US" altLang="ko-KR" sz="1400" dirty="0">
                <a:latin typeface="맑은 고딕 (본문)"/>
              </a:rPr>
              <a:t>2024</a:t>
            </a:r>
            <a:r>
              <a:rPr lang="ko-KR" altLang="en-US" sz="1400" dirty="0">
                <a:latin typeface="맑은 고딕 (본문)"/>
              </a:rPr>
              <a:t>년에 게시된 모들 게시물들을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ko-KR" altLang="en-US" sz="1400" dirty="0">
                <a:latin typeface="맑은 고딕 (본문)"/>
              </a:rPr>
              <a:t>또한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사용자 이름이 </a:t>
            </a:r>
            <a:r>
              <a:rPr lang="en-US" altLang="ko-KR" sz="1400" dirty="0">
                <a:latin typeface="맑은 고딕 (본문)"/>
              </a:rPr>
              <a:t>admin</a:t>
            </a:r>
            <a:r>
              <a:rPr lang="ko-KR" altLang="en-US" sz="1400" dirty="0">
                <a:latin typeface="맑은 고딕 (본문)"/>
              </a:rPr>
              <a:t>이면서 </a:t>
            </a:r>
            <a:r>
              <a:rPr lang="en-US" altLang="ko-KR" sz="1400" dirty="0">
                <a:latin typeface="맑은 고딕 (본문)"/>
              </a:rPr>
              <a:t>2024</a:t>
            </a:r>
            <a:r>
              <a:rPr lang="ko-KR" altLang="en-US" sz="1400" dirty="0">
                <a:latin typeface="맑은 고딕 (본문)"/>
              </a:rPr>
              <a:t>년에 게시된 모들 게시물들을 조회할 수도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16A4B6-60E1-57FE-A0E3-75EDAF8D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140968"/>
            <a:ext cx="6516009" cy="109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2694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조회하기 </a:t>
            </a:r>
            <a:r>
              <a:rPr lang="en-US" altLang="ko-KR" sz="1600" dirty="0"/>
              <a:t>=&gt; SQL SELECT + Exclude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921058" y="4088709"/>
            <a:ext cx="7571018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관리자의 </a:t>
            </a:r>
            <a:r>
              <a:rPr lang="en-US" altLang="ko-KR" sz="1400" dirty="0">
                <a:latin typeface="맑은 고딕 (본문)"/>
              </a:rPr>
              <a:t>exclude() </a:t>
            </a:r>
            <a:r>
              <a:rPr lang="ko-KR" altLang="en-US" sz="1400" dirty="0">
                <a:latin typeface="맑은 고딕 (본문)"/>
              </a:rPr>
              <a:t>메서드를 사용해서 </a:t>
            </a:r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에서 특정 결과를 제외할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예를 들어 제목이 </a:t>
            </a:r>
            <a:r>
              <a:rPr lang="en-US" altLang="ko-KR" sz="1400" dirty="0">
                <a:latin typeface="맑은 고딕 (본문)"/>
              </a:rPr>
              <a:t>Why</a:t>
            </a:r>
            <a:r>
              <a:rPr lang="ko-KR" altLang="en-US" sz="1400" dirty="0">
                <a:latin typeface="맑은 고딕 (본문)"/>
              </a:rPr>
              <a:t>로 시작하지 않는 </a:t>
            </a:r>
            <a:r>
              <a:rPr lang="en-US" altLang="ko-KR" sz="1400" dirty="0">
                <a:latin typeface="맑은 고딕 (본문)"/>
              </a:rPr>
              <a:t>2023</a:t>
            </a:r>
            <a:r>
              <a:rPr lang="ko-KR" altLang="en-US" sz="1400" dirty="0">
                <a:latin typeface="맑은 고딕 (본문)"/>
              </a:rPr>
              <a:t>년에 게시된 모든 게시물은 위와 같이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884672-CB3F-C7C2-8849-C193F49F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8" y="3119394"/>
            <a:ext cx="7758847" cy="74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5488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조회하기 </a:t>
            </a:r>
            <a:r>
              <a:rPr lang="en-US" altLang="ko-KR" sz="1600" dirty="0"/>
              <a:t>=&gt; SQL SELECT + </a:t>
            </a:r>
            <a:r>
              <a:rPr lang="en-US" altLang="ko-KR" sz="1600" dirty="0" err="1"/>
              <a:t>Order_by</a:t>
            </a:r>
            <a:endParaRPr lang="en-US" altLang="ko-K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971600" y="4581128"/>
            <a:ext cx="7571018" cy="1384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관리자의 </a:t>
            </a:r>
            <a:r>
              <a:rPr lang="en-US" altLang="ko-KR" sz="1400" dirty="0" err="1">
                <a:latin typeface="맑은 고딕 (본문)"/>
              </a:rPr>
              <a:t>oeder_by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>
                <a:latin typeface="맑은 고딕 (본문)"/>
              </a:rPr>
              <a:t>메서드를 사용해서 필드별로 결과를 정렬할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예를 들어 위와 같이 모든 객체를 </a:t>
            </a:r>
            <a:r>
              <a:rPr lang="en-US" altLang="ko-KR" sz="1400" dirty="0">
                <a:latin typeface="맑은 고딕 (본문)"/>
              </a:rPr>
              <a:t>title</a:t>
            </a:r>
            <a:r>
              <a:rPr lang="ko-KR" altLang="en-US" sz="1400" dirty="0">
                <a:latin typeface="맑은 고딕 (본문)"/>
              </a:rPr>
              <a:t>로 정렬해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1</a:t>
            </a:r>
            <a:r>
              <a:rPr lang="ko-KR" altLang="en-US" sz="1400" dirty="0">
                <a:latin typeface="맑은 고딕 (본문)"/>
              </a:rPr>
              <a:t>행은 오름차순 설정이고</a:t>
            </a:r>
            <a:r>
              <a:rPr lang="en-US" altLang="ko-KR" sz="1400" dirty="0">
                <a:latin typeface="맑은 고딕 (본문)"/>
              </a:rPr>
              <a:t>, 3</a:t>
            </a:r>
            <a:r>
              <a:rPr lang="ko-KR" altLang="en-US" sz="1400" dirty="0">
                <a:latin typeface="맑은 고딕 (본문)"/>
              </a:rPr>
              <a:t>행의 </a:t>
            </a:r>
            <a:r>
              <a:rPr lang="en-US" altLang="ko-KR" sz="1400" dirty="0">
                <a:latin typeface="맑은 고딕 (본문)"/>
              </a:rPr>
              <a:t>–</a:t>
            </a:r>
            <a:r>
              <a:rPr lang="ko-KR" altLang="en-US" sz="1400" dirty="0">
                <a:latin typeface="맑은 고딕 (본문)"/>
              </a:rPr>
              <a:t> 음의 부호를 접두사로 사용해서 내림차순으로 나타낼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3E9EF3-C58B-23E3-0A92-5C4A6CC1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1" y="3131130"/>
            <a:ext cx="6895711" cy="11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24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ko-KR" altLang="en-US" sz="1600" dirty="0"/>
              <a:t>과 관리자로 작업하기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en-US" altLang="ko-KR" sz="1600" dirty="0" err="1"/>
              <a:t>QuerySet</a:t>
            </a:r>
            <a:r>
              <a:rPr lang="en-US" altLang="ko-KR" sz="1600" dirty="0"/>
              <a:t> </a:t>
            </a:r>
            <a:r>
              <a:rPr lang="ko-KR" altLang="en-US" sz="1600" dirty="0"/>
              <a:t>객체 삭제하기 </a:t>
            </a:r>
            <a:r>
              <a:rPr lang="en-US" altLang="ko-KR" sz="1600" dirty="0"/>
              <a:t>=&gt; SQL DELETE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43A81-C316-FF2A-EE75-1E69A7163584}"/>
              </a:ext>
            </a:extLst>
          </p:cNvPr>
          <p:cNvSpPr txBox="1"/>
          <p:nvPr/>
        </p:nvSpPr>
        <p:spPr>
          <a:xfrm>
            <a:off x="786491" y="4490454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객체를 삭제하기 위해서는 객체 인스턴스에서 </a:t>
            </a:r>
            <a:r>
              <a:rPr lang="en-US" altLang="ko-KR" sz="1400" dirty="0">
                <a:latin typeface="맑은 고딕 (본문)"/>
              </a:rPr>
              <a:t>delete() </a:t>
            </a:r>
            <a:r>
              <a:rPr lang="ko-KR" altLang="en-US" sz="1400" dirty="0">
                <a:latin typeface="맑은 고딕 (본문)"/>
              </a:rPr>
              <a:t>메서드를 사용할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227900-F3D6-A136-0F74-F4CC4D01E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100341"/>
            <a:ext cx="3995708" cy="10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1286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관리자 생성하기 </a:t>
            </a:r>
            <a:r>
              <a:rPr lang="en-US" altLang="ko-KR" sz="1600" dirty="0"/>
              <a:t>– models.py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B93582-2E54-E2AC-3F31-87C5F2A54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636912"/>
            <a:ext cx="4591691" cy="3400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0DFA7C-A2DC-5CC2-851C-66D69436D549}"/>
              </a:ext>
            </a:extLst>
          </p:cNvPr>
          <p:cNvSpPr txBox="1"/>
          <p:nvPr/>
        </p:nvSpPr>
        <p:spPr>
          <a:xfrm>
            <a:off x="786491" y="6150035"/>
            <a:ext cx="7571018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모든 모델의 기본 관리자는 </a:t>
            </a:r>
            <a:r>
              <a:rPr lang="en-US" altLang="ko-KR" sz="1400" dirty="0">
                <a:latin typeface="맑은 고딕 (본문)"/>
              </a:rPr>
              <a:t>objects </a:t>
            </a:r>
            <a:r>
              <a:rPr lang="ko-KR" altLang="en-US" sz="1400" dirty="0">
                <a:latin typeface="맑은 고딕 (본문)"/>
              </a:rPr>
              <a:t>관리자이다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추가적으로 커스텀 관리자를 추가하고 </a:t>
            </a:r>
            <a:r>
              <a:rPr lang="ko-KR" altLang="en-US" sz="1400" dirty="0" err="1">
                <a:latin typeface="맑은 고딕 (본문)"/>
              </a:rPr>
              <a:t>싶을시</a:t>
            </a:r>
            <a:r>
              <a:rPr lang="ko-KR" altLang="en-US" sz="1400" dirty="0">
                <a:latin typeface="맑은 고딕 (본문)"/>
              </a:rPr>
              <a:t> 다음과 같이 설정할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486915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관리자 생성하기 </a:t>
            </a:r>
            <a:r>
              <a:rPr lang="en-US" altLang="ko-KR" sz="1600" dirty="0"/>
              <a:t>– models.py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2A594A-3039-4E47-7291-FD811E4F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636912"/>
            <a:ext cx="4515480" cy="3248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786491" y="6150035"/>
            <a:ext cx="7571018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Objects = </a:t>
            </a:r>
            <a:r>
              <a:rPr lang="en-US" altLang="ko-KR" sz="1400" dirty="0" err="1">
                <a:latin typeface="맑은 고딕 (본문)"/>
              </a:rPr>
              <a:t>Models.Manager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>
                <a:latin typeface="맑은 고딕 (본문)"/>
              </a:rPr>
              <a:t>첫 실행된 모델 관리자는 기본 관리자가 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en-US" altLang="ko-KR" sz="1400" dirty="0">
                <a:latin typeface="맑은 고딕 (본문)"/>
              </a:rPr>
              <a:t>Published = </a:t>
            </a:r>
            <a:r>
              <a:rPr lang="en-US" altLang="ko-KR" sz="1400" dirty="0" err="1">
                <a:latin typeface="맑은 고딕 (본문)"/>
              </a:rPr>
              <a:t>PublishedManager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>
                <a:latin typeface="맑은 고딕 (본문)"/>
              </a:rPr>
              <a:t>두번째 실행된 모델 관리자는 커스텀 서브 관리자가 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512092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 관리자 생성하기 </a:t>
            </a:r>
            <a:r>
              <a:rPr lang="en-US" altLang="ko-KR" sz="1600" dirty="0"/>
              <a:t>– models.py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971600" y="4869160"/>
            <a:ext cx="7571018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 </a:t>
            </a:r>
            <a:r>
              <a:rPr lang="en-US" altLang="ko-KR" sz="1400" dirty="0">
                <a:latin typeface="맑은 고딕 (본문)"/>
              </a:rPr>
              <a:t>object</a:t>
            </a:r>
            <a:r>
              <a:rPr lang="ko-KR" altLang="en-US" sz="1400" dirty="0">
                <a:latin typeface="맑은 고딕 (본문)"/>
              </a:rPr>
              <a:t>로 설정되었던 관리자 부분을 </a:t>
            </a:r>
            <a:r>
              <a:rPr lang="en-US" altLang="ko-KR" sz="1400" dirty="0">
                <a:latin typeface="맑은 고딕 (본문)"/>
              </a:rPr>
              <a:t>published</a:t>
            </a:r>
            <a:r>
              <a:rPr lang="ko-KR" altLang="en-US" sz="1400" dirty="0">
                <a:latin typeface="맑은 고딕 (본문)"/>
              </a:rPr>
              <a:t>로 설정하여 </a:t>
            </a:r>
            <a:r>
              <a:rPr lang="ko-KR" altLang="en-US" sz="1400" dirty="0" err="1">
                <a:latin typeface="맑은 고딕 (본문)"/>
              </a:rPr>
              <a:t>실행시</a:t>
            </a:r>
            <a:r>
              <a:rPr lang="ko-KR" altLang="en-US" sz="1400" dirty="0">
                <a:latin typeface="맑은 고딕 (본문)"/>
              </a:rPr>
              <a:t> 작동하는 모습을 볼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AD645D-BEF4-EC03-35E9-694301B7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934377"/>
            <a:ext cx="5453306" cy="87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145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99592" y="2636912"/>
            <a:ext cx="7571018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ORM</a:t>
            </a:r>
            <a:r>
              <a:rPr lang="ko-KR" altLang="en-US" sz="1400" dirty="0">
                <a:latin typeface="맑은 고딕 (본문)"/>
              </a:rPr>
              <a:t>에 대한 사용 방법을 살펴봤으므로 </a:t>
            </a:r>
            <a:r>
              <a:rPr lang="en-US" altLang="ko-KR" sz="1400" dirty="0">
                <a:latin typeface="맑은 고딕 (본문)"/>
              </a:rPr>
              <a:t>BLOG </a:t>
            </a:r>
            <a:r>
              <a:rPr lang="ko-KR" altLang="en-US" sz="1400" dirty="0">
                <a:latin typeface="맑은 고딕 (본문)"/>
              </a:rPr>
              <a:t>어플리케이션의 뷰를 만드는데 필요한 준비를 맞췄다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장고 뷰는 웹 요청을 수신하고 웹 응답을 반환하는 파이썬 함수일 뿐이다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원하는 응답을 반환하는 모든 로직은 뷰에 들어간다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먼저 애플리케이션 뷰를 생성하고 뷰에 맞는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정의해야 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끝으로 뷰에서 생성된 데이터를 렌더링하는 </a:t>
            </a:r>
            <a:r>
              <a:rPr lang="en-US" altLang="ko-KR" sz="1400" dirty="0">
                <a:latin typeface="맑은 고딕 (본문)"/>
              </a:rPr>
              <a:t>HTML </a:t>
            </a:r>
            <a:r>
              <a:rPr lang="ko-KR" altLang="en-US" sz="1400" dirty="0">
                <a:latin typeface="맑은 고딕 (본문)"/>
              </a:rPr>
              <a:t>템플릿을 생성한다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각 뷰는 템플릿을 렌더링하고 변수를 전달하고 렌더링 된 출력과 함께 </a:t>
            </a:r>
            <a:r>
              <a:rPr lang="en-US" altLang="ko-KR" sz="1400" dirty="0">
                <a:latin typeface="맑은 고딕 (본문)"/>
              </a:rPr>
              <a:t>HTTP </a:t>
            </a:r>
            <a:r>
              <a:rPr lang="ko-KR" altLang="en-US" sz="1400" dirty="0">
                <a:latin typeface="맑은 고딕 (본문)"/>
              </a:rPr>
              <a:t>응답을 반환한다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752265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 및 상세 뷰 생성하기 </a:t>
            </a:r>
            <a:r>
              <a:rPr lang="en-US" altLang="ko-KR" sz="1600" dirty="0"/>
              <a:t>– views.py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5284927"/>
            <a:ext cx="7571018" cy="1384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Post_list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뷰는 </a:t>
            </a:r>
            <a:r>
              <a:rPr lang="en-US" altLang="ko-KR" sz="1400" dirty="0">
                <a:latin typeface="맑은 고딕 (본문)"/>
              </a:rPr>
              <a:t>request </a:t>
            </a:r>
            <a:r>
              <a:rPr lang="ko-KR" altLang="en-US" sz="1400" dirty="0">
                <a:latin typeface="맑은 고딕 (본문)"/>
              </a:rPr>
              <a:t>객체를 유일한 매개 변수로 사용하는 뷰이다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해당 뷰는 앞서 생성한 </a:t>
            </a:r>
            <a:r>
              <a:rPr lang="en-US" altLang="ko-KR" sz="1400" dirty="0">
                <a:latin typeface="맑은 고딕 (본문)"/>
              </a:rPr>
              <a:t>published </a:t>
            </a:r>
            <a:r>
              <a:rPr lang="ko-KR" altLang="en-US" sz="1400" dirty="0">
                <a:latin typeface="맑은 고딕 (본문)"/>
              </a:rPr>
              <a:t>관리자를 사용해서 </a:t>
            </a:r>
            <a:r>
              <a:rPr lang="en-US" altLang="ko-KR" sz="1400" dirty="0">
                <a:latin typeface="맑은 고딕 (본문)"/>
              </a:rPr>
              <a:t>PUBLISHED </a:t>
            </a:r>
            <a:r>
              <a:rPr lang="ko-KR" altLang="en-US" sz="1400" dirty="0">
                <a:latin typeface="맑은 고딕 (본문)"/>
              </a:rPr>
              <a:t>상태의 모든 게시물을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마지막으로 </a:t>
            </a:r>
            <a:r>
              <a:rPr lang="en-US" altLang="ko-KR" sz="1400" dirty="0">
                <a:latin typeface="맑은 고딕 (본문)"/>
              </a:rPr>
              <a:t>render() </a:t>
            </a:r>
            <a:r>
              <a:rPr lang="ko-KR" altLang="en-US" sz="1400" dirty="0">
                <a:latin typeface="맑은 고딕 (본문)"/>
              </a:rPr>
              <a:t>함수를 사용해서 주어진 템플릿으로 게시물 목록을 렌더링 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8747C2-C2F9-18F5-7FA0-61B18DE1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996952"/>
            <a:ext cx="7116191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9327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 및 상세 뷰 생성하기 </a:t>
            </a:r>
            <a:r>
              <a:rPr lang="en-US" altLang="ko-KR" sz="1600" dirty="0"/>
              <a:t>– views.py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5679312"/>
            <a:ext cx="7571018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하나의 게시물을 표현하는 두번째 뷰를 만들기 위해 </a:t>
            </a:r>
            <a:r>
              <a:rPr lang="en-US" altLang="ko-KR" sz="1400" dirty="0">
                <a:latin typeface="맑은 고딕 (본문)"/>
              </a:rPr>
              <a:t>view.py </a:t>
            </a:r>
            <a:r>
              <a:rPr lang="ko-KR" altLang="en-US" sz="1400" dirty="0">
                <a:latin typeface="맑은 고딕 (본문)"/>
              </a:rPr>
              <a:t>파일에 다음 함수를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이는 게시물 상세 뷰이다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9A1E3E-7C7D-382B-B0DD-14B3AE5C3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924944"/>
            <a:ext cx="5287113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854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뷰에 맞는 </a:t>
            </a:r>
            <a:r>
              <a:rPr lang="en-US" altLang="ko-KR" sz="1600" dirty="0"/>
              <a:t>URL </a:t>
            </a:r>
            <a:r>
              <a:rPr lang="ko-KR" altLang="en-US" sz="1600" dirty="0"/>
              <a:t>패턴 추가하기 </a:t>
            </a:r>
            <a:r>
              <a:rPr lang="en-US" altLang="ko-KR" sz="1600" dirty="0"/>
              <a:t>– blog\urls.py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5661248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Blog </a:t>
            </a:r>
            <a:r>
              <a:rPr lang="ko-KR" altLang="en-US" sz="1400" dirty="0">
                <a:latin typeface="맑은 고딕 (본문)"/>
              </a:rPr>
              <a:t>애플리케이션의 디렉토리에 </a:t>
            </a:r>
            <a:r>
              <a:rPr lang="en-US" altLang="ko-KR" sz="1400" dirty="0">
                <a:latin typeface="맑은 고딕 (본문)"/>
              </a:rPr>
              <a:t>urls.py </a:t>
            </a:r>
            <a:r>
              <a:rPr lang="ko-KR" altLang="en-US" sz="1400" dirty="0">
                <a:latin typeface="맑은 고딕 (본문)"/>
              </a:rPr>
              <a:t>파일을 만들고 위 코드를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6C6CC1-CB7B-4C5A-D2F9-05D49054B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79" y="2917381"/>
            <a:ext cx="6925642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3073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뷰에 맞는 </a:t>
            </a:r>
            <a:r>
              <a:rPr lang="en-US" altLang="ko-KR" sz="1600" dirty="0"/>
              <a:t>URL </a:t>
            </a:r>
            <a:r>
              <a:rPr lang="ko-KR" altLang="en-US" sz="1600" dirty="0"/>
              <a:t>패턴 추가하기 </a:t>
            </a:r>
            <a:r>
              <a:rPr lang="en-US" altLang="ko-KR" sz="1600" dirty="0"/>
              <a:t>– mysite\urls.py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5661248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Mysite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디렉토리에 있는 </a:t>
            </a:r>
            <a:r>
              <a:rPr lang="en-US" altLang="ko-KR" sz="1400" dirty="0">
                <a:latin typeface="맑은 고딕 (본문)"/>
              </a:rPr>
              <a:t>urls.py </a:t>
            </a:r>
            <a:r>
              <a:rPr lang="ko-KR" altLang="en-US" sz="1400" dirty="0">
                <a:latin typeface="맑은 고딕 (본문)"/>
              </a:rPr>
              <a:t>파일을 편집한다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EF9CD0-C72B-495A-33C1-39502A375A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976"/>
          <a:stretch/>
        </p:blipFill>
        <p:spPr>
          <a:xfrm>
            <a:off x="1043608" y="3179639"/>
            <a:ext cx="6201640" cy="24936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E892587-9E73-5170-F304-19F4F8C12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368"/>
          <a:stretch/>
        </p:blipFill>
        <p:spPr>
          <a:xfrm>
            <a:off x="1043608" y="3429000"/>
            <a:ext cx="6201640" cy="16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9681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뷰에 맞는 템플릿 생성하기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5553527"/>
            <a:ext cx="7571018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Blog</a:t>
            </a:r>
            <a:r>
              <a:rPr lang="ko-KR" altLang="en-US" sz="1400" dirty="0">
                <a:latin typeface="맑은 고딕 (본문)"/>
              </a:rPr>
              <a:t> 어플리케이션 폴더에 다음과 같이 </a:t>
            </a:r>
            <a:r>
              <a:rPr lang="en-US" altLang="ko-KR" sz="1400" dirty="0">
                <a:latin typeface="맑은 고딕 (본문)"/>
              </a:rPr>
              <a:t>templates </a:t>
            </a:r>
            <a:r>
              <a:rPr lang="ko-KR" altLang="en-US" sz="1400" dirty="0">
                <a:latin typeface="맑은 고딕 (본문)"/>
              </a:rPr>
              <a:t>폴더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그리고 그 하위 폴더</a:t>
            </a:r>
            <a:r>
              <a:rPr lang="en-US" altLang="ko-KR" sz="1400" dirty="0">
                <a:latin typeface="맑은 고딕 (본문)"/>
              </a:rPr>
              <a:t>/</a:t>
            </a:r>
            <a:r>
              <a:rPr lang="ko-KR" altLang="en-US" sz="1400" dirty="0">
                <a:latin typeface="맑은 고딕 (본문)"/>
              </a:rPr>
              <a:t>파일들을 생성하여 상속 작업 진행하기</a:t>
            </a:r>
            <a:endParaRPr lang="en-US" altLang="ko-KR" sz="1400" dirty="0">
              <a:latin typeface="맑은 고딕 (본문)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C4338B-D9C1-58F1-CC16-C51C4A279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996952"/>
            <a:ext cx="2592288" cy="234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977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기본 템플릿 만들기 </a:t>
            </a:r>
            <a:r>
              <a:rPr lang="en-US" altLang="ko-KR" sz="1600" dirty="0"/>
              <a:t>– blog/base.html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6365478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Base.html </a:t>
            </a:r>
            <a:r>
              <a:rPr lang="ko-KR" altLang="en-US" sz="1400" dirty="0">
                <a:latin typeface="맑은 고딕 (본문)"/>
              </a:rPr>
              <a:t>파일을 편집하고 다음 코드를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BE626-3487-A312-08E9-D37A7B68B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1" y="2881777"/>
            <a:ext cx="4271512" cy="342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7199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기본 템플릿 만들기 </a:t>
            </a:r>
            <a:r>
              <a:rPr lang="en-US" altLang="ko-KR" sz="1600" dirty="0"/>
              <a:t>– blog/post/list.html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858499" y="6365478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list.html </a:t>
            </a:r>
            <a:r>
              <a:rPr lang="ko-KR" altLang="en-US" sz="1400" dirty="0">
                <a:latin typeface="맑은 고딕 (본문)"/>
              </a:rPr>
              <a:t>파일을 편집하고 다음 코드를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DCF44E-45AF-E55A-A2A9-48B484571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3" y="2885968"/>
            <a:ext cx="3888432" cy="342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832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모델용 관리 사이트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목록과 상세 뷰 만들기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기본 템플릿 만들기 </a:t>
            </a:r>
            <a:r>
              <a:rPr lang="en-US" altLang="ko-KR" sz="1600" dirty="0"/>
              <a:t>– blog/post/detail.html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C513-E733-AC2B-8A62-1EFD60CA7959}"/>
              </a:ext>
            </a:extLst>
          </p:cNvPr>
          <p:cNvSpPr txBox="1"/>
          <p:nvPr/>
        </p:nvSpPr>
        <p:spPr>
          <a:xfrm>
            <a:off x="971600" y="5661248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detail.html </a:t>
            </a:r>
            <a:r>
              <a:rPr lang="ko-KR" altLang="en-US" sz="1400" dirty="0">
                <a:latin typeface="맑은 고딕 (본문)"/>
              </a:rPr>
              <a:t>파일을 편집하고 다음 코드를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2EF5C0-EFFB-1AE0-07D6-FA6DB8F5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960250"/>
            <a:ext cx="4086795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8955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웹 사이트 실행하기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CD196E-22E3-177F-17D2-7E95AFBD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48880"/>
            <a:ext cx="5173173" cy="5368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DCB973-2AED-1A89-C1B4-52EE4C879834}"/>
              </a:ext>
            </a:extLst>
          </p:cNvPr>
          <p:cNvSpPr txBox="1"/>
          <p:nvPr/>
        </p:nvSpPr>
        <p:spPr>
          <a:xfrm>
            <a:off x="921932" y="5984413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Admin</a:t>
            </a:r>
            <a:r>
              <a:rPr lang="ko-KR" altLang="en-US" sz="1400" dirty="0">
                <a:latin typeface="맑은 고딕 (본문)"/>
              </a:rPr>
              <a:t>이 아닌 접속 </a:t>
            </a:r>
            <a:r>
              <a:rPr lang="en-US" altLang="ko-KR" sz="1400" dirty="0">
                <a:latin typeface="맑은 고딕 (본문)"/>
              </a:rPr>
              <a:t>=&gt; </a:t>
            </a:r>
            <a:r>
              <a:rPr lang="en-US" altLang="ko-KR" sz="1400" u="sng" dirty="0">
                <a:solidFill>
                  <a:srgbClr val="0070C0"/>
                </a:solidFill>
                <a:latin typeface="맑은 고딕 (본문)"/>
              </a:rPr>
              <a:t>http://127.0.0.1:8000/blog/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1FE7FE-AC91-6218-D707-80F99189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33" y="3473589"/>
            <a:ext cx="6512769" cy="20276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4142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웹 사이트 실행하기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CD196E-22E3-177F-17D2-7E95AFBD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48880"/>
            <a:ext cx="5173173" cy="5368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DCB973-2AED-1A89-C1B4-52EE4C879834}"/>
              </a:ext>
            </a:extLst>
          </p:cNvPr>
          <p:cNvSpPr txBox="1"/>
          <p:nvPr/>
        </p:nvSpPr>
        <p:spPr>
          <a:xfrm>
            <a:off x="921932" y="5984413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게시글의 상태가 </a:t>
            </a:r>
            <a:r>
              <a:rPr lang="en-US" altLang="ko-KR" sz="1400" dirty="0">
                <a:latin typeface="맑은 고딕 (본문)"/>
              </a:rPr>
              <a:t>PUBLISHED</a:t>
            </a:r>
            <a:r>
              <a:rPr lang="ko-KR" altLang="en-US" sz="1400" dirty="0">
                <a:latin typeface="맑은 고딕 (본문)"/>
              </a:rPr>
              <a:t>일 경우 표시됨</a:t>
            </a:r>
            <a:endParaRPr lang="en-US" altLang="ko-KR" sz="1400" dirty="0">
              <a:latin typeface="맑은 고딕 (본문)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2E398C-918C-B57B-F30E-04DB51B27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573016"/>
            <a:ext cx="7488832" cy="18498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614686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웹 사이트 실행하기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요청</a:t>
            </a:r>
            <a:r>
              <a:rPr lang="en-US" altLang="ko-KR" sz="1600" dirty="0"/>
              <a:t>/</a:t>
            </a:r>
            <a:r>
              <a:rPr lang="ko-KR" altLang="en-US" sz="1600" dirty="0"/>
              <a:t>응답 주기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276CDB-2896-C83F-70F2-866EDA4D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36" y="2244932"/>
            <a:ext cx="5934328" cy="43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2233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02. </a:t>
            </a:r>
            <a:r>
              <a:rPr lang="ko-KR" altLang="en-US" dirty="0"/>
              <a:t>블로그 어플리케이션 만들기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sz="2400" dirty="0"/>
              <a:t>Django</a:t>
            </a:r>
            <a:endParaRPr lang="ko-KR" altLang="en-US" sz="24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블로그 웹 사이트 실행하기</a:t>
            </a:r>
            <a:endParaRPr lang="en-US" altLang="ko-KR" sz="1600" dirty="0"/>
          </a:p>
          <a:p>
            <a:pPr lvl="1">
              <a:buClr>
                <a:srgbClr val="3C479D"/>
              </a:buClr>
            </a:pPr>
            <a:r>
              <a:rPr lang="ko-KR" altLang="en-US" sz="1600" dirty="0"/>
              <a:t>요청</a:t>
            </a:r>
            <a:r>
              <a:rPr lang="en-US" altLang="ko-KR" sz="1600" dirty="0"/>
              <a:t>/</a:t>
            </a:r>
            <a:r>
              <a:rPr lang="ko-KR" altLang="en-US" sz="1600" dirty="0"/>
              <a:t>응답 주기</a:t>
            </a:r>
            <a:endParaRPr lang="en-US" altLang="ko-KR" sz="1600" dirty="0"/>
          </a:p>
          <a:p>
            <a:pPr marL="266700" lvl="1" indent="0">
              <a:buClr>
                <a:srgbClr val="3C479D"/>
              </a:buClr>
              <a:buNone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91980-1EF5-80B3-99B6-4D07175D8A83}"/>
              </a:ext>
            </a:extLst>
          </p:cNvPr>
          <p:cNvSpPr txBox="1"/>
          <p:nvPr/>
        </p:nvSpPr>
        <p:spPr>
          <a:xfrm>
            <a:off x="1041318" y="2740302"/>
            <a:ext cx="7571018" cy="35394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1 ) </a:t>
            </a:r>
            <a:r>
              <a:rPr lang="ko-KR" altLang="en-US" sz="1400" dirty="0">
                <a:latin typeface="맑은 고딕 (본문)"/>
              </a:rPr>
              <a:t>웹 브라우저는 </a:t>
            </a:r>
            <a:r>
              <a:rPr lang="en-US" altLang="ko-KR" sz="1400" dirty="0">
                <a:latin typeface="맑은 고딕 (본문)"/>
              </a:rPr>
              <a:t>URL(</a:t>
            </a:r>
            <a:r>
              <a:rPr lang="ko-KR" altLang="en-US" sz="1400" dirty="0">
                <a:latin typeface="맑은 고딕 (본문)"/>
              </a:rPr>
              <a:t>예</a:t>
            </a:r>
            <a:r>
              <a:rPr lang="en-US" altLang="ko-KR" sz="1400" dirty="0">
                <a:latin typeface="맑은 고딕 (본문)"/>
              </a:rPr>
              <a:t>: </a:t>
            </a:r>
            <a:r>
              <a:rPr lang="en-US" altLang="ko-KR" sz="1400" dirty="0">
                <a:latin typeface="맑은 고딕 (본문)"/>
                <a:hlinkClick r:id="rId2"/>
              </a:rPr>
              <a:t>https://127.0.0.1:8000/blog/1/</a:t>
            </a:r>
            <a:r>
              <a:rPr lang="en-US" altLang="ko-KR" sz="1400" dirty="0">
                <a:latin typeface="맑은 고딕 (본문)"/>
              </a:rPr>
              <a:t>)</a:t>
            </a:r>
            <a:r>
              <a:rPr lang="ko-KR" altLang="en-US" sz="1400" dirty="0">
                <a:latin typeface="맑은 고딕 (본문)"/>
              </a:rPr>
              <a:t>로 페이지를 요청한다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그리고 웹 서버가 </a:t>
            </a:r>
            <a:r>
              <a:rPr lang="en-US" altLang="ko-KR" sz="1400" dirty="0">
                <a:latin typeface="맑은 고딕 (본문)"/>
              </a:rPr>
              <a:t>HTTP </a:t>
            </a:r>
            <a:r>
              <a:rPr lang="ko-KR" altLang="en-US" sz="1400" dirty="0">
                <a:latin typeface="맑은 고딕 (본문)"/>
              </a:rPr>
              <a:t>요청을 수신해서 장고에게 전달한다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2) </a:t>
            </a:r>
            <a:r>
              <a:rPr lang="ko-KR" altLang="en-US" sz="1400" dirty="0">
                <a:latin typeface="맑은 고딕 (본문)"/>
              </a:rPr>
              <a:t>장고는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패턴의 구성에 정의된 각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검사한다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프레임워크는 주어진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경로에 대해 각 패턴을 나타나는 순서대로 확인하고 요청된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과 매칭하는 첫번째 패턴에서 검사를 멈춘다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blog/urls.py</a:t>
            </a:r>
            <a:r>
              <a:rPr lang="ko-KR" altLang="en-US" sz="1400" dirty="0">
                <a:latin typeface="맑은 고딕 (본문)"/>
              </a:rPr>
              <a:t>의 </a:t>
            </a:r>
            <a:r>
              <a:rPr lang="en-US" altLang="ko-KR" sz="1400" dirty="0">
                <a:latin typeface="맑은 고딕 (본문)"/>
              </a:rPr>
              <a:t>/blog/&lt;id&gt;/ </a:t>
            </a:r>
            <a:r>
              <a:rPr lang="ko-KR" altLang="en-US" sz="1400" dirty="0">
                <a:latin typeface="맑은 고딕 (본문)"/>
              </a:rPr>
              <a:t>패턴이 </a:t>
            </a:r>
            <a:r>
              <a:rPr lang="en-US" altLang="ko-KR" sz="1400" dirty="0">
                <a:latin typeface="맑은 고딕 (본문)"/>
              </a:rPr>
              <a:t>/blog/1/ </a:t>
            </a:r>
            <a:r>
              <a:rPr lang="ko-KR" altLang="en-US" sz="1400" dirty="0">
                <a:latin typeface="맑은 고딕 (본문)"/>
              </a:rPr>
              <a:t>경로와 매칭된다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3) </a:t>
            </a:r>
            <a:r>
              <a:rPr lang="ko-KR" altLang="en-US" sz="1400" dirty="0">
                <a:latin typeface="맑은 고딕 (본문)"/>
              </a:rPr>
              <a:t>장고는 일치한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패턴의 뷰를 가져와 </a:t>
            </a:r>
            <a:r>
              <a:rPr lang="en-US" altLang="ko-KR" sz="1400" dirty="0" err="1">
                <a:latin typeface="맑은 고딕 (본문)"/>
              </a:rPr>
              <a:t>HttpRequest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클래스의 인스턴스와 키워드 또는 위치 인수를 전달해 실행한다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뷰는 모델을 사용해 데이터베이스에서 정보를 조회한다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그리고 장고 </a:t>
            </a:r>
            <a:r>
              <a:rPr lang="en-US" altLang="ko-KR" sz="1400" dirty="0">
                <a:latin typeface="맑은 고딕 (본문)"/>
              </a:rPr>
              <a:t>ORM </a:t>
            </a:r>
            <a:r>
              <a:rPr lang="en-US" altLang="ko-KR" sz="1400" dirty="0" err="1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을 사용하면 </a:t>
            </a:r>
            <a:r>
              <a:rPr lang="en-US" altLang="ko-KR" sz="1400" dirty="0" err="1">
                <a:latin typeface="맑은 고딕 (본문)"/>
              </a:rPr>
              <a:t>sql</a:t>
            </a:r>
            <a:r>
              <a:rPr lang="ko-KR" altLang="en-US" sz="1400" dirty="0">
                <a:latin typeface="맑은 고딕 (본문)"/>
              </a:rPr>
              <a:t>로 변환되어 데이터베이스에서 실행된다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4) </a:t>
            </a:r>
            <a:r>
              <a:rPr lang="ko-KR" altLang="en-US" sz="1400" dirty="0">
                <a:latin typeface="맑은 고딕 (본문)"/>
              </a:rPr>
              <a:t>뷰는 </a:t>
            </a:r>
            <a:r>
              <a:rPr lang="en-US" altLang="ko-KR" sz="1400" dirty="0">
                <a:latin typeface="맑은 고딕 (본문)"/>
              </a:rPr>
              <a:t>render() </a:t>
            </a:r>
            <a:r>
              <a:rPr lang="ko-KR" altLang="en-US" sz="1400" dirty="0">
                <a:latin typeface="맑은 고딕 (본문)"/>
              </a:rPr>
              <a:t>함수를 사용해서 </a:t>
            </a:r>
            <a:r>
              <a:rPr lang="ko-KR" altLang="en-US" sz="1400" dirty="0" err="1">
                <a:latin typeface="맑은 고딕 (본문)"/>
              </a:rPr>
              <a:t>콘텍스트</a:t>
            </a:r>
            <a:r>
              <a:rPr lang="ko-KR" altLang="en-US" sz="1400" dirty="0">
                <a:latin typeface="맑은 고딕 (본문)"/>
              </a:rPr>
              <a:t> 변수로 </a:t>
            </a:r>
            <a:r>
              <a:rPr lang="en-US" altLang="ko-KR" sz="1400" dirty="0">
                <a:latin typeface="맑은 고딕 (본문)"/>
              </a:rPr>
              <a:t>Post</a:t>
            </a:r>
            <a:r>
              <a:rPr lang="ko-KR" altLang="en-US" sz="1400" dirty="0">
                <a:latin typeface="맑은 고딕 (본문)"/>
              </a:rPr>
              <a:t>를 전달해 </a:t>
            </a:r>
            <a:r>
              <a:rPr lang="en-US" altLang="ko-KR" sz="1400" dirty="0">
                <a:latin typeface="맑은 고딕 (본문)"/>
              </a:rPr>
              <a:t>HTML </a:t>
            </a:r>
            <a:r>
              <a:rPr lang="ko-KR" altLang="en-US" sz="1400" dirty="0">
                <a:latin typeface="맑은 고딕 (본문)"/>
              </a:rPr>
              <a:t>템플릿을 렌더링한다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5) </a:t>
            </a:r>
            <a:r>
              <a:rPr lang="ko-KR" altLang="en-US" sz="1400" dirty="0">
                <a:latin typeface="맑은 고딕 (본문)"/>
              </a:rPr>
              <a:t>최종적으로 렌더링 내용은 콘텐츠는 콘텐츠 타입이 기본적으로 </a:t>
            </a:r>
            <a:r>
              <a:rPr lang="en-US" altLang="ko-KR" sz="1400" dirty="0">
                <a:latin typeface="맑은 고딕 (본문)"/>
              </a:rPr>
              <a:t>TEXT/HTML</a:t>
            </a:r>
            <a:r>
              <a:rPr lang="ko-KR" altLang="en-US" sz="1400" dirty="0">
                <a:latin typeface="맑은 고딕 (본문)"/>
              </a:rPr>
              <a:t>인 뷰에 의해 </a:t>
            </a:r>
            <a:r>
              <a:rPr lang="en-US" altLang="ko-KR" sz="1400" dirty="0" err="1">
                <a:latin typeface="맑은 고딕 (본문)"/>
              </a:rPr>
              <a:t>HttpRequest</a:t>
            </a:r>
            <a:r>
              <a:rPr lang="ko-KR" altLang="en-US" sz="1400" dirty="0">
                <a:latin typeface="맑은 고딕 (본문)"/>
              </a:rPr>
              <a:t>객체로 반환된다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053370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3600" b="1" dirty="0">
                <a:latin typeface="+mj-ea"/>
                <a:ea typeface="+mj-ea"/>
              </a:rPr>
              <a:t>고급 기능으로 블로그 향상시키기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19437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한글 및 한국시간 설정 </a:t>
            </a:r>
            <a:r>
              <a:rPr lang="en-US" altLang="ko-KR" sz="1600" dirty="0"/>
              <a:t>– </a:t>
            </a:r>
            <a:r>
              <a:rPr lang="en-US" altLang="ko-KR" dirty="0"/>
              <a:t>settings.py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B4BC39-B1B1-21C3-3B3A-92C725129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060848"/>
            <a:ext cx="4734586" cy="3448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D4BE83-87CF-4C27-57C4-AC90C8D56DFA}"/>
              </a:ext>
            </a:extLst>
          </p:cNvPr>
          <p:cNvSpPr txBox="1"/>
          <p:nvPr/>
        </p:nvSpPr>
        <p:spPr>
          <a:xfrm>
            <a:off x="921932" y="5984413"/>
            <a:ext cx="7571018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관리자 사이트 내 한글 및 한국시간 설정을 위한 세팅 코드이다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17192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모델에 표준 </a:t>
            </a:r>
            <a:r>
              <a:rPr lang="en-US" altLang="ko-KR" dirty="0"/>
              <a:t>URL </a:t>
            </a:r>
            <a:r>
              <a:rPr lang="ko-KR" altLang="en-US" dirty="0"/>
              <a:t>사용하기 </a:t>
            </a:r>
            <a:r>
              <a:rPr lang="en-US" altLang="ko-KR" dirty="0"/>
              <a:t>– models.py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792065-CE1F-1561-7EAF-A74A6E6C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68527"/>
            <a:ext cx="5829364" cy="1543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CED5DC-7338-2184-ABB2-C715D4DB3DD1}"/>
              </a:ext>
            </a:extLst>
          </p:cNvPr>
          <p:cNvSpPr txBox="1"/>
          <p:nvPr/>
        </p:nvSpPr>
        <p:spPr>
          <a:xfrm>
            <a:off x="858499" y="6021288"/>
            <a:ext cx="7571018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  <a:hlinkClick r:id="rId3"/>
              </a:rPr>
              <a:t>www.naver.com</a:t>
            </a:r>
            <a:r>
              <a:rPr lang="ko-KR" altLang="en-US" sz="1400" dirty="0">
                <a:latin typeface="맑은 고딕 (본문)"/>
              </a:rPr>
              <a:t>와 같이 표준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사용하여 페이지의 마스터 사본에 대한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지정한다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모델에서 </a:t>
            </a:r>
            <a:r>
              <a:rPr lang="en-US" altLang="ko-KR" sz="1400" dirty="0" err="1">
                <a:latin typeface="맑은 고딕 (본문)"/>
              </a:rPr>
              <a:t>get_absolute_url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 err="1">
                <a:latin typeface="맑은 고딕 (본문)"/>
              </a:rPr>
              <a:t>메섣를</a:t>
            </a:r>
            <a:r>
              <a:rPr lang="ko-KR" altLang="en-US" sz="1400" dirty="0">
                <a:latin typeface="맑은 고딕 (본문)"/>
              </a:rPr>
              <a:t> 구현해서 객체의 표준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반환할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123BEB2-E0D9-2992-750E-B3C720274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737146"/>
            <a:ext cx="4846972" cy="185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3203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모델에 표준 </a:t>
            </a:r>
            <a:r>
              <a:rPr lang="en-US" altLang="ko-KR" dirty="0"/>
              <a:t>URL </a:t>
            </a:r>
            <a:r>
              <a:rPr lang="ko-KR" altLang="en-US" dirty="0"/>
              <a:t>사용하기 </a:t>
            </a:r>
            <a:r>
              <a:rPr lang="en-US" altLang="ko-KR" dirty="0"/>
              <a:t>– list.html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ED5DC-7338-2184-ABB2-C715D4DB3DD1}"/>
              </a:ext>
            </a:extLst>
          </p:cNvPr>
          <p:cNvSpPr txBox="1"/>
          <p:nvPr/>
        </p:nvSpPr>
        <p:spPr>
          <a:xfrm>
            <a:off x="899592" y="5625535"/>
            <a:ext cx="7571018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 </a:t>
            </a:r>
            <a:r>
              <a:rPr lang="en-US" altLang="ko-KR" sz="1400" dirty="0" err="1">
                <a:latin typeface="맑은 고딕 (본문)"/>
              </a:rPr>
              <a:t>post_detail</a:t>
            </a:r>
            <a:r>
              <a:rPr lang="en-US" altLang="ko-KR" sz="1400" dirty="0">
                <a:latin typeface="맑은 고딕 (본문)"/>
              </a:rPr>
              <a:t> URL</a:t>
            </a:r>
            <a:r>
              <a:rPr lang="ko-KR" altLang="en-US" sz="1400" dirty="0">
                <a:latin typeface="맑은 고딕 (본문)"/>
              </a:rPr>
              <a:t>을 사용해서 </a:t>
            </a:r>
            <a:r>
              <a:rPr lang="en-US" altLang="ko-KR" sz="1400" dirty="0">
                <a:latin typeface="맑은 고딕 (본문)"/>
              </a:rPr>
              <a:t>Post </a:t>
            </a:r>
            <a:r>
              <a:rPr lang="ko-KR" altLang="en-US" sz="1400" dirty="0">
                <a:latin typeface="맑은 고딕 (본문)"/>
              </a:rPr>
              <a:t>객체에 대한 처리 부분을 </a:t>
            </a:r>
            <a:r>
              <a:rPr lang="en-US" altLang="ko-KR" sz="1400" dirty="0" err="1">
                <a:latin typeface="맑은 고딕 (본문)"/>
              </a:rPr>
              <a:t>get_absolute_url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>
                <a:latin typeface="맑은 고딕 (본문)"/>
              </a:rPr>
              <a:t>메서드로 교체하여 표준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로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앞으로 블로그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게시물 상세 페이지의 표준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은 </a:t>
            </a:r>
            <a:r>
              <a:rPr lang="en-US" altLang="ko-KR" sz="1400" dirty="0">
                <a:latin typeface="맑은 고딕 (본문)"/>
              </a:rPr>
              <a:t>/blog/1/</a:t>
            </a:r>
            <a:r>
              <a:rPr lang="ko-KR" altLang="en-US" sz="1400" dirty="0">
                <a:latin typeface="맑은 고딕 (본문)"/>
              </a:rPr>
              <a:t>과 같은 형식으로 사용된다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002A31-94DD-2F52-6DBC-F4E12D804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50" y="2114289"/>
            <a:ext cx="4983379" cy="13147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C5FE25-F9C4-A92B-758C-B1F40823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050" y="3808386"/>
            <a:ext cx="4983379" cy="1676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64476E-04BF-609E-58DC-6AD03AD010F2}"/>
              </a:ext>
            </a:extLst>
          </p:cNvPr>
          <p:cNvSpPr txBox="1"/>
          <p:nvPr/>
        </p:nvSpPr>
        <p:spPr>
          <a:xfrm>
            <a:off x="1040148" y="1755983"/>
            <a:ext cx="7571018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기존코드</a:t>
            </a:r>
            <a:r>
              <a:rPr lang="en-US" altLang="ko-KR" sz="1400" dirty="0">
                <a:latin typeface="맑은 고딕 (본문)"/>
              </a:rPr>
              <a:t>)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변경코드</a:t>
            </a:r>
            <a:r>
              <a:rPr lang="en-US" altLang="ko-KR" sz="1400" dirty="0">
                <a:latin typeface="맑은 고딕 (본문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863380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검색엔진최적화</a:t>
            </a:r>
            <a:r>
              <a:rPr lang="en-US" altLang="ko-KR" sz="1600" dirty="0"/>
              <a:t>(SEO)</a:t>
            </a:r>
            <a:r>
              <a:rPr lang="ko-KR" altLang="en-US" dirty="0"/>
              <a:t>에</a:t>
            </a:r>
            <a:r>
              <a:rPr lang="ko-KR" altLang="en-US" sz="1600" dirty="0"/>
              <a:t> 부합하는 게시물 </a:t>
            </a:r>
            <a:r>
              <a:rPr lang="en-US" altLang="ko-KR" sz="1600" dirty="0"/>
              <a:t>URL </a:t>
            </a:r>
            <a:r>
              <a:rPr lang="ko-KR" altLang="en-US" sz="1600" dirty="0"/>
              <a:t>만들기</a:t>
            </a:r>
            <a:r>
              <a:rPr lang="en-US" altLang="ko-KR" dirty="0"/>
              <a:t> – models.py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8AC331-EFA6-7F9F-4308-6FDC2DAF3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984259"/>
            <a:ext cx="6199861" cy="18498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86491" y="4257964"/>
            <a:ext cx="7961973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SEO </a:t>
            </a:r>
            <a:r>
              <a:rPr lang="ko-KR" altLang="en-US" sz="1400" dirty="0">
                <a:latin typeface="맑은 고딕 (본문)"/>
              </a:rPr>
              <a:t>친화적인 게시물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만들기 위해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변경하고자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Publish</a:t>
            </a:r>
            <a:r>
              <a:rPr lang="ko-KR" altLang="en-US" sz="1400" dirty="0">
                <a:latin typeface="맑은 고딕 (본문)"/>
              </a:rPr>
              <a:t>날짜와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값을 모두 사용해서 단일 게시물에 대한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만든다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r>
              <a:rPr lang="ko-KR" altLang="en-US" sz="1400" dirty="0">
                <a:latin typeface="맑은 고딕 (본문)"/>
              </a:rPr>
              <a:t>날짜를 조합해서 </a:t>
            </a:r>
            <a:r>
              <a:rPr lang="en-US" altLang="ko-KR" sz="1400" dirty="0">
                <a:latin typeface="맑은 고딕 (본문)"/>
              </a:rPr>
              <a:t>/blog/2024/1/Title/</a:t>
            </a:r>
            <a:r>
              <a:rPr lang="ko-KR" altLang="en-US" sz="1400" dirty="0">
                <a:latin typeface="맑은 고딕 (본문)"/>
              </a:rPr>
              <a:t>와 같은 형식의 게시물 상세페이지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만들고자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이를 위해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필드에 </a:t>
            </a:r>
            <a:r>
              <a:rPr lang="en-US" altLang="ko-KR" sz="1400" dirty="0" err="1">
                <a:latin typeface="맑은 고딕 (본문)"/>
              </a:rPr>
              <a:t>unique_for_date</a:t>
            </a:r>
            <a:r>
              <a:rPr lang="en-US" altLang="ko-KR" sz="1400" dirty="0">
                <a:latin typeface="맑은 고딕 (본문)"/>
              </a:rPr>
              <a:t>=‘publish’ </a:t>
            </a:r>
            <a:r>
              <a:rPr lang="ko-KR" altLang="en-US" sz="1400" dirty="0">
                <a:latin typeface="맑은 고딕 (본문)"/>
              </a:rPr>
              <a:t>매개 변수를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이를 통해 </a:t>
            </a:r>
            <a:r>
              <a:rPr lang="en-US" altLang="ko-KR" sz="1400" dirty="0">
                <a:latin typeface="맑은 고딕 (본문)"/>
              </a:rPr>
              <a:t>slug</a:t>
            </a:r>
            <a:r>
              <a:rPr lang="ko-KR" altLang="en-US" sz="1400" dirty="0">
                <a:latin typeface="맑은 고딕 (본문)"/>
              </a:rPr>
              <a:t>가 게시 날짜를 기준으로 고유하다는 것을 보장할 수 있으므로 </a:t>
            </a:r>
            <a:r>
              <a:rPr lang="en-US" altLang="ko-KR" sz="1400" dirty="0">
                <a:latin typeface="맑은 고딕 (본문)"/>
              </a:rPr>
              <a:t>publish</a:t>
            </a:r>
            <a:r>
              <a:rPr lang="ko-KR" altLang="en-US" sz="1400" dirty="0">
                <a:latin typeface="맑은 고딕 (본문)"/>
              </a:rPr>
              <a:t>와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필드로 단일 게시글을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88436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검색엔진최적화</a:t>
            </a:r>
            <a:r>
              <a:rPr lang="en-US" altLang="ko-KR" sz="1600" dirty="0"/>
              <a:t>(SEO)</a:t>
            </a:r>
            <a:r>
              <a:rPr lang="ko-KR" altLang="en-US" dirty="0"/>
              <a:t>에</a:t>
            </a:r>
            <a:r>
              <a:rPr lang="ko-KR" altLang="en-US" sz="1600" dirty="0"/>
              <a:t> 부합하는 게시물 </a:t>
            </a:r>
            <a:r>
              <a:rPr lang="en-US" altLang="ko-KR" sz="1600" dirty="0"/>
              <a:t>URL </a:t>
            </a:r>
            <a:r>
              <a:rPr lang="ko-KR" altLang="en-US" sz="1600" dirty="0"/>
              <a:t>만들기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86491" y="5157192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모델을 변경했으므로 마이그레이션을 진행하여 갱신한다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위 작업을 통해 장고는 모든 마이그레이션이 적용되고 모델과 동기화된다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A03064-2AFA-F798-9C2A-E751F531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391" y="2084344"/>
            <a:ext cx="2915057" cy="8097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46A8656-EC69-9411-221D-3F4AE6603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084344"/>
            <a:ext cx="4301889" cy="3365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D06EF4-063E-0ADA-2C3B-A98D0736B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358" y="2551871"/>
            <a:ext cx="4505954" cy="6382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7D9C67-CEEB-8984-3D1C-52354AE7C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92" y="3308479"/>
            <a:ext cx="3227551" cy="3388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1B7A3A-90E3-B1C9-0518-579737968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92" y="3825532"/>
            <a:ext cx="4591691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3862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en-US" altLang="ko-KR" dirty="0"/>
              <a:t>URL </a:t>
            </a:r>
            <a:r>
              <a:rPr lang="ko-KR" altLang="en-US" dirty="0"/>
              <a:t>패턴 수정하기 </a:t>
            </a:r>
            <a:r>
              <a:rPr lang="en-US" altLang="ko-KR" dirty="0"/>
              <a:t>- /blog/urls.py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12535" y="5589240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게시물 상세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에 게시 날짜와 </a:t>
            </a:r>
            <a:r>
              <a:rPr lang="ko-KR" altLang="en-US" sz="1400" dirty="0" err="1">
                <a:latin typeface="맑은 고딕 (본문)"/>
              </a:rPr>
              <a:t>슬러그를</a:t>
            </a:r>
            <a:r>
              <a:rPr lang="ko-KR" altLang="en-US" sz="1400" dirty="0">
                <a:latin typeface="맑은 고딕 (본문)"/>
              </a:rPr>
              <a:t> 사용하도록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수정한다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Post_detail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뷰의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패턴은 다음 인수를 사용한다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en-US" altLang="ko-KR" sz="1400" dirty="0" err="1">
                <a:latin typeface="맑은 고딕 (본문)"/>
              </a:rPr>
              <a:t>Year,month,day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값이다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E34F80-CF8F-C804-1009-7504DCE0F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48" y="2126782"/>
            <a:ext cx="5985001" cy="13164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9B4710E-7513-4641-9E95-2CC9F7532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48" y="3876725"/>
            <a:ext cx="7506748" cy="13257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CEEE1D-34BE-2B67-6B2C-84F6CD82D597}"/>
              </a:ext>
            </a:extLst>
          </p:cNvPr>
          <p:cNvSpPr txBox="1"/>
          <p:nvPr/>
        </p:nvSpPr>
        <p:spPr>
          <a:xfrm>
            <a:off x="1040148" y="1755983"/>
            <a:ext cx="7571018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기존코드</a:t>
            </a:r>
            <a:r>
              <a:rPr lang="en-US" altLang="ko-KR" sz="1400" dirty="0">
                <a:latin typeface="맑은 고딕 (본문)"/>
              </a:rPr>
              <a:t>)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변경코드</a:t>
            </a:r>
            <a:r>
              <a:rPr lang="en-US" altLang="ko-KR" sz="1400" dirty="0">
                <a:latin typeface="맑은 고딕 (본문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385833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뷰 수정하기 </a:t>
            </a:r>
            <a:r>
              <a:rPr lang="en-US" altLang="ko-KR" dirty="0"/>
              <a:t>-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5157192"/>
            <a:ext cx="7961973" cy="16004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새로운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매개 변수와 일치하도록 </a:t>
            </a:r>
            <a:r>
              <a:rPr lang="en-US" altLang="ko-KR" sz="1400" dirty="0" err="1">
                <a:latin typeface="맑은 고딕 (본문)"/>
              </a:rPr>
              <a:t>post_detail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뷰의 매개 변수를 변경하고 이를 사용해서 해당 </a:t>
            </a:r>
            <a:r>
              <a:rPr lang="en-US" altLang="ko-KR" sz="1400" dirty="0">
                <a:latin typeface="맑은 고딕 (본문)"/>
              </a:rPr>
              <a:t>post </a:t>
            </a:r>
            <a:r>
              <a:rPr lang="ko-KR" altLang="en-US" sz="1400" dirty="0">
                <a:latin typeface="맑은 고딕 (본문)"/>
              </a:rPr>
              <a:t>객체를 조회하고자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Post </a:t>
            </a:r>
            <a:r>
              <a:rPr lang="ko-KR" altLang="en-US" sz="1400" dirty="0">
                <a:latin typeface="맑은 고딕 (본문)"/>
              </a:rPr>
              <a:t>모델의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필드에 </a:t>
            </a:r>
            <a:r>
              <a:rPr lang="en-US" altLang="ko-KR" sz="1400" dirty="0" err="1">
                <a:latin typeface="맑은 고딕 (본문)"/>
              </a:rPr>
              <a:t>unique_for_date</a:t>
            </a:r>
            <a:r>
              <a:rPr lang="en-US" altLang="ko-KR" sz="1400" dirty="0">
                <a:latin typeface="맑은 고딕 (본문)"/>
              </a:rPr>
              <a:t>= ‘publish’</a:t>
            </a:r>
            <a:r>
              <a:rPr lang="ko-KR" altLang="en-US" sz="1400" dirty="0">
                <a:latin typeface="맑은 고딕 (본문)"/>
              </a:rPr>
              <a:t>를 추가해서 주어진 날짜에 해당 </a:t>
            </a:r>
            <a:r>
              <a:rPr lang="ko-KR" altLang="en-US" sz="1400" dirty="0" err="1">
                <a:latin typeface="맑은 고딕 (본문)"/>
              </a:rPr>
              <a:t>슬러그가</a:t>
            </a:r>
            <a:r>
              <a:rPr lang="ko-KR" altLang="en-US" sz="1400" dirty="0">
                <a:latin typeface="맑은 고딕 (본문)"/>
              </a:rPr>
              <a:t> 포함된 게시물이 하나만 있도록 적용했다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이에 따라 날짜와 </a:t>
            </a:r>
            <a:r>
              <a:rPr lang="ko-KR" altLang="en-US" sz="1400" dirty="0" err="1">
                <a:latin typeface="맑은 고딕 (본문)"/>
              </a:rPr>
              <a:t>슬러그를</a:t>
            </a:r>
            <a:r>
              <a:rPr lang="ko-KR" altLang="en-US" sz="1400" dirty="0">
                <a:latin typeface="맑은 고딕 (본문)"/>
              </a:rPr>
              <a:t> 사용해서 단일 게시물을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082E6A-E7BC-95B0-CFB3-80AF44F4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68" y="1957185"/>
            <a:ext cx="6025151" cy="85614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80065D-4235-037B-8555-53B5A899E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68" y="3223347"/>
            <a:ext cx="5020376" cy="19338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2D44F5-4BAA-4F1D-6F4E-2C5CB51E3919}"/>
              </a:ext>
            </a:extLst>
          </p:cNvPr>
          <p:cNvSpPr txBox="1"/>
          <p:nvPr/>
        </p:nvSpPr>
        <p:spPr>
          <a:xfrm>
            <a:off x="1040148" y="1628800"/>
            <a:ext cx="7571018" cy="16004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기존코드</a:t>
            </a:r>
            <a:r>
              <a:rPr lang="en-US" altLang="ko-KR" sz="1400" dirty="0">
                <a:latin typeface="맑은 고딕 (본문)"/>
              </a:rPr>
              <a:t>)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변경코드</a:t>
            </a:r>
            <a:r>
              <a:rPr lang="en-US" altLang="ko-KR" sz="1400" dirty="0">
                <a:latin typeface="맑은 고딕 (본문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428341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게시물의 표준 </a:t>
            </a:r>
            <a:r>
              <a:rPr lang="en-US" altLang="ko-KR" dirty="0"/>
              <a:t>URL </a:t>
            </a:r>
            <a:r>
              <a:rPr lang="ko-KR" altLang="en-US" dirty="0"/>
              <a:t>수정하기 </a:t>
            </a:r>
            <a:r>
              <a:rPr lang="en-US" altLang="ko-KR" dirty="0"/>
              <a:t>– models.py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5157192"/>
            <a:ext cx="7961973" cy="16004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새로운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매개 변수와 일치하도록 </a:t>
            </a:r>
            <a:r>
              <a:rPr lang="en-US" altLang="ko-KR" sz="1400" dirty="0" err="1">
                <a:latin typeface="맑은 고딕 (본문)"/>
              </a:rPr>
              <a:t>post_detail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뷰의 매개 변수를 변경하고 이를 사용해서 해당 </a:t>
            </a:r>
            <a:r>
              <a:rPr lang="en-US" altLang="ko-KR" sz="1400" dirty="0">
                <a:latin typeface="맑은 고딕 (본문)"/>
              </a:rPr>
              <a:t>post </a:t>
            </a:r>
            <a:r>
              <a:rPr lang="ko-KR" altLang="en-US" sz="1400" dirty="0">
                <a:latin typeface="맑은 고딕 (본문)"/>
              </a:rPr>
              <a:t>객체를 조회하고자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Post </a:t>
            </a:r>
            <a:r>
              <a:rPr lang="ko-KR" altLang="en-US" sz="1400" dirty="0">
                <a:latin typeface="맑은 고딕 (본문)"/>
              </a:rPr>
              <a:t>모델의 </a:t>
            </a:r>
            <a:r>
              <a:rPr lang="en-US" altLang="ko-KR" sz="1400" dirty="0">
                <a:latin typeface="맑은 고딕 (본문)"/>
              </a:rPr>
              <a:t>slug </a:t>
            </a:r>
            <a:r>
              <a:rPr lang="ko-KR" altLang="en-US" sz="1400" dirty="0">
                <a:latin typeface="맑은 고딕 (본문)"/>
              </a:rPr>
              <a:t>필드에 </a:t>
            </a:r>
            <a:r>
              <a:rPr lang="en-US" altLang="ko-KR" sz="1400" dirty="0" err="1">
                <a:latin typeface="맑은 고딕 (본문)"/>
              </a:rPr>
              <a:t>unique_for_date</a:t>
            </a:r>
            <a:r>
              <a:rPr lang="en-US" altLang="ko-KR" sz="1400" dirty="0">
                <a:latin typeface="맑은 고딕 (본문)"/>
              </a:rPr>
              <a:t>= ‘publish’</a:t>
            </a:r>
            <a:r>
              <a:rPr lang="ko-KR" altLang="en-US" sz="1400" dirty="0">
                <a:latin typeface="맑은 고딕 (본문)"/>
              </a:rPr>
              <a:t>를 추가해서 주어진 날짜에 해당 </a:t>
            </a:r>
            <a:r>
              <a:rPr lang="ko-KR" altLang="en-US" sz="1400" dirty="0" err="1">
                <a:latin typeface="맑은 고딕 (본문)"/>
              </a:rPr>
              <a:t>슬러그가</a:t>
            </a:r>
            <a:r>
              <a:rPr lang="ko-KR" altLang="en-US" sz="1400" dirty="0">
                <a:latin typeface="맑은 고딕 (본문)"/>
              </a:rPr>
              <a:t> 포함된 게시물이 하나만 있도록 적용했다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이에 따라 날짜와 </a:t>
            </a:r>
            <a:r>
              <a:rPr lang="ko-KR" altLang="en-US" sz="1400" dirty="0" err="1">
                <a:latin typeface="맑은 고딕 (본문)"/>
              </a:rPr>
              <a:t>슬러그를</a:t>
            </a:r>
            <a:r>
              <a:rPr lang="ko-KR" altLang="en-US" sz="1400" dirty="0">
                <a:latin typeface="맑은 고딕 (본문)"/>
              </a:rPr>
              <a:t> 사용해서 단일 게시물을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2D44F5-4BAA-4F1D-6F4E-2C5CB51E3919}"/>
              </a:ext>
            </a:extLst>
          </p:cNvPr>
          <p:cNvSpPr txBox="1"/>
          <p:nvPr/>
        </p:nvSpPr>
        <p:spPr>
          <a:xfrm>
            <a:off x="1040148" y="1736521"/>
            <a:ext cx="7571018" cy="1384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기존코드</a:t>
            </a:r>
            <a:r>
              <a:rPr lang="en-US" altLang="ko-KR" sz="1400" dirty="0">
                <a:latin typeface="맑은 고딕 (본문)"/>
              </a:rPr>
              <a:t>)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변경코드</a:t>
            </a:r>
            <a:r>
              <a:rPr lang="en-US" altLang="ko-KR" sz="1400" dirty="0">
                <a:latin typeface="맑은 고딕 (본문)"/>
              </a:rPr>
              <a:t>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168B9AB-BE93-DF63-93B7-5A5800F0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86070"/>
            <a:ext cx="3057952" cy="6858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DFFBBB-7017-2717-C9FB-051F7FA1F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239118"/>
            <a:ext cx="3467584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982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게시물의 표준 </a:t>
            </a:r>
            <a:r>
              <a:rPr lang="en-US" altLang="ko-KR" dirty="0"/>
              <a:t>URL </a:t>
            </a:r>
            <a:r>
              <a:rPr lang="ko-KR" altLang="en-US" dirty="0"/>
              <a:t>수정하기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5367328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브라우저를 살펴보면 </a:t>
            </a:r>
            <a:r>
              <a:rPr lang="en-US" altLang="ko-KR" sz="1400" dirty="0">
                <a:latin typeface="맑은 고딕 (본문)"/>
              </a:rPr>
              <a:t>127.0.0.1:8000/blog/2024/7/10/</a:t>
            </a:r>
            <a:r>
              <a:rPr lang="en-US" altLang="ko-KR" sz="1400" dirty="0" err="1">
                <a:latin typeface="맑은 고딕 (본문)"/>
              </a:rPr>
              <a:t>parkseayoung</a:t>
            </a:r>
            <a:r>
              <a:rPr lang="en-US" altLang="ko-KR" sz="1400" dirty="0">
                <a:latin typeface="맑은 고딕 (본문)"/>
              </a:rPr>
              <a:t>/</a:t>
            </a:r>
            <a:r>
              <a:rPr lang="ko-KR" altLang="en-US" sz="1400" dirty="0">
                <a:latin typeface="맑은 고딕 (본문)"/>
              </a:rPr>
              <a:t>으로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이 </a:t>
            </a:r>
            <a:r>
              <a:rPr lang="ko-KR" altLang="en-US" sz="1400" dirty="0" err="1">
                <a:latin typeface="맑은 고딕 (본문)"/>
              </a:rPr>
              <a:t>적용된것을</a:t>
            </a:r>
            <a:r>
              <a:rPr lang="ko-KR" altLang="en-US" sz="1400" dirty="0">
                <a:latin typeface="맑은 고딕 (본문)"/>
              </a:rPr>
              <a:t> 확인할 수 있다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이는 </a:t>
            </a:r>
            <a:r>
              <a:rPr lang="en-US" altLang="ko-KR" sz="1400" dirty="0">
                <a:latin typeface="맑은 고딕 (본문)"/>
              </a:rPr>
              <a:t>SEO </a:t>
            </a:r>
            <a:r>
              <a:rPr lang="ko-KR" altLang="en-US" sz="1400" dirty="0">
                <a:latin typeface="맑은 고딕 (본문)"/>
              </a:rPr>
              <a:t>친화적인 블로그 게시물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설계가 </a:t>
            </a:r>
            <a:r>
              <a:rPr lang="ko-KR" altLang="en-US" sz="1400" dirty="0" err="1">
                <a:latin typeface="맑은 고딕 (본문)"/>
              </a:rPr>
              <a:t>완료된것이다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C4F442-55E7-B1D3-1D49-D8A85812B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60160"/>
            <a:ext cx="4267796" cy="22005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1532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추가하기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3793314"/>
            <a:ext cx="7961973" cy="24622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블로그에 콘텐츠를 </a:t>
            </a:r>
            <a:r>
              <a:rPr lang="ko-KR" altLang="en-US" sz="1400" dirty="0" err="1">
                <a:latin typeface="맑은 고딕 (본문)"/>
              </a:rPr>
              <a:t>추가하다보면</a:t>
            </a:r>
            <a:r>
              <a:rPr lang="ko-KR" altLang="en-US" sz="1400" dirty="0">
                <a:latin typeface="맑은 고딕 (본문)"/>
              </a:rPr>
              <a:t> 수십 또는 수백개의 게시물이 데이터베이스에 저장되기 쉽다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이에 대해 한 페이지에 모든 게시물을 표시하는 대신 게시물 목록을 여러 페이지로 나누고 다른 페이지로 이동하는 링크를 추가할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 기능을 페이징이라고 하며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긴 목록을 표시하는 거의 모든 웹 어플리케이션에서 사용을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일례로</a:t>
            </a:r>
            <a:r>
              <a:rPr lang="en-US" altLang="ko-KR" sz="1400" dirty="0">
                <a:latin typeface="맑은 고딕 (본문)"/>
              </a:rPr>
              <a:t>, Google</a:t>
            </a:r>
            <a:r>
              <a:rPr lang="ko-KR" altLang="en-US" sz="1400" dirty="0">
                <a:latin typeface="맑은 고딕 (본문)"/>
              </a:rPr>
              <a:t>은 페이징을 사용해서 검색 결과를 여러 페이지로 나눈다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장고에는 </a:t>
            </a:r>
            <a:r>
              <a:rPr lang="ko-KR" altLang="en-US" sz="1400" dirty="0" err="1">
                <a:latin typeface="맑은 고딕 (본문)"/>
              </a:rPr>
              <a:t>페이징</a:t>
            </a:r>
            <a:r>
              <a:rPr lang="ko-KR" altLang="en-US" sz="1400" dirty="0">
                <a:latin typeface="맑은 고딕 (본문)"/>
              </a:rPr>
              <a:t> 데이터를 쉽게 관리할 수 있는 페이징을 위한 클래스가 내정되어 있다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이를 통해 페이지당 변환할 객체 수를 정할 수 있으며 사용자가 요청한 페이지에 해당하는 게시물들을 조회할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41487D-371C-D893-958C-9F86FEA31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49764"/>
            <a:ext cx="5410200" cy="981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195940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게시물 목록 뷰에 </a:t>
            </a:r>
            <a:r>
              <a:rPr lang="ko-KR" altLang="en-US" dirty="0" err="1"/>
              <a:t>페이징</a:t>
            </a:r>
            <a:r>
              <a:rPr lang="ko-KR" altLang="en-US" dirty="0"/>
              <a:t> 추가하기 </a:t>
            </a:r>
            <a:r>
              <a:rPr lang="en-US" altLang="ko-KR" dirty="0"/>
              <a:t>– view.py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4941168"/>
            <a:ext cx="7961973" cy="1169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장고의 </a:t>
            </a:r>
            <a:r>
              <a:rPr lang="en-US" altLang="ko-KR" sz="1400" dirty="0" err="1">
                <a:latin typeface="맑은 고딕 (본문)"/>
              </a:rPr>
              <a:t>pageinator</a:t>
            </a:r>
            <a:r>
              <a:rPr lang="ko-KR" altLang="en-US" sz="1400" dirty="0">
                <a:latin typeface="맑은 고딕 (본문)"/>
              </a:rPr>
              <a:t>를 임포트하고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페이지당 반환할 객체 수와 함께 </a:t>
            </a:r>
            <a:r>
              <a:rPr lang="en-US" altLang="ko-KR" sz="1400" dirty="0">
                <a:latin typeface="맑은 고딕 (본문)"/>
              </a:rPr>
              <a:t>Paginator </a:t>
            </a:r>
            <a:r>
              <a:rPr lang="ko-KR" altLang="en-US" sz="1400" dirty="0">
                <a:latin typeface="맑은 고딕 (본문)"/>
              </a:rPr>
              <a:t>클래스를 인스턴스화 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이때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페이지당 </a:t>
            </a:r>
            <a:r>
              <a:rPr lang="en-US" altLang="ko-KR" sz="1400" dirty="0">
                <a:latin typeface="맑은 고딕 (본문)"/>
              </a:rPr>
              <a:t>3</a:t>
            </a:r>
            <a:r>
              <a:rPr lang="ko-KR" altLang="en-US" sz="1400" dirty="0">
                <a:latin typeface="맑은 고딕 (본문)"/>
              </a:rPr>
              <a:t>개의 게시물을 표시한다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그리고 </a:t>
            </a:r>
            <a:r>
              <a:rPr lang="en-US" altLang="ko-KR" sz="1400" dirty="0">
                <a:latin typeface="맑은 고딕 (본문)"/>
              </a:rPr>
              <a:t>HTTP GET </a:t>
            </a:r>
            <a:r>
              <a:rPr lang="ko-KR" altLang="en-US" sz="1400" dirty="0">
                <a:latin typeface="맑은 고딕 (본문)"/>
              </a:rPr>
              <a:t>매개 변수 </a:t>
            </a:r>
            <a:r>
              <a:rPr lang="en-US" altLang="ko-KR" sz="1400" dirty="0">
                <a:latin typeface="맑은 고딕 (본문)"/>
              </a:rPr>
              <a:t>page</a:t>
            </a:r>
            <a:r>
              <a:rPr lang="ko-KR" altLang="en-US" sz="1400" dirty="0">
                <a:latin typeface="맑은 고딕 (본문)"/>
              </a:rPr>
              <a:t>를 조회해서 그 값을 </a:t>
            </a:r>
            <a:r>
              <a:rPr lang="en-US" altLang="ko-KR" sz="1400" dirty="0" err="1">
                <a:latin typeface="맑은 고딕 (본문)"/>
              </a:rPr>
              <a:t>page_number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변수에 저장한다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 매개 변수는 요청하는 페이지 번호를 가진다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59D1720-926E-D4E8-9546-4FF3656D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16832"/>
            <a:ext cx="5688632" cy="26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2474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템플릿 만들기 </a:t>
            </a:r>
            <a:r>
              <a:rPr lang="en-US" altLang="ko-KR" dirty="0"/>
              <a:t>– /blog/templates/pagination.html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5048891"/>
            <a:ext cx="7961973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/blog/pagination/</a:t>
            </a:r>
            <a:r>
              <a:rPr lang="ko-KR" altLang="en-US" sz="1400" dirty="0">
                <a:latin typeface="맑은 고딕 (본문)"/>
              </a:rPr>
              <a:t>의 위치에 </a:t>
            </a:r>
            <a:r>
              <a:rPr lang="en-US" altLang="ko-KR" sz="1400" dirty="0">
                <a:latin typeface="맑은 고딕 (본문)"/>
              </a:rPr>
              <a:t>pagination.html </a:t>
            </a:r>
            <a:r>
              <a:rPr lang="ko-KR" altLang="en-US" sz="1400" dirty="0">
                <a:latin typeface="맑은 고딕 (본문)"/>
              </a:rPr>
              <a:t>파일 생성 후 </a:t>
            </a:r>
            <a:r>
              <a:rPr lang="en-US" altLang="ko-KR" sz="1400" dirty="0">
                <a:latin typeface="맑은 고딕 (본문)"/>
              </a:rPr>
              <a:t>html </a:t>
            </a:r>
            <a:r>
              <a:rPr lang="ko-KR" altLang="en-US" sz="1400" dirty="0">
                <a:latin typeface="맑은 고딕 (본문)"/>
              </a:rPr>
              <a:t>코드를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페이징을 일반화한 템플릿으로 이전과 다음 링크를 렌더링하고 현재 페이지와 결과의 총페이지를 표시하기 위한 </a:t>
            </a:r>
            <a:r>
              <a:rPr lang="en-US" altLang="ko-KR" sz="1400" dirty="0">
                <a:latin typeface="맑은 고딕 (본문)"/>
              </a:rPr>
              <a:t>page </a:t>
            </a:r>
            <a:r>
              <a:rPr lang="ko-KR" altLang="en-US" sz="1400" dirty="0">
                <a:latin typeface="맑은 고딕 (본문)"/>
              </a:rPr>
              <a:t>객체를 </a:t>
            </a:r>
            <a:r>
              <a:rPr lang="ko-KR" altLang="en-US" sz="1400" dirty="0" err="1">
                <a:latin typeface="맑은 고딕 (본문)"/>
              </a:rPr>
              <a:t>콘텍스트에</a:t>
            </a:r>
            <a:r>
              <a:rPr lang="ko-KR" altLang="en-US" sz="1400" dirty="0">
                <a:latin typeface="맑은 고딕 (본문)"/>
              </a:rPr>
              <a:t> 가진다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362DCD-D62B-DAA9-67C5-EADFED31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335" y="1874706"/>
            <a:ext cx="1676634" cy="14098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550C8DF-746E-E532-4577-988F0D330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874706"/>
            <a:ext cx="5087060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0510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템플릿 만들기 </a:t>
            </a:r>
            <a:r>
              <a:rPr lang="en-US" altLang="ko-KR" dirty="0"/>
              <a:t>– list.html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4725726"/>
            <a:ext cx="7961973" cy="16004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list.html </a:t>
            </a:r>
            <a:r>
              <a:rPr lang="ko-KR" altLang="en-US" sz="1400" dirty="0">
                <a:latin typeface="맑은 고딕 (본문)"/>
              </a:rPr>
              <a:t>템플릿 안에 </a:t>
            </a:r>
            <a:r>
              <a:rPr lang="en-US" altLang="ko-KR" sz="1400" dirty="0">
                <a:latin typeface="맑은 고딕 (본문)"/>
              </a:rPr>
              <a:t>{% content %} </a:t>
            </a:r>
            <a:r>
              <a:rPr lang="ko-KR" altLang="en-US" sz="1400" dirty="0">
                <a:latin typeface="맑은 고딕 (본문)"/>
              </a:rPr>
              <a:t>하단에 </a:t>
            </a:r>
            <a:r>
              <a:rPr lang="en-US" altLang="ko-KR" sz="1400" dirty="0">
                <a:latin typeface="맑은 고딕 (본문)"/>
              </a:rPr>
              <a:t>{% include "pagination.html" with page=posts %}</a:t>
            </a:r>
            <a:r>
              <a:rPr lang="ko-KR" altLang="en-US" sz="1400" dirty="0">
                <a:latin typeface="맑은 고딕 (본문)"/>
              </a:rPr>
              <a:t>를 추가한다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{% include %}</a:t>
            </a:r>
            <a:r>
              <a:rPr lang="ko-KR" altLang="en-US" sz="1400" dirty="0">
                <a:latin typeface="맑은 고딕 (본문)"/>
              </a:rPr>
              <a:t> 템플릿 태그는 지정된 템플릿을 불러와 현재 템플릿 </a:t>
            </a:r>
            <a:r>
              <a:rPr lang="ko-KR" altLang="en-US" sz="1400" dirty="0" err="1">
                <a:latin typeface="맑은 고딕 (본문)"/>
              </a:rPr>
              <a:t>콘텍스트를</a:t>
            </a:r>
            <a:r>
              <a:rPr lang="ko-KR" altLang="en-US" sz="1400" dirty="0">
                <a:latin typeface="맑은 고딕 (본문)"/>
              </a:rPr>
              <a:t> 사용해 렌더링한다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그리고 추가 </a:t>
            </a:r>
            <a:r>
              <a:rPr lang="ko-KR" altLang="en-US" sz="1400" dirty="0" err="1">
                <a:latin typeface="맑은 고딕 (본문)"/>
              </a:rPr>
              <a:t>콘텍스트</a:t>
            </a:r>
            <a:r>
              <a:rPr lang="ko-KR" altLang="en-US" sz="1400" dirty="0">
                <a:latin typeface="맑은 고딕 (본문)"/>
              </a:rPr>
              <a:t> 변수를 전달하기 위해 </a:t>
            </a:r>
            <a:r>
              <a:rPr lang="en-US" altLang="ko-KR" sz="1400" dirty="0">
                <a:latin typeface="맑은 고딕 (본문)"/>
              </a:rPr>
              <a:t>with</a:t>
            </a:r>
            <a:r>
              <a:rPr lang="ko-KR" altLang="en-US" sz="1400" dirty="0">
                <a:latin typeface="맑은 고딕 (본문)"/>
              </a:rPr>
              <a:t>를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 방법을 사용하면 어떤 종류의 </a:t>
            </a:r>
            <a:r>
              <a:rPr lang="ko-KR" altLang="en-US" sz="1400" dirty="0" err="1">
                <a:latin typeface="맑은 고딕 (본문)"/>
              </a:rPr>
              <a:t>객체든</a:t>
            </a:r>
            <a:r>
              <a:rPr lang="ko-KR" altLang="en-US" sz="1400" dirty="0">
                <a:latin typeface="맑은 고딕 (본문)"/>
              </a:rPr>
              <a:t> 상관 없이 </a:t>
            </a:r>
            <a:r>
              <a:rPr lang="ko-KR" altLang="en-US" sz="1400" dirty="0" err="1">
                <a:latin typeface="맑은 고딕 (본문)"/>
              </a:rPr>
              <a:t>페이지네이션</a:t>
            </a:r>
            <a:r>
              <a:rPr lang="ko-KR" altLang="en-US" sz="1400" dirty="0">
                <a:latin typeface="맑은 고딕 (본문)"/>
              </a:rPr>
              <a:t> 템플릿을 사용할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243283-CE65-439B-3051-335DFFA51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1921038"/>
            <a:ext cx="5630161" cy="116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7132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결과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0" y="5880237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게시물 </a:t>
            </a:r>
            <a:r>
              <a:rPr lang="en-US" altLang="ko-KR" sz="1400" dirty="0">
                <a:latin typeface="맑은 고딕 (본문)"/>
              </a:rPr>
              <a:t>3</a:t>
            </a:r>
            <a:r>
              <a:rPr lang="ko-KR" altLang="en-US" sz="1400" dirty="0">
                <a:latin typeface="맑은 고딕 (본문)"/>
              </a:rPr>
              <a:t>개별로 페이지가 나뉘어 다음과 이전으로 게시물 리스트를 확인할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28938B-CE4A-A875-03F3-720906776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79" y="1844825"/>
            <a:ext cx="2322636" cy="39105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B26EAA-F30A-AF7C-C803-80338447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7" y="1844824"/>
            <a:ext cx="2358790" cy="39105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775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오류 처리하기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83568" y="6150035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다음과 같이 존재하지 않는 페이지번호나 페이지 번호로 쓸 수 없는 문자열과 같이 잘못된 값으로 인해 오류가 발생할 수 있다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이에 대한 적절한 오류 처리를 </a:t>
            </a:r>
            <a:r>
              <a:rPr lang="ko-KR" altLang="en-US" sz="1400" dirty="0" err="1">
                <a:latin typeface="맑은 고딕 (본문)"/>
              </a:rPr>
              <a:t>구현해야한다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2F931E-6711-6C60-3786-3939389F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932" y="1772817"/>
            <a:ext cx="5633242" cy="41044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694044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오류 처리하기 </a:t>
            </a:r>
            <a:r>
              <a:rPr lang="en-US" altLang="ko-KR" dirty="0"/>
              <a:t>–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58960" y="5229200"/>
            <a:ext cx="7961973" cy="1169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Paginator </a:t>
            </a:r>
            <a:r>
              <a:rPr lang="ko-KR" altLang="en-US" sz="1400" dirty="0">
                <a:latin typeface="맑은 고딕 (본문)"/>
              </a:rPr>
              <a:t>객체는 페이지</a:t>
            </a:r>
            <a:r>
              <a:rPr lang="en-US" altLang="ko-KR" sz="1400" dirty="0">
                <a:latin typeface="맑은 고딕 (본문)"/>
              </a:rPr>
              <a:t> 3</a:t>
            </a:r>
            <a:r>
              <a:rPr lang="ko-KR" altLang="en-US" sz="1400" dirty="0">
                <a:latin typeface="맑은 고딕 (본문)"/>
              </a:rPr>
              <a:t>을 </a:t>
            </a:r>
            <a:r>
              <a:rPr lang="ko-KR" altLang="en-US" sz="1400" dirty="0" err="1">
                <a:latin typeface="맑은 고딕 (본문)"/>
              </a:rPr>
              <a:t>조회할때</a:t>
            </a:r>
            <a:r>
              <a:rPr lang="ko-KR" altLang="en-US" sz="1400" dirty="0">
                <a:latin typeface="맑은 고딕 (본문)"/>
              </a:rPr>
              <a:t> 범위를 벗어나기 때문에 </a:t>
            </a:r>
            <a:r>
              <a:rPr lang="en-US" altLang="ko-KR" sz="1400" dirty="0" err="1">
                <a:latin typeface="맑은 고딕 (본문)"/>
              </a:rPr>
              <a:t>EmptyPage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에러를 발생시킨다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이는 표시할 결과가 없기 때문이다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이에 대한 오류 예외 처리를 구현하고자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Blog </a:t>
            </a:r>
            <a:r>
              <a:rPr lang="ko-KR" altLang="en-US" sz="1400" dirty="0">
                <a:latin typeface="맑은 고딕 (본문)"/>
              </a:rPr>
              <a:t>애플리케이션의 </a:t>
            </a:r>
            <a:r>
              <a:rPr lang="en-US" altLang="ko-KR" sz="1400" dirty="0">
                <a:latin typeface="맑은 고딕 (본문)"/>
              </a:rPr>
              <a:t>views.py </a:t>
            </a:r>
            <a:r>
              <a:rPr lang="ko-KR" altLang="en-US" sz="1400" dirty="0">
                <a:latin typeface="맑은 고딕 (본문)"/>
              </a:rPr>
              <a:t>파일을 편집해서 필요한 임포트를 추가하고 </a:t>
            </a:r>
            <a:r>
              <a:rPr lang="en-US" altLang="ko-KR" sz="1400" dirty="0" err="1">
                <a:latin typeface="맑은 고딕 (본문)"/>
              </a:rPr>
              <a:t>post_list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뷰를 수정한다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C8FD28-128E-D006-D6D2-1CBCABAE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964904"/>
            <a:ext cx="6225081" cy="26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124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오류 처리하기 </a:t>
            </a:r>
            <a:r>
              <a:rPr lang="en-US" altLang="ko-KR" dirty="0"/>
              <a:t>– </a:t>
            </a:r>
            <a:r>
              <a:rPr lang="ko-KR" altLang="en-US" dirty="0"/>
              <a:t>정수의 경우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6257757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  <a:hlinkClick r:id="rId2"/>
              </a:rPr>
              <a:t>http://127.0.0.1:8000/blog/?page=3</a:t>
            </a:r>
            <a:r>
              <a:rPr lang="ko-KR" altLang="en-US" sz="1400" dirty="0">
                <a:latin typeface="맑은 고딕 (본문)"/>
              </a:rPr>
              <a:t>을 </a:t>
            </a:r>
            <a:r>
              <a:rPr lang="ko-KR" altLang="en-US" sz="1400" dirty="0" err="1">
                <a:latin typeface="맑은 고딕 (본문)"/>
              </a:rPr>
              <a:t>접속시</a:t>
            </a:r>
            <a:r>
              <a:rPr lang="ko-KR" altLang="en-US" sz="1400" dirty="0">
                <a:latin typeface="맑은 고딕 (본문)"/>
              </a:rPr>
              <a:t> 뷰에서 예외를 처리해서 결과의 마지막 페이지가 다음과 같이 반환된다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09C403-62A7-91E8-0DDB-4451B31E1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1766445"/>
            <a:ext cx="3048284" cy="4436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898295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오류 처리하기 </a:t>
            </a:r>
            <a:r>
              <a:rPr lang="en-US" altLang="ko-KR" dirty="0"/>
              <a:t>– </a:t>
            </a:r>
            <a:r>
              <a:rPr lang="ko-KR" altLang="en-US" dirty="0"/>
              <a:t>문자열과 같이 잘못된 값의 경우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83568" y="6150035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다음과 같이 페이지 번호로 쓸 수 없는 문자열과 같이 잘못된 값으로 인해 오류가 발생할 수 있다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이에 대한 적절한 오류 처리를 </a:t>
            </a:r>
            <a:r>
              <a:rPr lang="ko-KR" altLang="en-US" sz="1400" dirty="0" err="1">
                <a:latin typeface="맑은 고딕 (본문)"/>
              </a:rPr>
              <a:t>구현해야한다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616739-428D-5386-FC01-C136991D5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796806"/>
            <a:ext cx="5546906" cy="39221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49360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오류 처리하기 </a:t>
            </a:r>
            <a:r>
              <a:rPr lang="en-US" altLang="ko-KR" dirty="0"/>
              <a:t>– </a:t>
            </a:r>
            <a:r>
              <a:rPr lang="ko-KR" altLang="en-US" dirty="0"/>
              <a:t>문자열과 같이 잘못된 값의 경우 </a:t>
            </a:r>
            <a:r>
              <a:rPr lang="en-US" altLang="ko-KR" dirty="0"/>
              <a:t>– view.py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86491" y="5879870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페이지를 조회할 때 </a:t>
            </a:r>
            <a:r>
              <a:rPr lang="en-US" altLang="ko-KR" sz="1400" dirty="0" err="1">
                <a:latin typeface="맑은 고딕 (본문)"/>
              </a:rPr>
              <a:t>PageNotAnInteger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예외를 처리하기 위해 새로운 </a:t>
            </a:r>
            <a:r>
              <a:rPr lang="en-US" altLang="ko-KR" sz="1400" dirty="0">
                <a:latin typeface="맑은 고딕 (본문)"/>
              </a:rPr>
              <a:t>except </a:t>
            </a:r>
            <a:r>
              <a:rPr lang="ko-KR" altLang="en-US" sz="1400" dirty="0">
                <a:latin typeface="맑은 고딕 (본문)"/>
              </a:rPr>
              <a:t>블록을 추가한다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요청한 페이지가 정수가 아닌 경우 결과의 첫번째 </a:t>
            </a:r>
            <a:r>
              <a:rPr lang="ko-KR" altLang="en-US" sz="1400" dirty="0" err="1">
                <a:latin typeface="맑은 고딕 (본문)"/>
              </a:rPr>
              <a:t>페이지르르</a:t>
            </a:r>
            <a:r>
              <a:rPr lang="ko-KR" altLang="en-US" sz="1400" dirty="0">
                <a:latin typeface="맑은 고딕 (본문)"/>
              </a:rPr>
              <a:t> 반환한다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1EFAA3-2D02-C820-6AA9-68C9816D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484" y="1844824"/>
            <a:ext cx="5620534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5393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 err="1"/>
              <a:t>페이징</a:t>
            </a:r>
            <a:r>
              <a:rPr lang="ko-KR" altLang="en-US" dirty="0"/>
              <a:t> 오류 처리하기 </a:t>
            </a:r>
            <a:r>
              <a:rPr lang="en-US" altLang="ko-KR" dirty="0"/>
              <a:t>– </a:t>
            </a:r>
            <a:r>
              <a:rPr lang="ko-KR" altLang="en-US" dirty="0"/>
              <a:t>문자열과 같이 잘못된 값의 경우 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6257757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http://127.0.0.1:8000/blog/?page=asdd</a:t>
            </a:r>
            <a:r>
              <a:rPr lang="ko-KR" altLang="en-US" sz="1400" dirty="0">
                <a:latin typeface="맑은 고딕 (본문)"/>
              </a:rPr>
              <a:t>을 </a:t>
            </a:r>
            <a:r>
              <a:rPr lang="ko-KR" altLang="en-US" sz="1400" dirty="0" err="1">
                <a:latin typeface="맑은 고딕 (본문)"/>
              </a:rPr>
              <a:t>접속시</a:t>
            </a:r>
            <a:r>
              <a:rPr lang="ko-KR" altLang="en-US" sz="1400" dirty="0">
                <a:latin typeface="맑은 고딕 (본문)"/>
              </a:rPr>
              <a:t> 뷰에서 예외를 처리해서 결과의 첫번째 페이지가 다음과 같이 반환된다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ED3F2-99B6-FD4E-0A42-B2172D2FF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772816"/>
            <a:ext cx="2759174" cy="42075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619112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클래스 기반 뷰 만들기 </a:t>
            </a:r>
            <a:r>
              <a:rPr lang="en-US" altLang="ko-KR" dirty="0"/>
              <a:t>– list.py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78850" y="4509120"/>
            <a:ext cx="7961973" cy="224676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앞선 작업들은 함수 기반 뷰를 사용하여 블로그 애플리케이션을 구축하였다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장고는 함수 기반의 </a:t>
            </a:r>
            <a:r>
              <a:rPr lang="ko-KR" altLang="en-US" sz="1400" dirty="0" err="1">
                <a:latin typeface="맑은 고딕 (본문)"/>
              </a:rPr>
              <a:t>뷰뿐만</a:t>
            </a:r>
            <a:r>
              <a:rPr lang="ko-KR" altLang="en-US" sz="1400" dirty="0">
                <a:latin typeface="맑은 고딕 (본문)"/>
              </a:rPr>
              <a:t> 아니라 클래스 기반의 뷰를 만들 수 있다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클래스 기반의 뷰는 특정 사례에 유용한 함수 기반 뷰에 비해 몇가지 장점을 제공한다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첫번째로는 </a:t>
            </a:r>
            <a:r>
              <a:rPr lang="en-US" altLang="ko-KR" sz="1400" dirty="0">
                <a:latin typeface="맑은 고딕 (본문)"/>
              </a:rPr>
              <a:t>GET, POST, PUT </a:t>
            </a:r>
            <a:r>
              <a:rPr lang="ko-KR" altLang="en-US" sz="1400" dirty="0">
                <a:latin typeface="맑은 고딕 (본문)"/>
              </a:rPr>
              <a:t>등 </a:t>
            </a:r>
            <a:r>
              <a:rPr lang="en-US" altLang="ko-KR" sz="1400" dirty="0">
                <a:latin typeface="맑은 고딕 (본문)"/>
              </a:rPr>
              <a:t>HPPT </a:t>
            </a:r>
            <a:r>
              <a:rPr lang="ko-KR" altLang="en-US" sz="1400" dirty="0">
                <a:latin typeface="맑은 고딕 (본문)"/>
              </a:rPr>
              <a:t>메서드와 관련된 코드를 조건부 분기 대신 별도의 메서드로 구성된다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두번째로는 다중 </a:t>
            </a:r>
            <a:r>
              <a:rPr lang="ko-KR" altLang="en-US" sz="1400" dirty="0" err="1">
                <a:latin typeface="맑은 고딕 (본문)"/>
              </a:rPr>
              <a:t>상송을</a:t>
            </a:r>
            <a:r>
              <a:rPr lang="ko-KR" altLang="en-US" sz="1400" dirty="0">
                <a:latin typeface="맑은 고딕 (본문)"/>
              </a:rPr>
              <a:t> 사용해 재사용 가능한 뷰 클래스를 생성할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315" y="1700808"/>
            <a:ext cx="6443385" cy="278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2189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클래스 기반 뷰 만들기 </a:t>
            </a:r>
            <a:r>
              <a:rPr lang="en-US" altLang="ko-KR" dirty="0"/>
              <a:t>–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55576" y="4401980"/>
            <a:ext cx="7961973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Queryset</a:t>
            </a:r>
            <a:r>
              <a:rPr lang="ko-KR" altLang="en-US" sz="1400" dirty="0">
                <a:latin typeface="맑은 고딕 (본문)"/>
              </a:rPr>
              <a:t>을 기존과 같이 </a:t>
            </a:r>
            <a:r>
              <a:rPr lang="en-US" altLang="ko-KR" sz="1400" dirty="0">
                <a:latin typeface="맑은 고딕 (본문)"/>
              </a:rPr>
              <a:t>published</a:t>
            </a:r>
            <a:r>
              <a:rPr lang="ko-KR" altLang="en-US" sz="1400" dirty="0">
                <a:latin typeface="맑은 고딕 (본문)"/>
              </a:rPr>
              <a:t>된 서브 관리자의 모든 데이터를 전달받는다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쿼리 결과를 위한 </a:t>
            </a:r>
            <a:r>
              <a:rPr lang="ko-KR" altLang="en-US" sz="1400" dirty="0" err="1">
                <a:latin typeface="맑은 고딕 (본문)"/>
              </a:rPr>
              <a:t>콘텍스트</a:t>
            </a:r>
            <a:r>
              <a:rPr lang="ko-KR" altLang="en-US" sz="1400" dirty="0">
                <a:latin typeface="맑은 고딕 (본문)"/>
              </a:rPr>
              <a:t> 변수는 </a:t>
            </a:r>
            <a:r>
              <a:rPr lang="en-US" altLang="ko-KR" sz="1400" dirty="0">
                <a:latin typeface="맑은 고딕 (본문)"/>
              </a:rPr>
              <a:t>posts</a:t>
            </a:r>
            <a:r>
              <a:rPr lang="ko-KR" altLang="en-US" sz="1400" dirty="0">
                <a:latin typeface="맑은 고딕 (본문)"/>
              </a:rPr>
              <a:t>로 </a:t>
            </a:r>
            <a:r>
              <a:rPr lang="en-US" altLang="ko-KR" sz="1400" dirty="0">
                <a:latin typeface="맑은 고딕 (본문)"/>
              </a:rPr>
              <a:t>context_object_name</a:t>
            </a:r>
            <a:r>
              <a:rPr lang="ko-KR" altLang="en-US" sz="1400" dirty="0">
                <a:latin typeface="맑은 고딕 (본문)"/>
              </a:rPr>
              <a:t>을 지정하지 않을 경우 기본 변수는 </a:t>
            </a:r>
            <a:r>
              <a:rPr lang="en-US" altLang="ko-KR" sz="1400" dirty="0">
                <a:latin typeface="맑은 고딕 (본문)"/>
              </a:rPr>
              <a:t>object_list</a:t>
            </a:r>
            <a:r>
              <a:rPr lang="ko-KR" altLang="en-US" sz="1400" dirty="0">
                <a:latin typeface="맑은 고딕 (본문)"/>
              </a:rPr>
              <a:t>이다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페이지당 </a:t>
            </a:r>
            <a:r>
              <a:rPr lang="en-US" altLang="ko-KR" sz="1400" dirty="0">
                <a:latin typeface="맑은 고딕 (본문)"/>
              </a:rPr>
              <a:t>3</a:t>
            </a:r>
            <a:r>
              <a:rPr lang="ko-KR" altLang="en-US" sz="1400" dirty="0">
                <a:latin typeface="맑은 고딕 (본문)"/>
              </a:rPr>
              <a:t>개의 객체를 반환하도록</a:t>
            </a:r>
            <a:r>
              <a:rPr lang="en-US" altLang="ko-KR" sz="1400" dirty="0">
                <a:latin typeface="맑은 고딕 (본문)"/>
              </a:rPr>
              <a:t>, paginate_by</a:t>
            </a:r>
            <a:r>
              <a:rPr lang="ko-KR" altLang="en-US" sz="1400" dirty="0">
                <a:latin typeface="맑은 고딕 (본문)"/>
              </a:rPr>
              <a:t>로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 err="1">
                <a:latin typeface="맑은 고딕 (본문)"/>
              </a:rPr>
              <a:t>페이징을</a:t>
            </a:r>
            <a:r>
              <a:rPr lang="ko-KR" altLang="en-US" sz="1400" dirty="0">
                <a:latin typeface="맑은 고딕 (본문)"/>
              </a:rPr>
              <a:t> 정의한다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Template_name</a:t>
            </a:r>
            <a:r>
              <a:rPr lang="ko-KR" altLang="en-US" sz="1400" dirty="0">
                <a:latin typeface="맑은 고딕 (본문)"/>
              </a:rPr>
              <a:t>을 설정해 </a:t>
            </a:r>
            <a:r>
              <a:rPr lang="ko-KR" altLang="en-US" sz="1400" dirty="0" err="1">
                <a:latin typeface="맑은 고딕 (본문)"/>
              </a:rPr>
              <a:t>커스텀</a:t>
            </a:r>
            <a:r>
              <a:rPr lang="ko-KR" altLang="en-US" sz="1400" dirty="0">
                <a:latin typeface="맑은 고딕 (본문)"/>
              </a:rPr>
              <a:t> 템플릿을 사용한다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기본 템플릿을 설정하지 않으면 </a:t>
            </a:r>
            <a:r>
              <a:rPr lang="en-US" altLang="ko-KR" sz="1400" dirty="0">
                <a:latin typeface="맑은 고딕 (본문)"/>
              </a:rPr>
              <a:t>ListView</a:t>
            </a:r>
            <a:r>
              <a:rPr lang="ko-KR" altLang="en-US" sz="1400" dirty="0">
                <a:latin typeface="맑은 고딕 (본문)"/>
              </a:rPr>
              <a:t>는 기본적으로 </a:t>
            </a:r>
            <a:r>
              <a:rPr lang="en-US" altLang="ko-KR" sz="1400" dirty="0">
                <a:latin typeface="맑은 고딕 (본문)"/>
              </a:rPr>
              <a:t>blog/post_list.html</a:t>
            </a:r>
            <a:r>
              <a:rPr lang="ko-KR" altLang="en-US" sz="1400" dirty="0">
                <a:latin typeface="맑은 고딕 (본문)"/>
              </a:rPr>
              <a:t>을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993671"/>
            <a:ext cx="393437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2942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클래스 기반 뷰 만들기 </a:t>
            </a:r>
            <a:r>
              <a:rPr lang="en-US" altLang="ko-KR" dirty="0"/>
              <a:t>– blog/urls.py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55576" y="4940590"/>
            <a:ext cx="7961973" cy="9541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이전의 </a:t>
            </a:r>
            <a:r>
              <a:rPr lang="en-US" altLang="ko-KR" sz="1400" dirty="0">
                <a:latin typeface="맑은 고딕 (본문)"/>
              </a:rPr>
              <a:t>post_list URL </a:t>
            </a:r>
            <a:r>
              <a:rPr lang="ko-KR" altLang="en-US" sz="1400" dirty="0">
                <a:latin typeface="맑은 고딕 (본문)"/>
              </a:rPr>
              <a:t>패턴을 주석처리하고 </a:t>
            </a:r>
            <a:r>
              <a:rPr lang="en-US" altLang="ko-KR" sz="1400" dirty="0">
                <a:latin typeface="맑은 고딕 (본문)"/>
              </a:rPr>
              <a:t>PostListView </a:t>
            </a:r>
            <a:r>
              <a:rPr lang="ko-KR" altLang="en-US" sz="1400" dirty="0">
                <a:latin typeface="맑은 고딕 (본문)"/>
              </a:rPr>
              <a:t>클래스를 사용해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새로운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477" y="1968527"/>
            <a:ext cx="581106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3950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클래스 기반 뷰 만들기 </a:t>
            </a:r>
            <a:r>
              <a:rPr lang="en-US" altLang="ko-KR" dirty="0"/>
              <a:t>– post/list.html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55576" y="5156034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 err="1">
                <a:latin typeface="맑은 고딕 (본문)"/>
              </a:rPr>
              <a:t>페이징</a:t>
            </a:r>
            <a:r>
              <a:rPr lang="ko-KR" altLang="en-US" sz="1400" dirty="0">
                <a:latin typeface="맑은 고딕 (본문)"/>
              </a:rPr>
              <a:t> 작업을 계속하려면 템플릿에 전달되는 올바른 페이지 객체를 사용해야 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장고의 </a:t>
            </a:r>
            <a:r>
              <a:rPr lang="en-US" altLang="ko-KR" sz="1400" dirty="0">
                <a:latin typeface="맑은 고딕 (본문)"/>
              </a:rPr>
              <a:t>ListView</a:t>
            </a:r>
            <a:r>
              <a:rPr lang="ko-KR" altLang="en-US" sz="1400" dirty="0">
                <a:latin typeface="맑은 고딕 (본문)"/>
              </a:rPr>
              <a:t>는 </a:t>
            </a:r>
            <a:r>
              <a:rPr lang="en-US" altLang="ko-KR" sz="1400" dirty="0">
                <a:latin typeface="맑은 고딕 (본문)"/>
              </a:rPr>
              <a:t>page_obj</a:t>
            </a:r>
            <a:r>
              <a:rPr lang="ko-KR" altLang="en-US" sz="1400" dirty="0" err="1">
                <a:latin typeface="맑은 고딕 (본문)"/>
              </a:rPr>
              <a:t>라고</a:t>
            </a:r>
            <a:r>
              <a:rPr lang="ko-KR" altLang="en-US" sz="1400" dirty="0">
                <a:latin typeface="맑은 고딕 (본문)"/>
              </a:rPr>
              <a:t> 하는 변수에 요청된 페이지를 전달한다</a:t>
            </a:r>
            <a:r>
              <a:rPr lang="en-US" altLang="ko-KR" sz="1400" dirty="0">
                <a:latin typeface="맑은 고딕 (본문)"/>
              </a:rPr>
              <a:t>.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849" y="2001303"/>
            <a:ext cx="4944165" cy="10097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49" y="3573016"/>
            <a:ext cx="4867954" cy="1019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D44F5-4BAA-4F1D-6F4E-2C5CB51E3919}"/>
              </a:ext>
            </a:extLst>
          </p:cNvPr>
          <p:cNvSpPr txBox="1"/>
          <p:nvPr/>
        </p:nvSpPr>
        <p:spPr>
          <a:xfrm>
            <a:off x="1043608" y="1665094"/>
            <a:ext cx="7571018" cy="18158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기존코드</a:t>
            </a:r>
            <a:r>
              <a:rPr lang="en-US" altLang="ko-KR" sz="1400" dirty="0">
                <a:latin typeface="맑은 고딕 (본문)"/>
              </a:rPr>
              <a:t>)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 err="1">
                <a:latin typeface="맑은 고딕 (본문)"/>
              </a:rPr>
              <a:t>변경코드</a:t>
            </a:r>
            <a:r>
              <a:rPr lang="en-US" altLang="ko-KR" sz="1400" dirty="0">
                <a:latin typeface="맑은 고딕 (본문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613049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이메일로 게시물 추천하기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86491" y="2132856"/>
            <a:ext cx="7961973" cy="28931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사용자가 이메일을 통해 게시물 추천을 보내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다른 사람들과 블로그 게시물을 공유할 수 있도록 이메일로 게시물 추천하기 기능 추가를 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순서는 다음과 같다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 (본문)"/>
              </a:rPr>
              <a:t>Model : </a:t>
            </a:r>
            <a:r>
              <a:rPr lang="ko-KR" altLang="en-US" sz="1400" dirty="0">
                <a:latin typeface="맑은 고딕 (본문)"/>
              </a:rPr>
              <a:t>사용자가 자신의 이름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이메일 주소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수신자 이메일 주소와 필요에 따라 코멘트를 남길 수 있는 폼을 만든다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맑은 고딕 (본문)"/>
            </a:endParaRP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 (본문)"/>
              </a:rPr>
              <a:t>View : </a:t>
            </a:r>
            <a:r>
              <a:rPr lang="ko-KR" altLang="en-US" sz="1400" dirty="0">
                <a:latin typeface="맑은 고딕 (본문)"/>
              </a:rPr>
              <a:t>게시된 데이터를 처리하고 이메일을 보내는 뷰를 </a:t>
            </a:r>
            <a:r>
              <a:rPr lang="en-US" altLang="ko-KR" sz="1400" dirty="0">
                <a:latin typeface="맑은 고딕 (본문)"/>
              </a:rPr>
              <a:t>view.py </a:t>
            </a:r>
            <a:r>
              <a:rPr lang="ko-KR" altLang="en-US" sz="1400" dirty="0">
                <a:latin typeface="맑은 고딕 (본문)"/>
              </a:rPr>
              <a:t>파일에 생성한다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맑은 고딕 (본문)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맑은 고딕 (본문)"/>
              </a:rPr>
              <a:t>블로그 애플리케이션의 </a:t>
            </a:r>
            <a:r>
              <a:rPr lang="en-US" altLang="ko-KR" sz="1400" dirty="0">
                <a:latin typeface="맑은 고딕 (본문)"/>
              </a:rPr>
              <a:t>urls.py </a:t>
            </a:r>
            <a:r>
              <a:rPr lang="ko-KR" altLang="en-US" sz="1400" dirty="0">
                <a:latin typeface="맑은 고딕 (본문)"/>
              </a:rPr>
              <a:t>파일에 새로운 뷰에 대한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추가해야한다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latin typeface="맑은 고딕 (본문)"/>
            </a:endParaRP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 (본문)"/>
              </a:rPr>
              <a:t>Templates : </a:t>
            </a:r>
            <a:r>
              <a:rPr lang="ko-KR" altLang="en-US" sz="1400" dirty="0">
                <a:latin typeface="맑은 고딕 (본문)"/>
              </a:rPr>
              <a:t>템플릿 폼을 만들어 표시한다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806024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이메일로 게시물 추천하기 </a:t>
            </a:r>
            <a:r>
              <a:rPr lang="en-US" altLang="ko-KR" dirty="0"/>
              <a:t>– blog/forms.py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55576" y="4077072"/>
            <a:ext cx="7961973" cy="24622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Blog </a:t>
            </a:r>
            <a:r>
              <a:rPr lang="ko-KR" altLang="en-US" sz="1400" dirty="0">
                <a:latin typeface="맑은 고딕 (본문)"/>
              </a:rPr>
              <a:t>애플리케이션의 디렉토리 내에 </a:t>
            </a:r>
            <a:r>
              <a:rPr lang="en-US" altLang="ko-KR" sz="1400" dirty="0">
                <a:latin typeface="맑은 고딕 (본문)"/>
              </a:rPr>
              <a:t>forms.py </a:t>
            </a:r>
            <a:r>
              <a:rPr lang="ko-KR" altLang="en-US" sz="1400" dirty="0">
                <a:latin typeface="맑은 고딕 (본문)"/>
              </a:rPr>
              <a:t>파일을 만들고 코드 입력하기</a:t>
            </a:r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Name : </a:t>
            </a:r>
            <a:r>
              <a:rPr lang="ko-KR" altLang="en-US" sz="1400" dirty="0">
                <a:latin typeface="맑은 고딕 (본문)"/>
              </a:rPr>
              <a:t>최대 길이 </a:t>
            </a:r>
            <a:r>
              <a:rPr lang="en-US" altLang="ko-KR" sz="1400" dirty="0">
                <a:latin typeface="맑은 고딕 (본문)"/>
              </a:rPr>
              <a:t>20</a:t>
            </a:r>
            <a:r>
              <a:rPr lang="ko-KR" altLang="en-US" sz="1400" dirty="0">
                <a:latin typeface="맑은 고딕 (본문)"/>
              </a:rPr>
              <a:t>자인 </a:t>
            </a:r>
            <a:r>
              <a:rPr lang="en-US" altLang="ko-KR" sz="1400" dirty="0">
                <a:latin typeface="맑은 고딕 (본문)"/>
              </a:rPr>
              <a:t>CharField </a:t>
            </a:r>
            <a:r>
              <a:rPr lang="ko-KR" altLang="en-US" sz="1400" dirty="0">
                <a:latin typeface="맑은 고딕 (본문)"/>
              </a:rPr>
              <a:t>인스턴스로 게시물을 보내는 사람의 이름으로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Email : EmailField</a:t>
            </a:r>
            <a:r>
              <a:rPr lang="ko-KR" altLang="en-US" sz="1400" dirty="0">
                <a:latin typeface="맑은 고딕 (본문)"/>
              </a:rPr>
              <a:t>의 인스턴스로 게시물 추천을 보내는 사람의 이메일로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To : EmailField</a:t>
            </a:r>
            <a:r>
              <a:rPr lang="ko-KR" altLang="en-US" sz="1400" dirty="0">
                <a:latin typeface="맑은 고딕 (본문)"/>
              </a:rPr>
              <a:t>의 인스턴스로 게시물 추천 이메일을 받을 수신자의 이메일로 사용한다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Comments : CharField</a:t>
            </a:r>
            <a:r>
              <a:rPr lang="ko-KR" altLang="en-US" sz="1400" dirty="0">
                <a:latin typeface="맑은 고딕 (본문)"/>
              </a:rPr>
              <a:t>의 인스턴스로 게시물 추천 이메일에 포함할 추천 코멘트로 사용한다</a:t>
            </a:r>
            <a:r>
              <a:rPr lang="en-US" altLang="ko-KR" sz="1400" dirty="0">
                <a:latin typeface="맑은 고딕 (본문)"/>
              </a:rPr>
              <a:t>. Required</a:t>
            </a:r>
            <a:r>
              <a:rPr lang="ko-KR" altLang="en-US" sz="1400" dirty="0" err="1">
                <a:latin typeface="맑은 고딕 (본문)"/>
              </a:rPr>
              <a:t>를</a:t>
            </a:r>
            <a:r>
              <a:rPr lang="ko-KR" altLang="en-US" sz="1400" dirty="0">
                <a:latin typeface="맑은 고딕 (본문)"/>
              </a:rPr>
              <a:t> </a:t>
            </a:r>
            <a:r>
              <a:rPr lang="en-US" altLang="ko-KR" sz="1400" dirty="0">
                <a:latin typeface="맑은 고딕 (본문)"/>
              </a:rPr>
              <a:t>False</a:t>
            </a:r>
            <a:r>
              <a:rPr lang="ko-KR" altLang="en-US" sz="1400" dirty="0">
                <a:latin typeface="맑은 고딕 (본문)"/>
              </a:rPr>
              <a:t>로 설정해서 이 필드를 선택 사항으로 만들고 필드를 렌더링할 </a:t>
            </a:r>
            <a:r>
              <a:rPr lang="ko-KR" altLang="en-US" sz="1400" dirty="0" err="1">
                <a:latin typeface="맑은 고딕 (본문)"/>
              </a:rPr>
              <a:t>커스텀</a:t>
            </a:r>
            <a:r>
              <a:rPr lang="ko-KR" altLang="en-US" sz="1400" dirty="0">
                <a:latin typeface="맑은 고딕 (본문)"/>
              </a:rPr>
              <a:t> 위젯을 지정한다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14" y="1968527"/>
            <a:ext cx="636358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8719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뷰에서 폼 처리하기 </a:t>
            </a:r>
            <a:r>
              <a:rPr lang="en-US" altLang="ko-KR" dirty="0"/>
              <a:t>–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58331" y="4437693"/>
            <a:ext cx="7961973" cy="18158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폼의 인스턴스를 생성하고 전송된 폼의 값들을 처리하기 위해 뷰를 생성하고자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Form = EmailPostForm()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페이지가 처음 </a:t>
            </a:r>
            <a:r>
              <a:rPr lang="ko-KR" altLang="en-US" sz="1400" dirty="0" err="1">
                <a:latin typeface="맑은 고딕 (본문)"/>
              </a:rPr>
              <a:t>로드되면</a:t>
            </a:r>
            <a:r>
              <a:rPr lang="ko-KR" altLang="en-US" sz="1400" dirty="0">
                <a:latin typeface="맑은 고딕 (본문)"/>
              </a:rPr>
              <a:t> 뷰는 </a:t>
            </a:r>
            <a:r>
              <a:rPr lang="en-US" altLang="ko-KR" sz="1400" dirty="0">
                <a:latin typeface="맑은 고딕 (본문)"/>
              </a:rPr>
              <a:t>GET </a:t>
            </a:r>
            <a:r>
              <a:rPr lang="ko-KR" altLang="en-US" sz="1400" dirty="0">
                <a:latin typeface="맑은 고딕 (본문)"/>
              </a:rPr>
              <a:t>요청을 받는다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 경우 새로운 </a:t>
            </a:r>
            <a:r>
              <a:rPr lang="en-US" altLang="ko-KR" sz="1400" dirty="0">
                <a:latin typeface="맑은 고딕 (본문)"/>
              </a:rPr>
              <a:t>EmailPostForm </a:t>
            </a:r>
            <a:r>
              <a:rPr lang="ko-KR" altLang="en-US" sz="1400" dirty="0">
                <a:latin typeface="맑은 고딕 (본문)"/>
              </a:rPr>
              <a:t>인스턴스가 생성되어 </a:t>
            </a:r>
            <a:r>
              <a:rPr lang="en-US" altLang="ko-KR" sz="1400" dirty="0">
                <a:latin typeface="맑은 고딕 (본문)"/>
              </a:rPr>
              <a:t>form </a:t>
            </a:r>
            <a:r>
              <a:rPr lang="ko-KR" altLang="en-US" sz="1400" dirty="0">
                <a:latin typeface="맑은 고딕 (본문)"/>
              </a:rPr>
              <a:t>변수에 저장된다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 폼 인스턴스는 템플릿에 비어있는 폼을 표시하는데 사용된다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772816"/>
            <a:ext cx="4892894" cy="26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3481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뷰에서 폼 처리하기 </a:t>
            </a:r>
            <a:r>
              <a:rPr lang="en-US" altLang="ko-KR" dirty="0"/>
              <a:t>–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4581128"/>
            <a:ext cx="7961973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If request.method == ‘POST’:</a:t>
            </a:r>
          </a:p>
          <a:p>
            <a:r>
              <a:rPr lang="en-US" altLang="ko-KR" sz="1400" dirty="0">
                <a:latin typeface="맑은 고딕 (본문)"/>
              </a:rPr>
              <a:t>    form = EmailPostForm(request.POST)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사용자가 폼을 작성하고 </a:t>
            </a:r>
            <a:r>
              <a:rPr lang="en-US" altLang="ko-KR" sz="1400" dirty="0">
                <a:latin typeface="맑은 고딕 (본문)"/>
              </a:rPr>
              <a:t>POST</a:t>
            </a:r>
            <a:r>
              <a:rPr lang="ko-KR" altLang="en-US" sz="1400" dirty="0" err="1">
                <a:latin typeface="맑은 고딕 (본문)"/>
              </a:rPr>
              <a:t>를</a:t>
            </a:r>
            <a:r>
              <a:rPr lang="ko-KR" altLang="en-US" sz="1400" dirty="0">
                <a:latin typeface="맑은 고딕 (본문)"/>
              </a:rPr>
              <a:t> 통해 전송하면 </a:t>
            </a:r>
            <a:r>
              <a:rPr lang="en-US" altLang="ko-KR" sz="1400" dirty="0">
                <a:latin typeface="맑은 고딕 (본문)"/>
              </a:rPr>
              <a:t>request.POST</a:t>
            </a:r>
            <a:r>
              <a:rPr lang="ko-KR" altLang="en-US" sz="1400" dirty="0">
                <a:latin typeface="맑은 고딕 (본문)"/>
              </a:rPr>
              <a:t>에 포함된 수신 데이터를 사용해서 폼 인스턴스가 생성된다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그 이후 수신된 데이터를 폼이 </a:t>
            </a:r>
            <a:r>
              <a:rPr lang="en-US" altLang="ko-KR" sz="1400" dirty="0">
                <a:latin typeface="맑은 고딕 (본문)"/>
              </a:rPr>
              <a:t>is_valid() </a:t>
            </a:r>
            <a:r>
              <a:rPr lang="ko-KR" altLang="en-US" sz="1400" dirty="0">
                <a:latin typeface="맑은 고딕 (본문)"/>
              </a:rPr>
              <a:t>메서드를 사용해서 유효성 검사를 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폼이 유효하지 않은 경우 제출된 데이터를 가지고 템플릿에서 다시 </a:t>
            </a:r>
            <a:r>
              <a:rPr lang="ko-KR" altLang="en-US" sz="1400" dirty="0" err="1">
                <a:latin typeface="맑은 고딕 (본문)"/>
              </a:rPr>
              <a:t>렌더링된다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이에 따라 유효성 검사의 오류가 템플릿에 표시된다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772816"/>
            <a:ext cx="4892894" cy="26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9881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뷰에서 폼 처리하기 </a:t>
            </a:r>
            <a:r>
              <a:rPr lang="en-US" altLang="ko-KR" dirty="0"/>
              <a:t>–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5335181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폼이 유효하면 유효한 데이터는 </a:t>
            </a:r>
            <a:r>
              <a:rPr lang="en-US" altLang="ko-KR" sz="1400" dirty="0">
                <a:latin typeface="맑은 고딕 (본문)"/>
              </a:rPr>
              <a:t>form.cleaned_data</a:t>
            </a:r>
            <a:r>
              <a:rPr lang="ko-KR" altLang="en-US" sz="1400" dirty="0">
                <a:latin typeface="맑은 고딕 (본문)"/>
              </a:rPr>
              <a:t>로 조회할 수 있다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 속성은 폼 필드와 해당 값을 담은 </a:t>
            </a:r>
            <a:r>
              <a:rPr lang="ko-KR" altLang="en-US" sz="1400" dirty="0" err="1">
                <a:latin typeface="맑은 고딕 (본문)"/>
              </a:rPr>
              <a:t>딕셔너리이다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772816"/>
            <a:ext cx="4892894" cy="26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3594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663021" y="1972522"/>
            <a:ext cx="7961973" cy="24622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장고로 이메일을 보내려면 로컬 </a:t>
            </a:r>
            <a:r>
              <a:rPr lang="en-US" altLang="ko-KR" sz="1400" dirty="0">
                <a:latin typeface="맑은 고딕 (본문)"/>
              </a:rPr>
              <a:t>SMTP(Simple Mail Transfer Protocol) </a:t>
            </a:r>
            <a:r>
              <a:rPr lang="ko-KR" altLang="en-US" sz="1400" dirty="0">
                <a:latin typeface="맑은 고딕 (본문)"/>
              </a:rPr>
              <a:t>서버가 있거나 이메일 서비스 공급자와 같은 외부 </a:t>
            </a:r>
            <a:r>
              <a:rPr lang="en-US" altLang="ko-KR" sz="1400" dirty="0">
                <a:latin typeface="맑은 고딕 (본문)"/>
              </a:rPr>
              <a:t>SMTP </a:t>
            </a:r>
            <a:r>
              <a:rPr lang="ko-KR" altLang="en-US" sz="1400" dirty="0">
                <a:latin typeface="맑은 고딕 (본문)"/>
              </a:rPr>
              <a:t>서버에 액세스해야 한다</a:t>
            </a:r>
            <a:r>
              <a:rPr lang="en-US" altLang="ko-KR" sz="1400" dirty="0">
                <a:latin typeface="맑은 고딕 (본문)"/>
              </a:rPr>
              <a:t>. 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다음 설정을 사용하면 장고로 이메일을 보내는 </a:t>
            </a:r>
            <a:r>
              <a:rPr lang="en-US" altLang="ko-KR" sz="1400" dirty="0">
                <a:latin typeface="맑은 고딕 (본문)"/>
              </a:rPr>
              <a:t>SMTP </a:t>
            </a:r>
            <a:r>
              <a:rPr lang="ko-KR" altLang="en-US" sz="1400" dirty="0">
                <a:latin typeface="맑은 고딕 (본문)"/>
              </a:rPr>
              <a:t>구성을 정의할 수 있다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맑은 고딕 (본문)"/>
              </a:rPr>
              <a:t>EMAIL_HOST : SMTP </a:t>
            </a:r>
            <a:r>
              <a:rPr lang="ko-KR" altLang="en-US" sz="1400" dirty="0">
                <a:latin typeface="맑은 고딕 (본문)"/>
              </a:rPr>
              <a:t>서버 호스트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기본값은 </a:t>
            </a:r>
            <a:r>
              <a:rPr lang="en-US" altLang="ko-KR" sz="1400" dirty="0">
                <a:latin typeface="맑은 고딕 (본문)"/>
              </a:rPr>
              <a:t>localhost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맑은 고딕 (본문)"/>
              </a:rPr>
              <a:t>EMAIL_POST : SMTP </a:t>
            </a:r>
            <a:r>
              <a:rPr lang="ko-KR" altLang="en-US" sz="1400" dirty="0">
                <a:latin typeface="맑은 고딕 (본문)"/>
              </a:rPr>
              <a:t>포트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기본값은 </a:t>
            </a:r>
            <a:r>
              <a:rPr lang="en-US" altLang="ko-KR" sz="1400" dirty="0">
                <a:latin typeface="맑은 고딕 (본문)"/>
              </a:rPr>
              <a:t>25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맑은 고딕 (본문)"/>
              </a:rPr>
              <a:t>EMAIL_HOST_USER : SMTP </a:t>
            </a:r>
            <a:r>
              <a:rPr lang="ko-KR" altLang="en-US" sz="1400" dirty="0">
                <a:latin typeface="맑은 고딕 (본문)"/>
              </a:rPr>
              <a:t>서버의 사용자 이름</a:t>
            </a:r>
            <a:endParaRPr lang="en-US" altLang="ko-KR" sz="1400" dirty="0">
              <a:latin typeface="맑은 고딕 (본문)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맑은 고딕 (본문)"/>
              </a:rPr>
              <a:t>EMAIL_HOST_PASSWORD : SMTP </a:t>
            </a:r>
            <a:r>
              <a:rPr lang="ko-KR" altLang="en-US" sz="1400" dirty="0">
                <a:latin typeface="맑은 고딕 (본문)"/>
              </a:rPr>
              <a:t>서버의 패스워드</a:t>
            </a:r>
            <a:endParaRPr lang="en-US" altLang="ko-KR" sz="1400" dirty="0">
              <a:latin typeface="맑은 고딕 (본문)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맑은 고딕 (본문)"/>
              </a:rPr>
              <a:t>EMAIL_USER_TLS : TLS(Transport Layer Security) </a:t>
            </a:r>
            <a:r>
              <a:rPr lang="ko-KR" altLang="en-US" sz="1400" dirty="0">
                <a:latin typeface="맑은 고딕 (본문)"/>
              </a:rPr>
              <a:t>보안 연결 사용 여부</a:t>
            </a:r>
            <a:endParaRPr lang="en-US" altLang="ko-KR" sz="1400" dirty="0">
              <a:latin typeface="맑은 고딕 (본문)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맑은 고딕 (본문)"/>
              </a:rPr>
              <a:t>EMAIL_USE_SSL : SSL </a:t>
            </a:r>
            <a:r>
              <a:rPr lang="ko-KR" altLang="en-US" sz="1400" dirty="0">
                <a:latin typeface="맑은 고딕 (본문)"/>
              </a:rPr>
              <a:t>연결 사용 여부</a:t>
            </a:r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50706602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 </a:t>
            </a:r>
            <a:r>
              <a:rPr lang="en-US" altLang="ko-KR" dirty="0"/>
              <a:t>– settings.py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27584" y="4797152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해당 예에서는 표준 </a:t>
            </a:r>
            <a:r>
              <a:rPr lang="en-US" altLang="ko-KR" sz="1400" dirty="0">
                <a:latin typeface="맑은 고딕 (본문)"/>
              </a:rPr>
              <a:t>Gmail </a:t>
            </a:r>
            <a:r>
              <a:rPr lang="ko-KR" altLang="en-US" sz="1400" dirty="0">
                <a:latin typeface="맑은 고딕 (본문)"/>
              </a:rPr>
              <a:t>계정과 함께 </a:t>
            </a:r>
            <a:r>
              <a:rPr lang="en-US" altLang="ko-KR" sz="1400" dirty="0">
                <a:latin typeface="맑은 고딕 (본문)"/>
              </a:rPr>
              <a:t>Google</a:t>
            </a:r>
            <a:r>
              <a:rPr lang="ko-KR" altLang="en-US" sz="1400" dirty="0">
                <a:latin typeface="맑은 고딕 (본문)"/>
              </a:rPr>
              <a:t>의 </a:t>
            </a:r>
            <a:r>
              <a:rPr lang="en-US" altLang="ko-KR" sz="1400" dirty="0">
                <a:latin typeface="맑은 고딕 (본문)"/>
              </a:rPr>
              <a:t>SMTP </a:t>
            </a:r>
            <a:r>
              <a:rPr lang="ko-KR" altLang="en-US" sz="1400" dirty="0">
                <a:latin typeface="맑은 고딕 (본문)"/>
              </a:rPr>
              <a:t>서버를 사용하고자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이에 따라 </a:t>
            </a:r>
            <a:r>
              <a:rPr lang="en-US" altLang="ko-KR" sz="1400" dirty="0">
                <a:latin typeface="맑은 고딕 (본문)"/>
              </a:rPr>
              <a:t>Google </a:t>
            </a:r>
            <a:r>
              <a:rPr lang="ko-KR" altLang="en-US" sz="1400" dirty="0">
                <a:latin typeface="맑은 고딕 (본문)"/>
              </a:rPr>
              <a:t>계정 정보에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대하여 패스워드를 제외한 값들을 입력한다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420888"/>
            <a:ext cx="3200847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0467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 </a:t>
            </a:r>
            <a:endParaRPr lang="en-US" altLang="ko-KR" dirty="0"/>
          </a:p>
          <a:p>
            <a:pPr>
              <a:buClr>
                <a:srgbClr val="3C479D"/>
              </a:buClr>
            </a:pP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5445224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Gmail </a:t>
            </a:r>
            <a:r>
              <a:rPr lang="ko-KR" altLang="en-US" sz="1400" dirty="0">
                <a:latin typeface="맑은 고딕 (본문)"/>
              </a:rPr>
              <a:t>계정과 함께 </a:t>
            </a:r>
            <a:r>
              <a:rPr lang="en-US" altLang="ko-KR" sz="1400" dirty="0">
                <a:latin typeface="맑은 고딕 (본문)"/>
              </a:rPr>
              <a:t>Google</a:t>
            </a:r>
            <a:r>
              <a:rPr lang="ko-KR" altLang="en-US" sz="1400" dirty="0">
                <a:latin typeface="맑은 고딕 (본문)"/>
              </a:rPr>
              <a:t>의 </a:t>
            </a:r>
            <a:r>
              <a:rPr lang="en-US" altLang="ko-KR" sz="1400" dirty="0">
                <a:latin typeface="맑은 고딕 (본문)"/>
              </a:rPr>
              <a:t>SMTP </a:t>
            </a:r>
            <a:r>
              <a:rPr lang="ko-KR" altLang="en-US" sz="1400" dirty="0">
                <a:latin typeface="맑은 고딕 (본문)"/>
              </a:rPr>
              <a:t>서버를 이용하기 위하여 구글 계정 로그인을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Google </a:t>
            </a:r>
            <a:r>
              <a:rPr lang="ko-KR" altLang="en-US" sz="1400" dirty="0">
                <a:latin typeface="맑은 고딕 (본문)"/>
              </a:rPr>
              <a:t>계정 관리에 접속한다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17D07B-0A8D-980A-3D4C-63D892515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497" y="2047682"/>
            <a:ext cx="4525006" cy="2762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89659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 </a:t>
            </a:r>
            <a:endParaRPr lang="en-US" altLang="ko-KR" dirty="0"/>
          </a:p>
          <a:p>
            <a:pPr>
              <a:buClr>
                <a:srgbClr val="3C479D"/>
              </a:buClr>
            </a:pP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5291916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메뉴 </a:t>
            </a:r>
            <a:r>
              <a:rPr lang="ko-KR" altLang="en-US" sz="1400" dirty="0" err="1">
                <a:latin typeface="맑은 고딕 (본문)"/>
              </a:rPr>
              <a:t>검색란에서</a:t>
            </a:r>
            <a:r>
              <a:rPr lang="ko-KR" altLang="en-US" sz="1400" dirty="0">
                <a:latin typeface="맑은 고딕 (본문)"/>
              </a:rPr>
              <a:t> </a:t>
            </a:r>
            <a:r>
              <a:rPr lang="en-US" altLang="ko-KR" sz="1400" dirty="0">
                <a:latin typeface="맑은 고딕 (본문)"/>
              </a:rPr>
              <a:t>“</a:t>
            </a:r>
            <a:r>
              <a:rPr lang="ko-KR" altLang="en-US" sz="1400" dirty="0">
                <a:latin typeface="맑은 고딕 (본문)"/>
              </a:rPr>
              <a:t>앱 비밀번호</a:t>
            </a:r>
            <a:r>
              <a:rPr lang="en-US" altLang="ko-KR" sz="1400" dirty="0">
                <a:latin typeface="맑은 고딕 (본문)"/>
              </a:rPr>
              <a:t>”</a:t>
            </a:r>
            <a:r>
              <a:rPr lang="ko-KR" altLang="en-US" sz="1400" dirty="0">
                <a:latin typeface="맑은 고딕 (본문)"/>
              </a:rPr>
              <a:t>를 검색한다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그리고 클릭한다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B12891-12A3-CB03-4450-EB0719AE7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53" y="1983956"/>
            <a:ext cx="6944694" cy="13146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708307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 </a:t>
            </a:r>
            <a:endParaRPr lang="en-US" altLang="ko-KR" dirty="0"/>
          </a:p>
          <a:p>
            <a:pPr>
              <a:buClr>
                <a:srgbClr val="3C479D"/>
              </a:buClr>
            </a:pP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6365478"/>
            <a:ext cx="7961973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앱 비밀번호를 만든다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이름은 </a:t>
            </a:r>
            <a:r>
              <a:rPr lang="en-US" altLang="ko-KR" sz="1400" dirty="0">
                <a:latin typeface="맑은 고딕 (본문)"/>
              </a:rPr>
              <a:t>“Blog”</a:t>
            </a:r>
            <a:r>
              <a:rPr lang="ko-KR" altLang="en-US" sz="1400" dirty="0">
                <a:latin typeface="맑은 고딕 (본문)"/>
              </a:rPr>
              <a:t>로 설정한다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AFAB98-7E61-D360-824A-6CD09B5F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69" y="1780350"/>
            <a:ext cx="4843862" cy="4389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960741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 </a:t>
            </a:r>
            <a:endParaRPr lang="en-US" altLang="ko-KR" dirty="0"/>
          </a:p>
          <a:p>
            <a:pPr>
              <a:buClr>
                <a:srgbClr val="3C479D"/>
              </a:buClr>
            </a:pP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6234155"/>
            <a:ext cx="7961973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생성된 앱 비밀번호를 복사하여 </a:t>
            </a:r>
            <a:r>
              <a:rPr lang="en-US" altLang="ko-KR" sz="1400" dirty="0">
                <a:latin typeface="맑은 고딕 (본문)"/>
              </a:rPr>
              <a:t>settings.py</a:t>
            </a:r>
            <a:r>
              <a:rPr lang="ko-KR" altLang="en-US" sz="1400" dirty="0">
                <a:latin typeface="맑은 고딕 (본문)"/>
              </a:rPr>
              <a:t>의 </a:t>
            </a:r>
            <a:r>
              <a:rPr lang="en-US" altLang="ko-KR" sz="1400" dirty="0">
                <a:latin typeface="맑은 고딕 (본문)"/>
              </a:rPr>
              <a:t>EMAIL_HOST_PASSWORD</a:t>
            </a:r>
            <a:r>
              <a:rPr lang="ko-KR" altLang="en-US" sz="1400" dirty="0">
                <a:latin typeface="맑은 고딕 (본문)"/>
              </a:rPr>
              <a:t>에 기입한다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D39750-7782-025F-69D2-785C4289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01" y="1772816"/>
            <a:ext cx="5172797" cy="40391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849547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18875" y="5588659"/>
            <a:ext cx="7961973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Shell</a:t>
            </a:r>
            <a:r>
              <a:rPr lang="ko-KR" altLang="en-US" sz="1400" dirty="0">
                <a:latin typeface="맑은 고딕 (본문)"/>
              </a:rPr>
              <a:t>을 이용하여 구글 계정의 받은 편지함을 확인해보기</a:t>
            </a:r>
            <a:endParaRPr lang="en-US" altLang="ko-KR" sz="1400" dirty="0">
              <a:latin typeface="맑은 고딕 (본문)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C89EFA-D4AD-E13C-C54C-CCE5C35AB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08270"/>
            <a:ext cx="3677885" cy="4523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FD1709-96B2-5500-6790-2221EB74E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50" y="2608975"/>
            <a:ext cx="9144000" cy="8136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84BDC60-A6EB-5E50-6BFC-AF53BEE5F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3639636"/>
            <a:ext cx="3019846" cy="13432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492696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장고로 이메일 보내기</a:t>
            </a:r>
            <a:endParaRPr lang="en-US" altLang="ko-KR" sz="1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6BF837E-6376-F23D-D6BA-E0E8740BD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848"/>
            <a:ext cx="9144000" cy="8640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C3115E-9533-4248-89E8-6F91AFC4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053552"/>
            <a:ext cx="3162741" cy="2191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E440B5-09C0-AAE5-6B38-0D1AC47AA885}"/>
              </a:ext>
            </a:extLst>
          </p:cNvPr>
          <p:cNvSpPr txBox="1"/>
          <p:nvPr/>
        </p:nvSpPr>
        <p:spPr>
          <a:xfrm>
            <a:off x="818875" y="5588659"/>
            <a:ext cx="7961973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>
                <a:latin typeface="맑은 고딕 (본문)"/>
              </a:rPr>
              <a:t>Shell</a:t>
            </a:r>
            <a:r>
              <a:rPr lang="ko-KR" altLang="en-US" sz="1400" dirty="0">
                <a:latin typeface="맑은 고딕 (본문)"/>
              </a:rPr>
              <a:t>을 이용하여 네이버 계정의 받은 편지함을 확인해보기</a:t>
            </a:r>
            <a:endParaRPr lang="en-US" altLang="ko-KR" sz="1400" dirty="0"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260419580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뷰에서 이메일 보내기 </a:t>
            </a:r>
            <a:r>
              <a:rPr lang="en-US" altLang="ko-KR" dirty="0"/>
              <a:t>– views.py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5886860" y="1844824"/>
            <a:ext cx="2848988" cy="418576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다음과 같이 </a:t>
            </a:r>
            <a:r>
              <a:rPr lang="en-US" altLang="ko-KR" sz="1400" dirty="0">
                <a:latin typeface="맑은 고딕 (본문)"/>
              </a:rPr>
              <a:t>blog </a:t>
            </a:r>
            <a:r>
              <a:rPr lang="ko-KR" altLang="en-US" sz="1400" dirty="0">
                <a:latin typeface="맑은 고딕 (본문)"/>
              </a:rPr>
              <a:t>애플리케이션의 </a:t>
            </a:r>
            <a:r>
              <a:rPr lang="en-US" altLang="ko-KR" sz="1400" dirty="0">
                <a:latin typeface="맑은 고딕 (본문)"/>
              </a:rPr>
              <a:t>views.py </a:t>
            </a:r>
            <a:r>
              <a:rPr lang="ko-KR" altLang="en-US" sz="1400" dirty="0">
                <a:latin typeface="맑은 고딕 (본문)"/>
              </a:rPr>
              <a:t>파일에서 </a:t>
            </a:r>
            <a:r>
              <a:rPr lang="en-US" altLang="ko-KR" sz="1400" dirty="0" err="1">
                <a:latin typeface="맑은 고딕 (본문)"/>
              </a:rPr>
              <a:t>post_share</a:t>
            </a:r>
            <a:r>
              <a:rPr lang="en-US" altLang="ko-KR" sz="1400" dirty="0">
                <a:latin typeface="맑은 고딕 (본문)"/>
              </a:rPr>
              <a:t> </a:t>
            </a:r>
            <a:r>
              <a:rPr lang="ko-KR" altLang="en-US" sz="1400" dirty="0">
                <a:latin typeface="맑은 고딕 (본문)"/>
              </a:rPr>
              <a:t>뷰를 편집하기</a:t>
            </a:r>
            <a:endParaRPr lang="en-US" altLang="ko-KR" sz="1400" dirty="0">
              <a:latin typeface="맑은 고딕 (본문)"/>
            </a:endParaRP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 err="1">
                <a:latin typeface="맑은 고딕 (본문)"/>
              </a:rPr>
              <a:t>Get_absolute_url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>
                <a:latin typeface="맑은 고딕 (본문)"/>
              </a:rPr>
              <a:t>메서드를 사용해서 게시물의 경로를 조회한다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위 경로를 </a:t>
            </a:r>
            <a:r>
              <a:rPr lang="en-US" altLang="ko-KR" sz="1400" dirty="0" err="1">
                <a:latin typeface="맑은 고딕 (본문)"/>
              </a:rPr>
              <a:t>request.build_absolute_uri</a:t>
            </a:r>
            <a:r>
              <a:rPr lang="en-US" altLang="ko-KR" sz="1400" dirty="0">
                <a:latin typeface="맑은 고딕 (본문)"/>
              </a:rPr>
              <a:t>() </a:t>
            </a:r>
            <a:r>
              <a:rPr lang="ko-KR" altLang="en-US" sz="1400" dirty="0">
                <a:latin typeface="맑은 고딕 (본문)"/>
              </a:rPr>
              <a:t>메서드의 입력으로 사용해서 </a:t>
            </a:r>
            <a:r>
              <a:rPr lang="en-US" altLang="ko-KR" sz="1400" dirty="0">
                <a:latin typeface="맑은 고딕 (본문)"/>
              </a:rPr>
              <a:t>HTTP </a:t>
            </a:r>
            <a:r>
              <a:rPr lang="ko-KR" altLang="en-US" sz="1400" dirty="0">
                <a:latin typeface="맑은 고딕 (본문)"/>
              </a:rPr>
              <a:t>스키마와 호스트 이름을 가진 완전한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만든다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검증된 폼의 정리된 데이터를 사용해서 이메일의 제목과 메시지 본문을 작성한다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끝으로</a:t>
            </a:r>
            <a:r>
              <a:rPr lang="en-US" altLang="ko-KR" sz="1400" dirty="0">
                <a:latin typeface="맑은 고딕 (본문)"/>
              </a:rPr>
              <a:t>, </a:t>
            </a:r>
            <a:r>
              <a:rPr lang="ko-KR" altLang="en-US" sz="1400" dirty="0">
                <a:latin typeface="맑은 고딕 (본문)"/>
              </a:rPr>
              <a:t>폼의 필드에 있는 이메일 주소로 이메일을 보낸다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51614D-D597-4A17-9BE2-DABE169C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75" y="1844824"/>
            <a:ext cx="4385862" cy="421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2828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dirty="0"/>
              <a:t>뷰에서 이메일 보내기 </a:t>
            </a:r>
            <a:r>
              <a:rPr lang="en-US" altLang="ko-KR" dirty="0"/>
              <a:t>– urls.py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27584" y="4797152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뷰가 완료되었으므로 새로운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패턴을 추가하고자 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Blog/urls.py </a:t>
            </a:r>
            <a:r>
              <a:rPr lang="ko-KR" altLang="en-US" sz="1400" dirty="0">
                <a:latin typeface="맑은 고딕 (본문)"/>
              </a:rPr>
              <a:t>파일을 열어 다음과 같이 </a:t>
            </a:r>
            <a:r>
              <a:rPr lang="en-US" altLang="ko-KR" sz="1400" dirty="0" err="1">
                <a:latin typeface="맑은 고딕 (본문)"/>
              </a:rPr>
              <a:t>post_share</a:t>
            </a:r>
            <a:r>
              <a:rPr lang="en-US" altLang="ko-KR" sz="1400" dirty="0">
                <a:latin typeface="맑은 고딕 (본문)"/>
              </a:rPr>
              <a:t> URL </a:t>
            </a:r>
            <a:r>
              <a:rPr lang="ko-KR" altLang="en-US" sz="1400" dirty="0">
                <a:latin typeface="맑은 고딕 (본문)"/>
              </a:rPr>
              <a:t>패턴을 추가한다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9947CE-A43A-0B41-E0F5-98C063090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31" y="2059969"/>
            <a:ext cx="7430537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004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템플릿에서 폼 렌더링하기 </a:t>
            </a:r>
            <a:r>
              <a:rPr lang="en-US" altLang="ko-KR" sz="1600" dirty="0"/>
              <a:t>– tem</a:t>
            </a:r>
            <a:r>
              <a:rPr lang="en-US" altLang="ko-KR" dirty="0"/>
              <a:t>plates/blog/post/</a:t>
            </a:r>
            <a:r>
              <a:rPr lang="en-US" altLang="ko-KR" sz="1600" dirty="0"/>
              <a:t>share.html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5776408"/>
            <a:ext cx="796197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이메일을 통해 게시물들을 공유하기 위한 폼을 표시하고 이메일이 전송되고 나면 성공 메시지를 표시하는데 사용하는 템플릿이다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469FEC-2E23-DD1F-057E-AFC049789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30564"/>
            <a:ext cx="1676634" cy="16194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2FB553-F612-28F4-8013-E33DE4A2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847" y="1906291"/>
            <a:ext cx="4932650" cy="342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49703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템플릿에서 폼 렌더링하기 </a:t>
            </a:r>
            <a:r>
              <a:rPr lang="en-US" altLang="ko-KR" sz="1600" dirty="0"/>
              <a:t>– </a:t>
            </a:r>
            <a:r>
              <a:rPr lang="en-US" altLang="ko-KR" dirty="0"/>
              <a:t>blog/post/</a:t>
            </a:r>
            <a:r>
              <a:rPr lang="en-US" altLang="ko-KR" sz="1600" dirty="0"/>
              <a:t>detail.html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786491" y="5517232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Post_share</a:t>
            </a:r>
            <a:r>
              <a:rPr lang="ko-KR" altLang="en-US" sz="1400" dirty="0">
                <a:latin typeface="맑은 고딕 (본문)"/>
              </a:rPr>
              <a:t>의 </a:t>
            </a:r>
            <a:r>
              <a:rPr lang="en-US" altLang="ko-KR" sz="1400" dirty="0">
                <a:latin typeface="맑은 고딕 (본문)"/>
              </a:rPr>
              <a:t>URL </a:t>
            </a:r>
            <a:r>
              <a:rPr lang="ko-KR" altLang="en-US" sz="1400" dirty="0">
                <a:latin typeface="맑은 고딕 (본문)"/>
              </a:rPr>
              <a:t>링크를 추가했다</a:t>
            </a:r>
            <a:r>
              <a:rPr lang="en-US" altLang="ko-KR" sz="1400" dirty="0">
                <a:latin typeface="맑은 고딕 (본문)"/>
              </a:rPr>
              <a:t>. URL</a:t>
            </a:r>
            <a:r>
              <a:rPr lang="ko-KR" altLang="en-US" sz="1400" dirty="0">
                <a:latin typeface="맑은 고딕 (본문)"/>
              </a:rPr>
              <a:t>은 장고에서 제공하는 템플릿 태그 </a:t>
            </a:r>
            <a:r>
              <a:rPr lang="en-US" altLang="ko-KR" sz="1400" dirty="0">
                <a:latin typeface="맑은 고딕 (본문)"/>
              </a:rPr>
              <a:t>{% </a:t>
            </a:r>
            <a:r>
              <a:rPr lang="en-US" altLang="ko-KR" sz="1400" dirty="0" err="1">
                <a:latin typeface="맑은 고딕 (본문)"/>
              </a:rPr>
              <a:t>url</a:t>
            </a:r>
            <a:r>
              <a:rPr lang="en-US" altLang="ko-KR" sz="1400" dirty="0">
                <a:latin typeface="맑은 고딕 (본문)"/>
              </a:rPr>
              <a:t> %}</a:t>
            </a:r>
            <a:r>
              <a:rPr lang="ko-KR" altLang="en-US" sz="1400" dirty="0">
                <a:latin typeface="맑은 고딕 (본문)"/>
              </a:rPr>
              <a:t>을 사용해 동적으로 만들어졌다</a:t>
            </a:r>
            <a:r>
              <a:rPr lang="en-US" altLang="ko-KR" sz="1400" dirty="0">
                <a:latin typeface="맑은 고딕 (본문)"/>
              </a:rPr>
              <a:t>. Blog</a:t>
            </a:r>
            <a:r>
              <a:rPr lang="ko-KR" altLang="en-US" sz="1400" dirty="0">
                <a:latin typeface="맑은 고딕 (본문)"/>
              </a:rPr>
              <a:t>라는 네임스페이스와 </a:t>
            </a:r>
            <a:r>
              <a:rPr lang="en-US" altLang="ko-KR" sz="1400" dirty="0" err="1">
                <a:latin typeface="맑은 고딕 (본문)"/>
              </a:rPr>
              <a:t>post_share</a:t>
            </a:r>
            <a:r>
              <a:rPr lang="ko-KR" altLang="en-US" sz="1400" dirty="0">
                <a:latin typeface="맑은 고딕 (본문)"/>
              </a:rPr>
              <a:t>라는 </a:t>
            </a:r>
            <a:r>
              <a:rPr lang="en-US" altLang="ko-KR" sz="1400" dirty="0">
                <a:latin typeface="맑은 고딕 (본문)"/>
              </a:rPr>
              <a:t>URL</a:t>
            </a:r>
            <a:r>
              <a:rPr lang="ko-KR" altLang="en-US" sz="1400" dirty="0">
                <a:latin typeface="맑은 고딕 (본문)"/>
              </a:rPr>
              <a:t>을 사용한다</a:t>
            </a:r>
            <a:r>
              <a:rPr lang="en-US" altLang="ko-KR" sz="1400" dirty="0">
                <a:latin typeface="맑은 고딕 (본문)"/>
              </a:rPr>
              <a:t>. URL</a:t>
            </a:r>
            <a:r>
              <a:rPr lang="ko-KR" altLang="en-US" sz="1400" dirty="0">
                <a:latin typeface="맑은 고딕 (본문)"/>
              </a:rPr>
              <a:t>을 만들어내기 위해 게시물의 </a:t>
            </a:r>
            <a:r>
              <a:rPr lang="en-US" altLang="ko-KR" sz="1400" dirty="0">
                <a:latin typeface="맑은 고딕 (본문)"/>
              </a:rPr>
              <a:t>ID</a:t>
            </a:r>
            <a:r>
              <a:rPr lang="ko-KR" altLang="en-US" sz="1400" dirty="0">
                <a:latin typeface="맑은 고딕 (본문)"/>
              </a:rPr>
              <a:t>를 매개 변수로 전달한다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71B005-982C-A6F5-C248-58AA5D8E6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44" y="1714260"/>
            <a:ext cx="4201111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2127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템플릿에서 폼 렌더링하</a:t>
            </a:r>
            <a:r>
              <a:rPr lang="ko-KR" altLang="en-US" dirty="0"/>
              <a:t>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5650227"/>
            <a:ext cx="7961973" cy="1384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altLang="ko-KR" sz="1400" dirty="0" err="1">
                <a:latin typeface="맑은 고딕 (본문)"/>
              </a:rPr>
              <a:t>Runserver</a:t>
            </a:r>
            <a:r>
              <a:rPr lang="ko-KR" altLang="en-US" sz="1400" dirty="0">
                <a:latin typeface="맑은 고딕 (본문)"/>
              </a:rPr>
              <a:t>를 진행 후 </a:t>
            </a:r>
            <a:r>
              <a:rPr lang="en-US" altLang="ko-KR" sz="1400" dirty="0">
                <a:latin typeface="맑은 고딕 (본문)"/>
              </a:rPr>
              <a:t>127.0.0.1:8000/blog/</a:t>
            </a:r>
            <a:r>
              <a:rPr lang="ko-KR" altLang="en-US" sz="1400" dirty="0">
                <a:latin typeface="맑은 고딕 (본문)"/>
              </a:rPr>
              <a:t>를 접속 한 뒤 원하는 게시물 제목을 클릭해서 게시물 상세 페이지로 이동한다</a:t>
            </a:r>
            <a:r>
              <a:rPr lang="en-US" altLang="ko-KR" sz="1400" dirty="0">
                <a:latin typeface="맑은 고딕 (본문)"/>
              </a:rPr>
              <a:t>. </a:t>
            </a:r>
            <a:r>
              <a:rPr lang="ko-KR" altLang="en-US" sz="1400" dirty="0">
                <a:latin typeface="맑은 고딕 (본문)"/>
              </a:rPr>
              <a:t>게시물 본문 아래에 </a:t>
            </a:r>
            <a:r>
              <a:rPr lang="en-US" altLang="ko-KR" sz="1400" dirty="0">
                <a:latin typeface="맑은 고딕 (본문)"/>
              </a:rPr>
              <a:t>“Share this post”</a:t>
            </a:r>
            <a:r>
              <a:rPr lang="ko-KR" altLang="en-US" sz="1400" dirty="0">
                <a:latin typeface="맑은 고딕 (본문)"/>
              </a:rPr>
              <a:t>라는 문구가 나타난다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en-US" altLang="ko-KR" sz="1400" dirty="0">
                <a:latin typeface="맑은 고딕 (본문)"/>
              </a:rPr>
              <a:t>“Share this post”</a:t>
            </a:r>
            <a:r>
              <a:rPr lang="ko-KR" altLang="en-US" sz="1400" dirty="0">
                <a:latin typeface="맑은 고딕 (본문)"/>
              </a:rPr>
              <a:t>를 클릭하면 다음과 같이 게시물을 이메일로 공유하기 위한 폼을 가진 페이지가 표시된다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2DAC91-CA9B-B386-7BB1-6B73214F7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348880"/>
            <a:ext cx="2505425" cy="15718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C01EBB-45C2-0F93-0B7B-8AA88478E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9560"/>
            <a:ext cx="2982828" cy="40188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556956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템플릿에서 폼 렌더링하기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99F181-AE93-877C-93B8-45C150F9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2612859"/>
            <a:ext cx="3137437" cy="686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A3CCC2-7A0B-5B4C-8982-9EB9A46D3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500" y="1700808"/>
            <a:ext cx="2794453" cy="3816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0A60BC-7DE2-13B7-44F3-226A10F3E404}"/>
              </a:ext>
            </a:extLst>
          </p:cNvPr>
          <p:cNvSpPr txBox="1"/>
          <p:nvPr/>
        </p:nvSpPr>
        <p:spPr>
          <a:xfrm>
            <a:off x="899592" y="5973393"/>
            <a:ext cx="7961973" cy="7386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댓글을 달기 위해 각 정보들을 </a:t>
            </a:r>
            <a:r>
              <a:rPr lang="ko-KR" altLang="en-US" sz="1400" dirty="0" err="1">
                <a:latin typeface="맑은 고딕 (본문)"/>
              </a:rPr>
              <a:t>입력후</a:t>
            </a:r>
            <a:r>
              <a:rPr lang="ko-KR" altLang="en-US" sz="1400" dirty="0">
                <a:latin typeface="맑은 고딕 (본문)"/>
              </a:rPr>
              <a:t> </a:t>
            </a:r>
            <a:r>
              <a:rPr lang="en-US" altLang="ko-KR" sz="1400" dirty="0">
                <a:latin typeface="맑은 고딕 (본문)"/>
              </a:rPr>
              <a:t>SEND E-MAIL</a:t>
            </a:r>
            <a:r>
              <a:rPr lang="ko-KR" altLang="en-US" sz="1400" dirty="0">
                <a:latin typeface="맑은 고딕 (본문)"/>
              </a:rPr>
              <a:t>을 누른다</a:t>
            </a:r>
            <a:r>
              <a:rPr lang="en-US" altLang="ko-KR" sz="1400" dirty="0">
                <a:latin typeface="맑은 고딕 (본문)"/>
              </a:rPr>
              <a:t>.</a:t>
            </a:r>
          </a:p>
          <a:p>
            <a:endParaRPr lang="en-US" altLang="ko-KR" sz="1400" dirty="0">
              <a:latin typeface="맑은 고딕 (본문)"/>
            </a:endParaRPr>
          </a:p>
          <a:p>
            <a:r>
              <a:rPr lang="ko-KR" altLang="en-US" sz="1400" dirty="0">
                <a:latin typeface="맑은 고딕 (본문)"/>
              </a:rPr>
              <a:t>성공 메시지를 확인한다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054987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C479D"/>
                </a:solidFill>
              </a:rPr>
              <a:t>03. </a:t>
            </a:r>
            <a:r>
              <a:rPr lang="ko-KR" altLang="en-US" dirty="0"/>
              <a:t>고급 기능으로 블로그 향상시키기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1543550"/>
          </a:xfrm>
        </p:spPr>
        <p:txBody>
          <a:bodyPr/>
          <a:lstStyle/>
          <a:p>
            <a:pPr>
              <a:buClr>
                <a:srgbClr val="3C479D"/>
              </a:buClr>
            </a:pPr>
            <a:r>
              <a:rPr lang="ko-KR" altLang="en-US" sz="1600" dirty="0"/>
              <a:t>템플릿에서 폼 렌더링하기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89CED-043F-A120-6BF6-623E6D4102C3}"/>
              </a:ext>
            </a:extLst>
          </p:cNvPr>
          <p:cNvSpPr txBox="1"/>
          <p:nvPr/>
        </p:nvSpPr>
        <p:spPr>
          <a:xfrm>
            <a:off x="899592" y="5948699"/>
            <a:ext cx="7961973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ko-KR" altLang="en-US" sz="1400" dirty="0">
                <a:latin typeface="맑은 고딕 (본문)"/>
              </a:rPr>
              <a:t>구글 계정에 접속하여 이메일이 성공적으로 도착했는지 확인한다</a:t>
            </a:r>
            <a:r>
              <a:rPr lang="en-US" altLang="ko-KR" sz="1400" dirty="0">
                <a:latin typeface="맑은 고딕 (본문)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C83C07-E22A-EE93-641A-FF409A438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17" y="2571630"/>
            <a:ext cx="5668166" cy="1714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179798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28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none" lIns="91440" tIns="45720" rIns="91440" bIns="45720" rtlCol="0" anchor="ctr">
        <a:normAutofit/>
      </a:bodyPr>
      <a:lstStyle>
        <a:defPPr algn="l">
          <a:defRPr sz="3600" dirty="0" smtClean="0">
            <a:latin typeface="맑은 고딕 (본문)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15094</TotalTime>
  <Words>8541</Words>
  <Application>Microsoft Office PowerPoint</Application>
  <PresentationFormat>화면 슬라이드 쇼(4:3)</PresentationFormat>
  <Paragraphs>1208</Paragraphs>
  <Slides>188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188</vt:i4>
      </vt:variant>
    </vt:vector>
  </HeadingPairs>
  <TitlesOfParts>
    <vt:vector size="206" baseType="lpstr">
      <vt:lpstr>Helvetica Neue</vt:lpstr>
      <vt:lpstr>HY견고딕</vt:lpstr>
      <vt:lpstr>ITC Garamond Std</vt:lpstr>
      <vt:lpstr>Noto Sans CJK HK</vt:lpstr>
      <vt:lpstr>Noto Serif CJK JP</vt:lpstr>
      <vt:lpstr>YoonV YoonGothic100Std_OTF</vt:lpstr>
      <vt:lpstr>YoonV YoonMyungjo100Std_OTF</vt:lpstr>
      <vt:lpstr>나눔고딕</vt:lpstr>
      <vt:lpstr>Malgun Gothic</vt:lpstr>
      <vt:lpstr>Malgun Gothic</vt:lpstr>
      <vt:lpstr>맑은 고딕 (본문)</vt:lpstr>
      <vt:lpstr>시스템</vt:lpstr>
      <vt:lpstr>함초롬바탕</vt:lpstr>
      <vt:lpstr>Arial</vt:lpstr>
      <vt:lpstr>Arial Black</vt:lpstr>
      <vt:lpstr>Broadway</vt:lpstr>
      <vt:lpstr>Wingdings</vt:lpstr>
      <vt:lpstr>Office 테마</vt:lpstr>
      <vt:lpstr>PowerPoint 프레젠테이션</vt:lpstr>
      <vt:lpstr>PYTHON 코딩강사과정</vt:lpstr>
      <vt:lpstr>PYTHON 코딩강사과정</vt:lpstr>
      <vt:lpstr>도서 추천</vt:lpstr>
      <vt:lpstr>도서 추천</vt:lpstr>
      <vt:lpstr>도서 추천</vt:lpstr>
      <vt:lpstr>도서 추천</vt:lpstr>
      <vt:lpstr>PowerPoint 프레젠테이션</vt:lpstr>
      <vt:lpstr>PowerPoint 프레젠테이션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01. Django 웹 개념 및 개발환경</vt:lpstr>
      <vt:lpstr>PowerPoint 프레젠테이션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02. 블로그 어플리케이션 만들기</vt:lpstr>
      <vt:lpstr>PowerPoint 프레젠테이션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03. 고급 기능으로 블로그 향상시키기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이종원</dc:creator>
  <cp:lastModifiedBy>세영 박</cp:lastModifiedBy>
  <cp:revision>928</cp:revision>
  <dcterms:created xsi:type="dcterms:W3CDTF">2012-07-11T10:23:22Z</dcterms:created>
  <dcterms:modified xsi:type="dcterms:W3CDTF">2025-01-20T08:19:02Z</dcterms:modified>
</cp:coreProperties>
</file>